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3E6EF3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666666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3E6EF3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666666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661" y="7800395"/>
            <a:ext cx="1612197" cy="30514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801600" y="7728202"/>
            <a:ext cx="1728470" cy="387350"/>
          </a:xfrm>
          <a:custGeom>
            <a:avLst/>
            <a:gdLst/>
            <a:ahLst/>
            <a:cxnLst/>
            <a:rect l="l" t="t" r="r" b="b"/>
            <a:pathLst>
              <a:path w="1728469" h="387350">
                <a:moveTo>
                  <a:pt x="1728215" y="0"/>
                </a:moveTo>
                <a:lnTo>
                  <a:pt x="0" y="0"/>
                </a:lnTo>
                <a:lnTo>
                  <a:pt x="0" y="387095"/>
                </a:lnTo>
                <a:lnTo>
                  <a:pt x="1728215" y="387095"/>
                </a:lnTo>
                <a:lnTo>
                  <a:pt x="17282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801600" y="7728202"/>
            <a:ext cx="1728470" cy="387350"/>
          </a:xfrm>
          <a:custGeom>
            <a:avLst/>
            <a:gdLst/>
            <a:ahLst/>
            <a:cxnLst/>
            <a:rect l="l" t="t" r="r" b="b"/>
            <a:pathLst>
              <a:path w="1728469" h="387350">
                <a:moveTo>
                  <a:pt x="0" y="387095"/>
                </a:moveTo>
                <a:lnTo>
                  <a:pt x="1728215" y="387095"/>
                </a:lnTo>
                <a:lnTo>
                  <a:pt x="1728215" y="0"/>
                </a:lnTo>
                <a:lnTo>
                  <a:pt x="0" y="0"/>
                </a:lnTo>
                <a:lnTo>
                  <a:pt x="0" y="38709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3E6EF3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3E6EF3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661" y="7800395"/>
            <a:ext cx="1612197" cy="3051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000" y="620724"/>
            <a:ext cx="13360400" cy="1204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3E6EF3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80005" y="2163521"/>
            <a:ext cx="5905500" cy="4792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666666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8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9240" y="1906270"/>
            <a:ext cx="74053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Smart</a:t>
            </a:r>
            <a:r>
              <a:rPr dirty="0" sz="3600" spc="-14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Farming</a:t>
            </a:r>
            <a:r>
              <a:rPr dirty="0" sz="3600" spc="-14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Management</a:t>
            </a:r>
            <a:r>
              <a:rPr dirty="0" sz="3600" spc="-135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System: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14566" y="2962148"/>
            <a:ext cx="57423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666666"/>
                </a:solidFill>
                <a:latin typeface="Times New Roman"/>
                <a:cs typeface="Times New Roman"/>
              </a:rPr>
              <a:t>Empowering</a:t>
            </a:r>
            <a:r>
              <a:rPr dirty="0" sz="2000" spc="-4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666666"/>
                </a:solidFill>
                <a:latin typeface="Times New Roman"/>
                <a:cs typeface="Times New Roman"/>
              </a:rPr>
              <a:t>Farmers</a:t>
            </a:r>
            <a:r>
              <a:rPr dirty="0" sz="2000" spc="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666666"/>
                </a:solidFill>
                <a:latin typeface="Times New Roman"/>
                <a:cs typeface="Times New Roman"/>
              </a:rPr>
              <a:t>with</a:t>
            </a:r>
            <a:r>
              <a:rPr dirty="0" sz="2000" spc="-12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666666"/>
                </a:solidFill>
                <a:latin typeface="Times New Roman"/>
                <a:cs typeface="Times New Roman"/>
              </a:rPr>
              <a:t>AI-Driven</a:t>
            </a:r>
            <a:r>
              <a:rPr dirty="0" sz="2000" spc="-3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666666"/>
                </a:solidFill>
                <a:latin typeface="Times New Roman"/>
                <a:cs typeface="Times New Roman"/>
              </a:rPr>
              <a:t>Smart</a:t>
            </a:r>
            <a:r>
              <a:rPr dirty="0" sz="2000" spc="-10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666666"/>
                </a:solidFill>
                <a:latin typeface="Times New Roman"/>
                <a:cs typeface="Times New Roman"/>
              </a:rPr>
              <a:t>Agriculture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94365" y="7619269"/>
            <a:ext cx="1787390" cy="55372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378185" y="4412741"/>
            <a:ext cx="2851785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385622"/>
                </a:solidFill>
                <a:latin typeface="Times New Roman"/>
                <a:cs typeface="Times New Roman"/>
              </a:rPr>
              <a:t>By,</a:t>
            </a:r>
            <a:endParaRPr sz="1800">
              <a:latin typeface="Times New Roman"/>
              <a:cs typeface="Times New Roman"/>
            </a:endParaRPr>
          </a:p>
          <a:p>
            <a:pPr marL="927100" marR="5080">
              <a:lnSpc>
                <a:spcPct val="200000"/>
              </a:lnSpc>
            </a:pPr>
            <a:r>
              <a:rPr dirty="0" sz="1800" b="1">
                <a:solidFill>
                  <a:srgbClr val="385622"/>
                </a:solidFill>
                <a:latin typeface="Times New Roman"/>
                <a:cs typeface="Times New Roman"/>
              </a:rPr>
              <a:t>Harish</a:t>
            </a:r>
            <a:r>
              <a:rPr dirty="0" sz="1800" spc="-95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385622"/>
                </a:solidFill>
                <a:latin typeface="Times New Roman"/>
                <a:cs typeface="Times New Roman"/>
              </a:rPr>
              <a:t>Yuvaraj</a:t>
            </a:r>
            <a:r>
              <a:rPr dirty="0" sz="1800" spc="-60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85622"/>
                </a:solidFill>
                <a:latin typeface="Times New Roman"/>
                <a:cs typeface="Times New Roman"/>
              </a:rPr>
              <a:t>V</a:t>
            </a:r>
            <a:r>
              <a:rPr dirty="0" sz="1800" spc="-65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1800" spc="-50" b="1">
                <a:solidFill>
                  <a:srgbClr val="385622"/>
                </a:solidFill>
                <a:latin typeface="Times New Roman"/>
                <a:cs typeface="Times New Roman"/>
              </a:rPr>
              <a:t>S </a:t>
            </a:r>
            <a:r>
              <a:rPr dirty="0" sz="1800" b="1">
                <a:solidFill>
                  <a:srgbClr val="385622"/>
                </a:solidFill>
                <a:latin typeface="Times New Roman"/>
                <a:cs typeface="Times New Roman"/>
              </a:rPr>
              <a:t>Naveen</a:t>
            </a:r>
            <a:r>
              <a:rPr dirty="0" sz="1800" spc="-25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85622"/>
                </a:solidFill>
                <a:latin typeface="Times New Roman"/>
                <a:cs typeface="Times New Roman"/>
              </a:rPr>
              <a:t>Kumar</a:t>
            </a:r>
            <a:r>
              <a:rPr dirty="0" sz="1800" spc="-35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1800" spc="-60" b="1">
                <a:solidFill>
                  <a:srgbClr val="385622"/>
                </a:solidFill>
                <a:latin typeface="Times New Roman"/>
                <a:cs typeface="Times New Roman"/>
              </a:rPr>
              <a:t>K </a:t>
            </a:r>
            <a:r>
              <a:rPr dirty="0" sz="1800" b="1">
                <a:solidFill>
                  <a:srgbClr val="385622"/>
                </a:solidFill>
                <a:latin typeface="Times New Roman"/>
                <a:cs typeface="Times New Roman"/>
              </a:rPr>
              <a:t>Nithesh</a:t>
            </a:r>
            <a:r>
              <a:rPr dirty="0" sz="1800" spc="-30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1800" spc="-50" b="1">
                <a:solidFill>
                  <a:srgbClr val="385622"/>
                </a:solidFill>
                <a:latin typeface="Times New Roman"/>
                <a:cs typeface="Times New Roman"/>
              </a:rPr>
              <a:t>S </a:t>
            </a:r>
            <a:r>
              <a:rPr dirty="0" sz="1800" spc="-20" b="1">
                <a:solidFill>
                  <a:srgbClr val="385622"/>
                </a:solidFill>
                <a:latin typeface="Times New Roman"/>
                <a:cs typeface="Times New Roman"/>
              </a:rPr>
              <a:t>Yogeshwaran</a:t>
            </a:r>
            <a:r>
              <a:rPr dirty="0" sz="1800" spc="-45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1800" spc="-50" b="1">
                <a:solidFill>
                  <a:srgbClr val="385622"/>
                </a:solidFill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95250" y="7721852"/>
            <a:ext cx="1741170" cy="400050"/>
            <a:chOff x="12795250" y="7721852"/>
            <a:chExt cx="1741170" cy="4000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1728215" y="0"/>
                  </a:moveTo>
                  <a:lnTo>
                    <a:pt x="0" y="0"/>
                  </a:lnTo>
                  <a:lnTo>
                    <a:pt x="0" y="387095"/>
                  </a:lnTo>
                  <a:lnTo>
                    <a:pt x="1728215" y="387095"/>
                  </a:lnTo>
                  <a:lnTo>
                    <a:pt x="1728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0" y="387095"/>
                  </a:moveTo>
                  <a:lnTo>
                    <a:pt x="1728215" y="387095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3870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9487" y="620724"/>
            <a:ext cx="9140190" cy="6591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150" spc="290"/>
              <a:t>Hhe</a:t>
            </a:r>
            <a:r>
              <a:rPr dirty="0" sz="4150" spc="-1140"/>
              <a:t> </a:t>
            </a:r>
            <a:r>
              <a:rPr dirty="0" sz="4150" spc="-280"/>
              <a:t>Challe⭲ge</a:t>
            </a:r>
            <a:r>
              <a:rPr dirty="0" sz="4150" spc="-1145"/>
              <a:t> </a:t>
            </a:r>
            <a:r>
              <a:rPr dirty="0" sz="4150" spc="-365"/>
              <a:t>Faci⭲g</a:t>
            </a:r>
            <a:r>
              <a:rPr dirty="0" sz="4150" spc="-1140"/>
              <a:t> </a:t>
            </a:r>
            <a:r>
              <a:rPr dirty="0" sz="4150" spc="-360"/>
              <a:t>Modeĩ⭲</a:t>
            </a:r>
            <a:r>
              <a:rPr dirty="0" sz="4150" spc="-1140"/>
              <a:t> </a:t>
            </a:r>
            <a:r>
              <a:rPr dirty="0" sz="4150" spc="-465"/>
              <a:t>Faĩmeĩs</a:t>
            </a:r>
            <a:endParaRPr sz="4150"/>
          </a:p>
        </p:txBody>
      </p:sp>
      <p:sp>
        <p:nvSpPr>
          <p:cNvPr id="6" name="object 6" descr=""/>
          <p:cNvSpPr txBox="1"/>
          <p:nvPr/>
        </p:nvSpPr>
        <p:spPr>
          <a:xfrm>
            <a:off x="729487" y="1750822"/>
            <a:ext cx="747268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90">
                <a:solidFill>
                  <a:srgbClr val="666666"/>
                </a:solidFill>
                <a:latin typeface="Verdana"/>
                <a:cs typeface="Verdana"/>
              </a:rPr>
              <a:t>Indian</a:t>
            </a:r>
            <a:r>
              <a:rPr dirty="0" sz="16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100">
                <a:solidFill>
                  <a:srgbClr val="666666"/>
                </a:solidFill>
                <a:latin typeface="Verdana"/>
                <a:cs typeface="Verdana"/>
              </a:rPr>
              <a:t>farmers</a:t>
            </a:r>
            <a:r>
              <a:rPr dirty="0" sz="1650" spc="-2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666666"/>
                </a:solidFill>
                <a:latin typeface="Verdana"/>
                <a:cs typeface="Verdana"/>
              </a:rPr>
              <a:t>face</a:t>
            </a:r>
            <a:r>
              <a:rPr dirty="0" sz="1650" spc="-1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666666"/>
                </a:solidFill>
                <a:latin typeface="Verdana"/>
                <a:cs typeface="Verdana"/>
              </a:rPr>
              <a:t>critical</a:t>
            </a:r>
            <a:r>
              <a:rPr dirty="0" sz="1650" spc="-2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90">
                <a:solidFill>
                  <a:srgbClr val="666666"/>
                </a:solidFill>
                <a:latin typeface="Verdana"/>
                <a:cs typeface="Verdana"/>
              </a:rPr>
              <a:t>barriers</a:t>
            </a:r>
            <a:r>
              <a:rPr dirty="0" sz="1650" spc="-19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100">
                <a:solidFill>
                  <a:srgbClr val="666666"/>
                </a:solidFill>
                <a:latin typeface="Verdana"/>
                <a:cs typeface="Verdana"/>
              </a:rPr>
              <a:t>that</a:t>
            </a:r>
            <a:r>
              <a:rPr dirty="0" sz="16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666666"/>
                </a:solidFill>
                <a:latin typeface="Verdana"/>
                <a:cs typeface="Verdana"/>
              </a:rPr>
              <a:t>limit</a:t>
            </a:r>
            <a:r>
              <a:rPr dirty="0" sz="1650" spc="-1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90">
                <a:solidFill>
                  <a:srgbClr val="666666"/>
                </a:solidFill>
                <a:latin typeface="Verdana"/>
                <a:cs typeface="Verdana"/>
              </a:rPr>
              <a:t>productivity</a:t>
            </a:r>
            <a:r>
              <a:rPr dirty="0" sz="1650" spc="-1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11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6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95">
                <a:solidFill>
                  <a:srgbClr val="666666"/>
                </a:solidFill>
                <a:latin typeface="Verdana"/>
                <a:cs typeface="Verdana"/>
              </a:rPr>
              <a:t>income</a:t>
            </a:r>
            <a:r>
              <a:rPr dirty="0" sz="16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666666"/>
                </a:solidFill>
                <a:latin typeface="Verdana"/>
                <a:cs typeface="Verdana"/>
              </a:rPr>
              <a:t>potential.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39140" y="2273807"/>
            <a:ext cx="4258310" cy="2715895"/>
            <a:chOff x="739140" y="2273807"/>
            <a:chExt cx="4258310" cy="2715895"/>
          </a:xfrm>
        </p:grpSpPr>
        <p:sp>
          <p:nvSpPr>
            <p:cNvPr id="8" name="object 8" descr=""/>
            <p:cNvSpPr/>
            <p:nvPr/>
          </p:nvSpPr>
          <p:spPr>
            <a:xfrm>
              <a:off x="742950" y="2277617"/>
              <a:ext cx="4250690" cy="2708275"/>
            </a:xfrm>
            <a:custGeom>
              <a:avLst/>
              <a:gdLst/>
              <a:ahLst/>
              <a:cxnLst/>
              <a:rect l="l" t="t" r="r" b="b"/>
              <a:pathLst>
                <a:path w="4250690" h="2708275">
                  <a:moveTo>
                    <a:pt x="4059555" y="2708148"/>
                  </a:moveTo>
                  <a:lnTo>
                    <a:pt x="190842" y="2708148"/>
                  </a:lnTo>
                  <a:lnTo>
                    <a:pt x="147085" y="2703106"/>
                  </a:lnTo>
                  <a:lnTo>
                    <a:pt x="106916" y="2688744"/>
                  </a:lnTo>
                  <a:lnTo>
                    <a:pt x="71481" y="2666210"/>
                  </a:lnTo>
                  <a:lnTo>
                    <a:pt x="41926" y="2636648"/>
                  </a:lnTo>
                  <a:lnTo>
                    <a:pt x="19397" y="2601206"/>
                  </a:lnTo>
                  <a:lnTo>
                    <a:pt x="5040" y="2561030"/>
                  </a:lnTo>
                  <a:lnTo>
                    <a:pt x="0" y="2517267"/>
                  </a:lnTo>
                  <a:lnTo>
                    <a:pt x="0" y="190881"/>
                  </a:lnTo>
                  <a:lnTo>
                    <a:pt x="5040" y="147117"/>
                  </a:lnTo>
                  <a:lnTo>
                    <a:pt x="19397" y="106941"/>
                  </a:lnTo>
                  <a:lnTo>
                    <a:pt x="41926" y="71499"/>
                  </a:lnTo>
                  <a:lnTo>
                    <a:pt x="71481" y="41937"/>
                  </a:lnTo>
                  <a:lnTo>
                    <a:pt x="106916" y="19403"/>
                  </a:lnTo>
                  <a:lnTo>
                    <a:pt x="147085" y="5041"/>
                  </a:lnTo>
                  <a:lnTo>
                    <a:pt x="190842" y="0"/>
                  </a:lnTo>
                  <a:lnTo>
                    <a:pt x="4059555" y="0"/>
                  </a:lnTo>
                </a:path>
                <a:path w="4250690" h="2708275">
                  <a:moveTo>
                    <a:pt x="4059554" y="0"/>
                  </a:moveTo>
                  <a:lnTo>
                    <a:pt x="4103318" y="5041"/>
                  </a:lnTo>
                  <a:lnTo>
                    <a:pt x="4143494" y="19403"/>
                  </a:lnTo>
                  <a:lnTo>
                    <a:pt x="4178936" y="41937"/>
                  </a:lnTo>
                  <a:lnTo>
                    <a:pt x="4208498" y="71499"/>
                  </a:lnTo>
                  <a:lnTo>
                    <a:pt x="4231032" y="106941"/>
                  </a:lnTo>
                  <a:lnTo>
                    <a:pt x="4245394" y="147117"/>
                  </a:lnTo>
                  <a:lnTo>
                    <a:pt x="4250436" y="190881"/>
                  </a:lnTo>
                  <a:lnTo>
                    <a:pt x="4250436" y="2517267"/>
                  </a:lnTo>
                  <a:lnTo>
                    <a:pt x="4245394" y="2561030"/>
                  </a:lnTo>
                  <a:lnTo>
                    <a:pt x="4231032" y="2601206"/>
                  </a:lnTo>
                  <a:lnTo>
                    <a:pt x="4208498" y="2636648"/>
                  </a:lnTo>
                  <a:lnTo>
                    <a:pt x="4178936" y="2666210"/>
                  </a:lnTo>
                  <a:lnTo>
                    <a:pt x="4143494" y="2688744"/>
                  </a:lnTo>
                  <a:lnTo>
                    <a:pt x="4103318" y="2703106"/>
                  </a:lnTo>
                  <a:lnTo>
                    <a:pt x="4059554" y="2708148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2950" y="2277617"/>
              <a:ext cx="4250690" cy="2708275"/>
            </a:xfrm>
            <a:custGeom>
              <a:avLst/>
              <a:gdLst/>
              <a:ahLst/>
              <a:cxnLst/>
              <a:rect l="l" t="t" r="r" b="b"/>
              <a:pathLst>
                <a:path w="4250690" h="2708275">
                  <a:moveTo>
                    <a:pt x="4059554" y="0"/>
                  </a:moveTo>
                  <a:lnTo>
                    <a:pt x="190842" y="0"/>
                  </a:lnTo>
                  <a:lnTo>
                    <a:pt x="147085" y="5041"/>
                  </a:lnTo>
                  <a:lnTo>
                    <a:pt x="106916" y="19403"/>
                  </a:lnTo>
                  <a:lnTo>
                    <a:pt x="71481" y="41937"/>
                  </a:lnTo>
                  <a:lnTo>
                    <a:pt x="41926" y="71499"/>
                  </a:lnTo>
                  <a:lnTo>
                    <a:pt x="19397" y="106941"/>
                  </a:lnTo>
                  <a:lnTo>
                    <a:pt x="5040" y="147117"/>
                  </a:lnTo>
                  <a:lnTo>
                    <a:pt x="0" y="190881"/>
                  </a:lnTo>
                  <a:lnTo>
                    <a:pt x="0" y="2517267"/>
                  </a:lnTo>
                  <a:lnTo>
                    <a:pt x="5040" y="2561030"/>
                  </a:lnTo>
                  <a:lnTo>
                    <a:pt x="19397" y="2601206"/>
                  </a:lnTo>
                  <a:lnTo>
                    <a:pt x="41926" y="2636648"/>
                  </a:lnTo>
                  <a:lnTo>
                    <a:pt x="71481" y="2666210"/>
                  </a:lnTo>
                  <a:lnTo>
                    <a:pt x="106916" y="2688744"/>
                  </a:lnTo>
                  <a:lnTo>
                    <a:pt x="147085" y="2703106"/>
                  </a:lnTo>
                  <a:lnTo>
                    <a:pt x="190842" y="2708148"/>
                  </a:lnTo>
                  <a:lnTo>
                    <a:pt x="4059554" y="2708148"/>
                  </a:lnTo>
                  <a:lnTo>
                    <a:pt x="4103318" y="2703106"/>
                  </a:lnTo>
                  <a:lnTo>
                    <a:pt x="4143494" y="2688744"/>
                  </a:lnTo>
                  <a:lnTo>
                    <a:pt x="4178936" y="2666210"/>
                  </a:lnTo>
                  <a:lnTo>
                    <a:pt x="4208498" y="2636648"/>
                  </a:lnTo>
                  <a:lnTo>
                    <a:pt x="4231032" y="2601206"/>
                  </a:lnTo>
                  <a:lnTo>
                    <a:pt x="4245394" y="2561030"/>
                  </a:lnTo>
                  <a:lnTo>
                    <a:pt x="4250436" y="2517267"/>
                  </a:lnTo>
                  <a:lnTo>
                    <a:pt x="4250436" y="190881"/>
                  </a:lnTo>
                  <a:lnTo>
                    <a:pt x="4245394" y="147117"/>
                  </a:lnTo>
                  <a:lnTo>
                    <a:pt x="4231032" y="106941"/>
                  </a:lnTo>
                  <a:lnTo>
                    <a:pt x="4208498" y="71499"/>
                  </a:lnTo>
                  <a:lnTo>
                    <a:pt x="4178936" y="41937"/>
                  </a:lnTo>
                  <a:lnTo>
                    <a:pt x="4143494" y="19403"/>
                  </a:lnTo>
                  <a:lnTo>
                    <a:pt x="4103318" y="5041"/>
                  </a:lnTo>
                  <a:lnTo>
                    <a:pt x="4059554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42950" y="2277617"/>
              <a:ext cx="4250690" cy="2708275"/>
            </a:xfrm>
            <a:custGeom>
              <a:avLst/>
              <a:gdLst/>
              <a:ahLst/>
              <a:cxnLst/>
              <a:rect l="l" t="t" r="r" b="b"/>
              <a:pathLst>
                <a:path w="4250690" h="2708275">
                  <a:moveTo>
                    <a:pt x="0" y="190881"/>
                  </a:moveTo>
                  <a:lnTo>
                    <a:pt x="5040" y="147117"/>
                  </a:lnTo>
                  <a:lnTo>
                    <a:pt x="19397" y="106941"/>
                  </a:lnTo>
                  <a:lnTo>
                    <a:pt x="41926" y="71499"/>
                  </a:lnTo>
                  <a:lnTo>
                    <a:pt x="71481" y="41937"/>
                  </a:lnTo>
                  <a:lnTo>
                    <a:pt x="106916" y="19403"/>
                  </a:lnTo>
                  <a:lnTo>
                    <a:pt x="147085" y="5041"/>
                  </a:lnTo>
                  <a:lnTo>
                    <a:pt x="190842" y="0"/>
                  </a:lnTo>
                  <a:lnTo>
                    <a:pt x="4059554" y="0"/>
                  </a:lnTo>
                  <a:lnTo>
                    <a:pt x="4103318" y="5041"/>
                  </a:lnTo>
                  <a:lnTo>
                    <a:pt x="4143494" y="19403"/>
                  </a:lnTo>
                  <a:lnTo>
                    <a:pt x="4178936" y="41937"/>
                  </a:lnTo>
                  <a:lnTo>
                    <a:pt x="4208498" y="71499"/>
                  </a:lnTo>
                  <a:lnTo>
                    <a:pt x="4231032" y="106941"/>
                  </a:lnTo>
                  <a:lnTo>
                    <a:pt x="4245394" y="147117"/>
                  </a:lnTo>
                  <a:lnTo>
                    <a:pt x="4250436" y="190881"/>
                  </a:lnTo>
                  <a:lnTo>
                    <a:pt x="4250436" y="2517267"/>
                  </a:lnTo>
                  <a:lnTo>
                    <a:pt x="4245394" y="2561030"/>
                  </a:lnTo>
                  <a:lnTo>
                    <a:pt x="4231032" y="2601206"/>
                  </a:lnTo>
                  <a:lnTo>
                    <a:pt x="4208498" y="2636648"/>
                  </a:lnTo>
                  <a:lnTo>
                    <a:pt x="4178936" y="2666210"/>
                  </a:lnTo>
                  <a:lnTo>
                    <a:pt x="4143494" y="2688744"/>
                  </a:lnTo>
                  <a:lnTo>
                    <a:pt x="4103318" y="2703106"/>
                  </a:lnTo>
                  <a:lnTo>
                    <a:pt x="4059554" y="2708148"/>
                  </a:lnTo>
                  <a:lnTo>
                    <a:pt x="190842" y="2708148"/>
                  </a:lnTo>
                  <a:lnTo>
                    <a:pt x="147085" y="2703106"/>
                  </a:lnTo>
                  <a:lnTo>
                    <a:pt x="106916" y="2688744"/>
                  </a:lnTo>
                  <a:lnTo>
                    <a:pt x="71481" y="2666210"/>
                  </a:lnTo>
                  <a:lnTo>
                    <a:pt x="41926" y="2636648"/>
                  </a:lnTo>
                  <a:lnTo>
                    <a:pt x="19397" y="2601206"/>
                  </a:lnTo>
                  <a:lnTo>
                    <a:pt x="5040" y="2561030"/>
                  </a:lnTo>
                  <a:lnTo>
                    <a:pt x="0" y="2517267"/>
                  </a:lnTo>
                  <a:lnTo>
                    <a:pt x="0" y="190881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61644" y="2496311"/>
              <a:ext cx="637540" cy="635635"/>
            </a:xfrm>
            <a:custGeom>
              <a:avLst/>
              <a:gdLst/>
              <a:ahLst/>
              <a:cxnLst/>
              <a:rect l="l" t="t" r="r" b="b"/>
              <a:pathLst>
                <a:path w="637540" h="635635">
                  <a:moveTo>
                    <a:pt x="319278" y="0"/>
                  </a:moveTo>
                  <a:lnTo>
                    <a:pt x="317753" y="0"/>
                  </a:lnTo>
                  <a:lnTo>
                    <a:pt x="270799" y="3444"/>
                  </a:lnTo>
                  <a:lnTo>
                    <a:pt x="225983" y="13451"/>
                  </a:lnTo>
                  <a:lnTo>
                    <a:pt x="183797" y="29529"/>
                  </a:lnTo>
                  <a:lnTo>
                    <a:pt x="144734" y="51186"/>
                  </a:lnTo>
                  <a:lnTo>
                    <a:pt x="109284" y="77931"/>
                  </a:lnTo>
                  <a:lnTo>
                    <a:pt x="77940" y="109274"/>
                  </a:lnTo>
                  <a:lnTo>
                    <a:pt x="51192" y="144723"/>
                  </a:lnTo>
                  <a:lnTo>
                    <a:pt x="29533" y="183786"/>
                  </a:lnTo>
                  <a:lnTo>
                    <a:pt x="13453" y="225973"/>
                  </a:lnTo>
                  <a:lnTo>
                    <a:pt x="3445" y="270793"/>
                  </a:lnTo>
                  <a:lnTo>
                    <a:pt x="0" y="317753"/>
                  </a:lnTo>
                  <a:lnTo>
                    <a:pt x="3445" y="364714"/>
                  </a:lnTo>
                  <a:lnTo>
                    <a:pt x="13453" y="409534"/>
                  </a:lnTo>
                  <a:lnTo>
                    <a:pt x="29533" y="451721"/>
                  </a:lnTo>
                  <a:lnTo>
                    <a:pt x="51192" y="490784"/>
                  </a:lnTo>
                  <a:lnTo>
                    <a:pt x="77940" y="526233"/>
                  </a:lnTo>
                  <a:lnTo>
                    <a:pt x="109284" y="557576"/>
                  </a:lnTo>
                  <a:lnTo>
                    <a:pt x="144734" y="584321"/>
                  </a:lnTo>
                  <a:lnTo>
                    <a:pt x="183797" y="605978"/>
                  </a:lnTo>
                  <a:lnTo>
                    <a:pt x="225983" y="622056"/>
                  </a:lnTo>
                  <a:lnTo>
                    <a:pt x="270799" y="632063"/>
                  </a:lnTo>
                  <a:lnTo>
                    <a:pt x="317753" y="635508"/>
                  </a:lnTo>
                  <a:lnTo>
                    <a:pt x="319278" y="635508"/>
                  </a:lnTo>
                  <a:lnTo>
                    <a:pt x="366238" y="632063"/>
                  </a:lnTo>
                  <a:lnTo>
                    <a:pt x="411058" y="622056"/>
                  </a:lnTo>
                  <a:lnTo>
                    <a:pt x="453245" y="605978"/>
                  </a:lnTo>
                  <a:lnTo>
                    <a:pt x="492308" y="584321"/>
                  </a:lnTo>
                  <a:lnTo>
                    <a:pt x="527757" y="557576"/>
                  </a:lnTo>
                  <a:lnTo>
                    <a:pt x="559100" y="526233"/>
                  </a:lnTo>
                  <a:lnTo>
                    <a:pt x="585845" y="490784"/>
                  </a:lnTo>
                  <a:lnTo>
                    <a:pt x="607502" y="451721"/>
                  </a:lnTo>
                  <a:lnTo>
                    <a:pt x="623580" y="409534"/>
                  </a:lnTo>
                  <a:lnTo>
                    <a:pt x="633587" y="364714"/>
                  </a:lnTo>
                  <a:lnTo>
                    <a:pt x="637032" y="317753"/>
                  </a:lnTo>
                  <a:lnTo>
                    <a:pt x="633587" y="270793"/>
                  </a:lnTo>
                  <a:lnTo>
                    <a:pt x="623580" y="225973"/>
                  </a:lnTo>
                  <a:lnTo>
                    <a:pt x="607502" y="183786"/>
                  </a:lnTo>
                  <a:lnTo>
                    <a:pt x="585845" y="144723"/>
                  </a:lnTo>
                  <a:lnTo>
                    <a:pt x="559100" y="109274"/>
                  </a:lnTo>
                  <a:lnTo>
                    <a:pt x="527757" y="77931"/>
                  </a:lnTo>
                  <a:lnTo>
                    <a:pt x="492308" y="51186"/>
                  </a:lnTo>
                  <a:lnTo>
                    <a:pt x="453245" y="29529"/>
                  </a:lnTo>
                  <a:lnTo>
                    <a:pt x="411058" y="13451"/>
                  </a:lnTo>
                  <a:lnTo>
                    <a:pt x="366238" y="3444"/>
                  </a:lnTo>
                  <a:lnTo>
                    <a:pt x="319278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36" y="2679789"/>
              <a:ext cx="274757" cy="268687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949248" y="3306317"/>
            <a:ext cx="3474720" cy="1438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120">
                <a:latin typeface="SimSun-ExtB"/>
                <a:cs typeface="SimSun-ExtB"/>
              </a:rPr>
              <a:t>MaĩkeL</a:t>
            </a:r>
            <a:r>
              <a:rPr dirty="0" sz="2050" spc="-530">
                <a:latin typeface="SimSun-ExtB"/>
                <a:cs typeface="SimSun-ExtB"/>
              </a:rPr>
              <a:t> </a:t>
            </a:r>
            <a:r>
              <a:rPr dirty="0" sz="2050" spc="-335">
                <a:latin typeface="SimSun-ExtB"/>
                <a:cs typeface="SimSun-ExtB"/>
              </a:rPr>
              <a:t>I⭲foĩmaLio⭲</a:t>
            </a:r>
            <a:r>
              <a:rPr dirty="0" sz="2050" spc="-540">
                <a:latin typeface="SimSun-ExtB"/>
                <a:cs typeface="SimSun-ExtB"/>
              </a:rPr>
              <a:t> </a:t>
            </a:r>
            <a:r>
              <a:rPr dirty="0" sz="2050" spc="275">
                <a:latin typeface="SimSun-ExtB"/>
                <a:cs typeface="SimSun-ExtB"/>
              </a:rPr>
              <a:t>gap</a:t>
            </a:r>
            <a:endParaRPr sz="2050">
              <a:latin typeface="SimSun-ExtB"/>
              <a:cs typeface="SimSun-ExtB"/>
            </a:endParaRPr>
          </a:p>
          <a:p>
            <a:pPr marL="12700" marR="5080">
              <a:lnSpc>
                <a:spcPct val="131300"/>
              </a:lnSpc>
              <a:spcBef>
                <a:spcPts val="865"/>
              </a:spcBef>
            </a:pPr>
            <a:r>
              <a:rPr dirty="0" sz="1650" spc="-85">
                <a:latin typeface="Verdana"/>
                <a:cs typeface="Verdana"/>
              </a:rPr>
              <a:t>Limited</a:t>
            </a:r>
            <a:r>
              <a:rPr dirty="0" sz="1650" spc="-180">
                <a:latin typeface="Verdana"/>
                <a:cs typeface="Verdana"/>
              </a:rPr>
              <a:t> </a:t>
            </a:r>
            <a:r>
              <a:rPr dirty="0" sz="1650" spc="-70">
                <a:latin typeface="Verdana"/>
                <a:cs typeface="Verdana"/>
              </a:rPr>
              <a:t>access</a:t>
            </a:r>
            <a:r>
              <a:rPr dirty="0" sz="1650" spc="-195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to</a:t>
            </a:r>
            <a:r>
              <a:rPr dirty="0" sz="1650" spc="-155">
                <a:latin typeface="Verdana"/>
                <a:cs typeface="Verdana"/>
              </a:rPr>
              <a:t> </a:t>
            </a:r>
            <a:r>
              <a:rPr dirty="0" sz="1650" spc="-85">
                <a:latin typeface="Verdana"/>
                <a:cs typeface="Verdana"/>
              </a:rPr>
              <a:t>real-</a:t>
            </a:r>
            <a:r>
              <a:rPr dirty="0" sz="1650" spc="-100">
                <a:latin typeface="Verdana"/>
                <a:cs typeface="Verdana"/>
              </a:rPr>
              <a:t>time</a:t>
            </a:r>
            <a:r>
              <a:rPr dirty="0" sz="1650" spc="-200">
                <a:latin typeface="Verdana"/>
                <a:cs typeface="Verdana"/>
              </a:rPr>
              <a:t> </a:t>
            </a:r>
            <a:r>
              <a:rPr dirty="0" sz="1650" spc="-10">
                <a:latin typeface="Verdana"/>
                <a:cs typeface="Verdana"/>
              </a:rPr>
              <a:t>market </a:t>
            </a:r>
            <a:r>
              <a:rPr dirty="0" sz="1650" spc="-70">
                <a:latin typeface="Verdana"/>
                <a:cs typeface="Verdana"/>
              </a:rPr>
              <a:t>prices</a:t>
            </a:r>
            <a:r>
              <a:rPr dirty="0" sz="1650" spc="-210">
                <a:latin typeface="Verdana"/>
                <a:cs typeface="Verdana"/>
              </a:rPr>
              <a:t> </a:t>
            </a:r>
            <a:r>
              <a:rPr dirty="0" sz="1650" spc="-70">
                <a:latin typeface="Verdana"/>
                <a:cs typeface="Verdana"/>
              </a:rPr>
              <a:t>leads</a:t>
            </a:r>
            <a:r>
              <a:rPr dirty="0" sz="1650" spc="-195">
                <a:latin typeface="Verdana"/>
                <a:cs typeface="Verdana"/>
              </a:rPr>
              <a:t> </a:t>
            </a:r>
            <a:r>
              <a:rPr dirty="0" sz="1650" spc="-85">
                <a:latin typeface="Verdana"/>
                <a:cs typeface="Verdana"/>
              </a:rPr>
              <a:t>to</a:t>
            </a:r>
            <a:r>
              <a:rPr dirty="0" sz="1650" spc="-170">
                <a:latin typeface="Verdana"/>
                <a:cs typeface="Verdana"/>
              </a:rPr>
              <a:t> </a:t>
            </a:r>
            <a:r>
              <a:rPr dirty="0" sz="1650" spc="-85">
                <a:latin typeface="Verdana"/>
                <a:cs typeface="Verdana"/>
              </a:rPr>
              <a:t>poor</a:t>
            </a:r>
            <a:r>
              <a:rPr dirty="0" sz="1650" spc="-160">
                <a:latin typeface="Verdana"/>
                <a:cs typeface="Verdana"/>
              </a:rPr>
              <a:t> </a:t>
            </a:r>
            <a:r>
              <a:rPr dirty="0" sz="1650" spc="-70">
                <a:latin typeface="Verdana"/>
                <a:cs typeface="Verdana"/>
              </a:rPr>
              <a:t>selling</a:t>
            </a:r>
            <a:r>
              <a:rPr dirty="0" sz="1650" spc="-215">
                <a:latin typeface="Verdana"/>
                <a:cs typeface="Verdana"/>
              </a:rPr>
              <a:t> </a:t>
            </a:r>
            <a:r>
              <a:rPr dirty="0" sz="1650" spc="-55">
                <a:latin typeface="Verdana"/>
                <a:cs typeface="Verdana"/>
              </a:rPr>
              <a:t>decisions </a:t>
            </a:r>
            <a:r>
              <a:rPr dirty="0" sz="1650" spc="-110">
                <a:latin typeface="Verdana"/>
                <a:cs typeface="Verdana"/>
              </a:rPr>
              <a:t>and</a:t>
            </a:r>
            <a:r>
              <a:rPr dirty="0" sz="1650" spc="-160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reduced</a:t>
            </a:r>
            <a:r>
              <a:rPr dirty="0" sz="1650" spc="-190">
                <a:latin typeface="Verdana"/>
                <a:cs typeface="Verdana"/>
              </a:rPr>
              <a:t> </a:t>
            </a:r>
            <a:r>
              <a:rPr dirty="0" sz="1650" spc="-10">
                <a:latin typeface="Verdana"/>
                <a:cs typeface="Verdana"/>
              </a:rPr>
              <a:t>profits.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187696" y="2273807"/>
            <a:ext cx="4257040" cy="2715895"/>
            <a:chOff x="5187696" y="2273807"/>
            <a:chExt cx="4257040" cy="2715895"/>
          </a:xfrm>
        </p:grpSpPr>
        <p:sp>
          <p:nvSpPr>
            <p:cNvPr id="15" name="object 15" descr=""/>
            <p:cNvSpPr/>
            <p:nvPr/>
          </p:nvSpPr>
          <p:spPr>
            <a:xfrm>
              <a:off x="5191506" y="2277617"/>
              <a:ext cx="4249420" cy="2708275"/>
            </a:xfrm>
            <a:custGeom>
              <a:avLst/>
              <a:gdLst/>
              <a:ahLst/>
              <a:cxnLst/>
              <a:rect l="l" t="t" r="r" b="b"/>
              <a:pathLst>
                <a:path w="4249420" h="2708275">
                  <a:moveTo>
                    <a:pt x="4058030" y="2708148"/>
                  </a:moveTo>
                  <a:lnTo>
                    <a:pt x="190880" y="2708148"/>
                  </a:lnTo>
                  <a:lnTo>
                    <a:pt x="147117" y="2703106"/>
                  </a:lnTo>
                  <a:lnTo>
                    <a:pt x="106941" y="2688744"/>
                  </a:lnTo>
                  <a:lnTo>
                    <a:pt x="71499" y="2666210"/>
                  </a:lnTo>
                  <a:lnTo>
                    <a:pt x="41937" y="2636648"/>
                  </a:lnTo>
                  <a:lnTo>
                    <a:pt x="19403" y="2601206"/>
                  </a:lnTo>
                  <a:lnTo>
                    <a:pt x="5041" y="2561030"/>
                  </a:lnTo>
                  <a:lnTo>
                    <a:pt x="0" y="2517267"/>
                  </a:lnTo>
                  <a:lnTo>
                    <a:pt x="0" y="190881"/>
                  </a:lnTo>
                  <a:lnTo>
                    <a:pt x="5041" y="147117"/>
                  </a:lnTo>
                  <a:lnTo>
                    <a:pt x="19403" y="106941"/>
                  </a:lnTo>
                  <a:lnTo>
                    <a:pt x="41937" y="71499"/>
                  </a:lnTo>
                  <a:lnTo>
                    <a:pt x="71499" y="41937"/>
                  </a:lnTo>
                  <a:lnTo>
                    <a:pt x="106941" y="19403"/>
                  </a:lnTo>
                  <a:lnTo>
                    <a:pt x="147117" y="5041"/>
                  </a:lnTo>
                  <a:lnTo>
                    <a:pt x="190881" y="0"/>
                  </a:lnTo>
                  <a:lnTo>
                    <a:pt x="4058030" y="0"/>
                  </a:lnTo>
                </a:path>
                <a:path w="4249420" h="2708275">
                  <a:moveTo>
                    <a:pt x="4058030" y="0"/>
                  </a:moveTo>
                  <a:lnTo>
                    <a:pt x="4101794" y="5041"/>
                  </a:lnTo>
                  <a:lnTo>
                    <a:pt x="4141970" y="19403"/>
                  </a:lnTo>
                  <a:lnTo>
                    <a:pt x="4177412" y="41937"/>
                  </a:lnTo>
                  <a:lnTo>
                    <a:pt x="4206974" y="71499"/>
                  </a:lnTo>
                  <a:lnTo>
                    <a:pt x="4229508" y="106941"/>
                  </a:lnTo>
                  <a:lnTo>
                    <a:pt x="4243870" y="147117"/>
                  </a:lnTo>
                  <a:lnTo>
                    <a:pt x="4248912" y="190881"/>
                  </a:lnTo>
                  <a:lnTo>
                    <a:pt x="4248912" y="2517267"/>
                  </a:lnTo>
                  <a:lnTo>
                    <a:pt x="4243870" y="2561030"/>
                  </a:lnTo>
                  <a:lnTo>
                    <a:pt x="4229508" y="2601206"/>
                  </a:lnTo>
                  <a:lnTo>
                    <a:pt x="4206974" y="2636648"/>
                  </a:lnTo>
                  <a:lnTo>
                    <a:pt x="4177412" y="2666210"/>
                  </a:lnTo>
                  <a:lnTo>
                    <a:pt x="4141970" y="2688744"/>
                  </a:lnTo>
                  <a:lnTo>
                    <a:pt x="4101794" y="2703106"/>
                  </a:lnTo>
                  <a:lnTo>
                    <a:pt x="4058030" y="2708148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91506" y="2277617"/>
              <a:ext cx="4249420" cy="2708275"/>
            </a:xfrm>
            <a:custGeom>
              <a:avLst/>
              <a:gdLst/>
              <a:ahLst/>
              <a:cxnLst/>
              <a:rect l="l" t="t" r="r" b="b"/>
              <a:pathLst>
                <a:path w="4249420" h="2708275">
                  <a:moveTo>
                    <a:pt x="4058030" y="0"/>
                  </a:moveTo>
                  <a:lnTo>
                    <a:pt x="190881" y="0"/>
                  </a:lnTo>
                  <a:lnTo>
                    <a:pt x="147117" y="5041"/>
                  </a:lnTo>
                  <a:lnTo>
                    <a:pt x="106941" y="19403"/>
                  </a:lnTo>
                  <a:lnTo>
                    <a:pt x="71499" y="41937"/>
                  </a:lnTo>
                  <a:lnTo>
                    <a:pt x="41937" y="71499"/>
                  </a:lnTo>
                  <a:lnTo>
                    <a:pt x="19403" y="106941"/>
                  </a:lnTo>
                  <a:lnTo>
                    <a:pt x="5041" y="147117"/>
                  </a:lnTo>
                  <a:lnTo>
                    <a:pt x="0" y="190881"/>
                  </a:lnTo>
                  <a:lnTo>
                    <a:pt x="0" y="2517267"/>
                  </a:lnTo>
                  <a:lnTo>
                    <a:pt x="5041" y="2561030"/>
                  </a:lnTo>
                  <a:lnTo>
                    <a:pt x="19403" y="2601206"/>
                  </a:lnTo>
                  <a:lnTo>
                    <a:pt x="41937" y="2636648"/>
                  </a:lnTo>
                  <a:lnTo>
                    <a:pt x="71499" y="2666210"/>
                  </a:lnTo>
                  <a:lnTo>
                    <a:pt x="106941" y="2688744"/>
                  </a:lnTo>
                  <a:lnTo>
                    <a:pt x="147117" y="2703106"/>
                  </a:lnTo>
                  <a:lnTo>
                    <a:pt x="190881" y="2708148"/>
                  </a:lnTo>
                  <a:lnTo>
                    <a:pt x="4058030" y="2708148"/>
                  </a:lnTo>
                  <a:lnTo>
                    <a:pt x="4101794" y="2703106"/>
                  </a:lnTo>
                  <a:lnTo>
                    <a:pt x="4141970" y="2688744"/>
                  </a:lnTo>
                  <a:lnTo>
                    <a:pt x="4177412" y="2666210"/>
                  </a:lnTo>
                  <a:lnTo>
                    <a:pt x="4206974" y="2636648"/>
                  </a:lnTo>
                  <a:lnTo>
                    <a:pt x="4229508" y="2601206"/>
                  </a:lnTo>
                  <a:lnTo>
                    <a:pt x="4243870" y="2561030"/>
                  </a:lnTo>
                  <a:lnTo>
                    <a:pt x="4248912" y="2517267"/>
                  </a:lnTo>
                  <a:lnTo>
                    <a:pt x="4248912" y="190881"/>
                  </a:lnTo>
                  <a:lnTo>
                    <a:pt x="4243870" y="147117"/>
                  </a:lnTo>
                  <a:lnTo>
                    <a:pt x="4229508" y="106941"/>
                  </a:lnTo>
                  <a:lnTo>
                    <a:pt x="4206974" y="71499"/>
                  </a:lnTo>
                  <a:lnTo>
                    <a:pt x="4177412" y="41937"/>
                  </a:lnTo>
                  <a:lnTo>
                    <a:pt x="4141970" y="19403"/>
                  </a:lnTo>
                  <a:lnTo>
                    <a:pt x="4101794" y="5041"/>
                  </a:lnTo>
                  <a:lnTo>
                    <a:pt x="4058030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191506" y="2277617"/>
              <a:ext cx="4249420" cy="2708275"/>
            </a:xfrm>
            <a:custGeom>
              <a:avLst/>
              <a:gdLst/>
              <a:ahLst/>
              <a:cxnLst/>
              <a:rect l="l" t="t" r="r" b="b"/>
              <a:pathLst>
                <a:path w="4249420" h="2708275">
                  <a:moveTo>
                    <a:pt x="0" y="190881"/>
                  </a:moveTo>
                  <a:lnTo>
                    <a:pt x="5041" y="147117"/>
                  </a:lnTo>
                  <a:lnTo>
                    <a:pt x="19403" y="106941"/>
                  </a:lnTo>
                  <a:lnTo>
                    <a:pt x="41937" y="71499"/>
                  </a:lnTo>
                  <a:lnTo>
                    <a:pt x="71499" y="41937"/>
                  </a:lnTo>
                  <a:lnTo>
                    <a:pt x="106941" y="19403"/>
                  </a:lnTo>
                  <a:lnTo>
                    <a:pt x="147117" y="5041"/>
                  </a:lnTo>
                  <a:lnTo>
                    <a:pt x="190881" y="0"/>
                  </a:lnTo>
                  <a:lnTo>
                    <a:pt x="4058030" y="0"/>
                  </a:lnTo>
                  <a:lnTo>
                    <a:pt x="4101794" y="5041"/>
                  </a:lnTo>
                  <a:lnTo>
                    <a:pt x="4141970" y="19403"/>
                  </a:lnTo>
                  <a:lnTo>
                    <a:pt x="4177412" y="41937"/>
                  </a:lnTo>
                  <a:lnTo>
                    <a:pt x="4206974" y="71499"/>
                  </a:lnTo>
                  <a:lnTo>
                    <a:pt x="4229508" y="106941"/>
                  </a:lnTo>
                  <a:lnTo>
                    <a:pt x="4243870" y="147117"/>
                  </a:lnTo>
                  <a:lnTo>
                    <a:pt x="4248912" y="190881"/>
                  </a:lnTo>
                  <a:lnTo>
                    <a:pt x="4248912" y="2517267"/>
                  </a:lnTo>
                  <a:lnTo>
                    <a:pt x="4243870" y="2561030"/>
                  </a:lnTo>
                  <a:lnTo>
                    <a:pt x="4229508" y="2601206"/>
                  </a:lnTo>
                  <a:lnTo>
                    <a:pt x="4206974" y="2636648"/>
                  </a:lnTo>
                  <a:lnTo>
                    <a:pt x="4177412" y="2666210"/>
                  </a:lnTo>
                  <a:lnTo>
                    <a:pt x="4141970" y="2688744"/>
                  </a:lnTo>
                  <a:lnTo>
                    <a:pt x="4101794" y="2703106"/>
                  </a:lnTo>
                  <a:lnTo>
                    <a:pt x="4058030" y="2708148"/>
                  </a:lnTo>
                  <a:lnTo>
                    <a:pt x="190881" y="2708148"/>
                  </a:lnTo>
                  <a:lnTo>
                    <a:pt x="147117" y="2703106"/>
                  </a:lnTo>
                  <a:lnTo>
                    <a:pt x="106941" y="2688744"/>
                  </a:lnTo>
                  <a:lnTo>
                    <a:pt x="71499" y="2666210"/>
                  </a:lnTo>
                  <a:lnTo>
                    <a:pt x="41937" y="2636648"/>
                  </a:lnTo>
                  <a:lnTo>
                    <a:pt x="19403" y="2601206"/>
                  </a:lnTo>
                  <a:lnTo>
                    <a:pt x="5041" y="2561030"/>
                  </a:lnTo>
                  <a:lnTo>
                    <a:pt x="0" y="2517267"/>
                  </a:lnTo>
                  <a:lnTo>
                    <a:pt x="0" y="190881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10200" y="2496311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317753" y="0"/>
                  </a:moveTo>
                  <a:lnTo>
                    <a:pt x="270793" y="3444"/>
                  </a:lnTo>
                  <a:lnTo>
                    <a:pt x="225973" y="13451"/>
                  </a:lnTo>
                  <a:lnTo>
                    <a:pt x="183786" y="29529"/>
                  </a:lnTo>
                  <a:lnTo>
                    <a:pt x="144723" y="51186"/>
                  </a:lnTo>
                  <a:lnTo>
                    <a:pt x="109274" y="77931"/>
                  </a:lnTo>
                  <a:lnTo>
                    <a:pt x="77931" y="109274"/>
                  </a:lnTo>
                  <a:lnTo>
                    <a:pt x="51186" y="144723"/>
                  </a:lnTo>
                  <a:lnTo>
                    <a:pt x="29529" y="183786"/>
                  </a:lnTo>
                  <a:lnTo>
                    <a:pt x="13451" y="225973"/>
                  </a:lnTo>
                  <a:lnTo>
                    <a:pt x="3444" y="270793"/>
                  </a:lnTo>
                  <a:lnTo>
                    <a:pt x="0" y="317753"/>
                  </a:lnTo>
                  <a:lnTo>
                    <a:pt x="3444" y="364714"/>
                  </a:lnTo>
                  <a:lnTo>
                    <a:pt x="13451" y="409534"/>
                  </a:lnTo>
                  <a:lnTo>
                    <a:pt x="29529" y="451721"/>
                  </a:lnTo>
                  <a:lnTo>
                    <a:pt x="51186" y="490784"/>
                  </a:lnTo>
                  <a:lnTo>
                    <a:pt x="77931" y="526233"/>
                  </a:lnTo>
                  <a:lnTo>
                    <a:pt x="109274" y="557576"/>
                  </a:lnTo>
                  <a:lnTo>
                    <a:pt x="144723" y="584321"/>
                  </a:lnTo>
                  <a:lnTo>
                    <a:pt x="183786" y="605978"/>
                  </a:lnTo>
                  <a:lnTo>
                    <a:pt x="225973" y="622056"/>
                  </a:lnTo>
                  <a:lnTo>
                    <a:pt x="270793" y="632063"/>
                  </a:lnTo>
                  <a:lnTo>
                    <a:pt x="317753" y="635508"/>
                  </a:lnTo>
                  <a:lnTo>
                    <a:pt x="364714" y="632063"/>
                  </a:lnTo>
                  <a:lnTo>
                    <a:pt x="409534" y="622056"/>
                  </a:lnTo>
                  <a:lnTo>
                    <a:pt x="451721" y="605978"/>
                  </a:lnTo>
                  <a:lnTo>
                    <a:pt x="490784" y="584321"/>
                  </a:lnTo>
                  <a:lnTo>
                    <a:pt x="526233" y="557576"/>
                  </a:lnTo>
                  <a:lnTo>
                    <a:pt x="557576" y="526233"/>
                  </a:lnTo>
                  <a:lnTo>
                    <a:pt x="584321" y="490784"/>
                  </a:lnTo>
                  <a:lnTo>
                    <a:pt x="605978" y="451721"/>
                  </a:lnTo>
                  <a:lnTo>
                    <a:pt x="622056" y="409534"/>
                  </a:lnTo>
                  <a:lnTo>
                    <a:pt x="632063" y="364714"/>
                  </a:lnTo>
                  <a:lnTo>
                    <a:pt x="635508" y="317753"/>
                  </a:lnTo>
                  <a:lnTo>
                    <a:pt x="632063" y="270793"/>
                  </a:lnTo>
                  <a:lnTo>
                    <a:pt x="622056" y="225973"/>
                  </a:lnTo>
                  <a:lnTo>
                    <a:pt x="605978" y="183786"/>
                  </a:lnTo>
                  <a:lnTo>
                    <a:pt x="584321" y="144723"/>
                  </a:lnTo>
                  <a:lnTo>
                    <a:pt x="557576" y="109274"/>
                  </a:lnTo>
                  <a:lnTo>
                    <a:pt x="526233" y="77931"/>
                  </a:lnTo>
                  <a:lnTo>
                    <a:pt x="490784" y="51186"/>
                  </a:lnTo>
                  <a:lnTo>
                    <a:pt x="451721" y="29529"/>
                  </a:lnTo>
                  <a:lnTo>
                    <a:pt x="409534" y="13451"/>
                  </a:lnTo>
                  <a:lnTo>
                    <a:pt x="364714" y="3444"/>
                  </a:lnTo>
                  <a:lnTo>
                    <a:pt x="317753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1833" y="2678107"/>
              <a:ext cx="274264" cy="272481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5397753" y="3306317"/>
            <a:ext cx="3680460" cy="1438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265">
                <a:latin typeface="SimSun-ExtB"/>
                <a:cs typeface="SimSun-ExtB"/>
              </a:rPr>
              <a:t>No</a:t>
            </a:r>
            <a:r>
              <a:rPr dirty="0" sz="2050" spc="-565">
                <a:latin typeface="SimSun-ExtB"/>
                <a:cs typeface="SimSun-ExtB"/>
              </a:rPr>
              <a:t> </a:t>
            </a:r>
            <a:r>
              <a:rPr dirty="0" sz="2050" spc="-265">
                <a:latin typeface="SimSun-ExtB"/>
                <a:cs typeface="SimSun-ExtB"/>
              </a:rPr>
              <a:t>DiĩecL</a:t>
            </a:r>
            <a:r>
              <a:rPr dirty="0" sz="2050" spc="-565">
                <a:latin typeface="SimSun-ExtB"/>
                <a:cs typeface="SimSun-ExtB"/>
              </a:rPr>
              <a:t> </a:t>
            </a:r>
            <a:r>
              <a:rPr dirty="0" sz="2050" spc="-315">
                <a:latin typeface="SimSun-ExtB"/>
                <a:cs typeface="SimSun-ExtB"/>
              </a:rPr>
              <a:t>Co⭲⭲ecLio⭲</a:t>
            </a:r>
            <a:endParaRPr sz="2050">
              <a:latin typeface="SimSun-ExtB"/>
              <a:cs typeface="SimSun-ExtB"/>
            </a:endParaRPr>
          </a:p>
          <a:p>
            <a:pPr marL="12700" marR="5080">
              <a:lnSpc>
                <a:spcPct val="131300"/>
              </a:lnSpc>
              <a:spcBef>
                <a:spcPts val="865"/>
              </a:spcBef>
            </a:pPr>
            <a:r>
              <a:rPr dirty="0" sz="1650" spc="-80">
                <a:latin typeface="Verdana"/>
                <a:cs typeface="Verdana"/>
              </a:rPr>
              <a:t>Traditional</a:t>
            </a:r>
            <a:r>
              <a:rPr dirty="0" sz="1650" spc="-145">
                <a:latin typeface="Verdana"/>
                <a:cs typeface="Verdana"/>
              </a:rPr>
              <a:t> </a:t>
            </a:r>
            <a:r>
              <a:rPr dirty="0" sz="1650" spc="-95">
                <a:latin typeface="Verdana"/>
                <a:cs typeface="Verdana"/>
              </a:rPr>
              <a:t>intermediaries</a:t>
            </a:r>
            <a:r>
              <a:rPr dirty="0" sz="1650" spc="-155">
                <a:latin typeface="Verdana"/>
                <a:cs typeface="Verdana"/>
              </a:rPr>
              <a:t> </a:t>
            </a:r>
            <a:r>
              <a:rPr dirty="0" sz="1650" spc="-10">
                <a:latin typeface="Verdana"/>
                <a:cs typeface="Verdana"/>
              </a:rPr>
              <a:t>create </a:t>
            </a:r>
            <a:r>
              <a:rPr dirty="0" sz="1650" spc="-75">
                <a:latin typeface="Verdana"/>
                <a:cs typeface="Verdana"/>
              </a:rPr>
              <a:t>inefficiencies,</a:t>
            </a:r>
            <a:r>
              <a:rPr dirty="0" sz="1650" spc="-170">
                <a:latin typeface="Verdana"/>
                <a:cs typeface="Verdana"/>
              </a:rPr>
              <a:t> </a:t>
            </a:r>
            <a:r>
              <a:rPr dirty="0" sz="1650" spc="-95">
                <a:latin typeface="Verdana"/>
                <a:cs typeface="Verdana"/>
              </a:rPr>
              <a:t>reducing</a:t>
            </a:r>
            <a:r>
              <a:rPr dirty="0" sz="1650" spc="-165">
                <a:latin typeface="Verdana"/>
                <a:cs typeface="Verdana"/>
              </a:rPr>
              <a:t> </a:t>
            </a:r>
            <a:r>
              <a:rPr dirty="0" sz="1650" spc="-105">
                <a:latin typeface="Verdana"/>
                <a:cs typeface="Verdana"/>
              </a:rPr>
              <a:t>farmer</a:t>
            </a:r>
            <a:r>
              <a:rPr dirty="0" sz="1650" spc="-180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revenue </a:t>
            </a:r>
            <a:r>
              <a:rPr dirty="0" sz="1650" spc="-20">
                <a:latin typeface="Verdana"/>
                <a:cs typeface="Verdana"/>
              </a:rPr>
              <a:t>significantly.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634728" y="2273807"/>
            <a:ext cx="4258310" cy="2715895"/>
            <a:chOff x="9634728" y="2273807"/>
            <a:chExt cx="4258310" cy="2715895"/>
          </a:xfrm>
        </p:grpSpPr>
        <p:sp>
          <p:nvSpPr>
            <p:cNvPr id="22" name="object 22" descr=""/>
            <p:cNvSpPr/>
            <p:nvPr/>
          </p:nvSpPr>
          <p:spPr>
            <a:xfrm>
              <a:off x="9638538" y="2277617"/>
              <a:ext cx="4250690" cy="2708275"/>
            </a:xfrm>
            <a:custGeom>
              <a:avLst/>
              <a:gdLst/>
              <a:ahLst/>
              <a:cxnLst/>
              <a:rect l="l" t="t" r="r" b="b"/>
              <a:pathLst>
                <a:path w="4250690" h="2708275">
                  <a:moveTo>
                    <a:pt x="4059555" y="2708148"/>
                  </a:moveTo>
                  <a:lnTo>
                    <a:pt x="190880" y="2708148"/>
                  </a:lnTo>
                  <a:lnTo>
                    <a:pt x="147117" y="2703106"/>
                  </a:lnTo>
                  <a:lnTo>
                    <a:pt x="106941" y="2688744"/>
                  </a:lnTo>
                  <a:lnTo>
                    <a:pt x="71499" y="2666210"/>
                  </a:lnTo>
                  <a:lnTo>
                    <a:pt x="41937" y="2636648"/>
                  </a:lnTo>
                  <a:lnTo>
                    <a:pt x="19403" y="2601206"/>
                  </a:lnTo>
                  <a:lnTo>
                    <a:pt x="5041" y="2561030"/>
                  </a:lnTo>
                  <a:lnTo>
                    <a:pt x="0" y="2517267"/>
                  </a:lnTo>
                  <a:lnTo>
                    <a:pt x="0" y="190881"/>
                  </a:lnTo>
                  <a:lnTo>
                    <a:pt x="5041" y="147117"/>
                  </a:lnTo>
                  <a:lnTo>
                    <a:pt x="19403" y="106941"/>
                  </a:lnTo>
                  <a:lnTo>
                    <a:pt x="41937" y="71499"/>
                  </a:lnTo>
                  <a:lnTo>
                    <a:pt x="71499" y="41937"/>
                  </a:lnTo>
                  <a:lnTo>
                    <a:pt x="106941" y="19403"/>
                  </a:lnTo>
                  <a:lnTo>
                    <a:pt x="147117" y="5041"/>
                  </a:lnTo>
                  <a:lnTo>
                    <a:pt x="190880" y="0"/>
                  </a:lnTo>
                  <a:lnTo>
                    <a:pt x="4059555" y="0"/>
                  </a:lnTo>
                </a:path>
                <a:path w="4250690" h="2708275">
                  <a:moveTo>
                    <a:pt x="4059554" y="0"/>
                  </a:moveTo>
                  <a:lnTo>
                    <a:pt x="4103318" y="5041"/>
                  </a:lnTo>
                  <a:lnTo>
                    <a:pt x="4143494" y="19403"/>
                  </a:lnTo>
                  <a:lnTo>
                    <a:pt x="4178936" y="41937"/>
                  </a:lnTo>
                  <a:lnTo>
                    <a:pt x="4208498" y="71499"/>
                  </a:lnTo>
                  <a:lnTo>
                    <a:pt x="4231032" y="106941"/>
                  </a:lnTo>
                  <a:lnTo>
                    <a:pt x="4245394" y="147117"/>
                  </a:lnTo>
                  <a:lnTo>
                    <a:pt x="4250435" y="190881"/>
                  </a:lnTo>
                  <a:lnTo>
                    <a:pt x="4250435" y="2517267"/>
                  </a:lnTo>
                  <a:lnTo>
                    <a:pt x="4245394" y="2561030"/>
                  </a:lnTo>
                  <a:lnTo>
                    <a:pt x="4231032" y="2601206"/>
                  </a:lnTo>
                  <a:lnTo>
                    <a:pt x="4208498" y="2636648"/>
                  </a:lnTo>
                  <a:lnTo>
                    <a:pt x="4178936" y="2666210"/>
                  </a:lnTo>
                  <a:lnTo>
                    <a:pt x="4143494" y="2688744"/>
                  </a:lnTo>
                  <a:lnTo>
                    <a:pt x="4103318" y="2703106"/>
                  </a:lnTo>
                  <a:lnTo>
                    <a:pt x="4059554" y="2708148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638538" y="2277617"/>
              <a:ext cx="4250690" cy="2708275"/>
            </a:xfrm>
            <a:custGeom>
              <a:avLst/>
              <a:gdLst/>
              <a:ahLst/>
              <a:cxnLst/>
              <a:rect l="l" t="t" r="r" b="b"/>
              <a:pathLst>
                <a:path w="4250690" h="2708275">
                  <a:moveTo>
                    <a:pt x="4059554" y="0"/>
                  </a:moveTo>
                  <a:lnTo>
                    <a:pt x="190880" y="0"/>
                  </a:lnTo>
                  <a:lnTo>
                    <a:pt x="147117" y="5041"/>
                  </a:lnTo>
                  <a:lnTo>
                    <a:pt x="106941" y="19403"/>
                  </a:lnTo>
                  <a:lnTo>
                    <a:pt x="71499" y="41937"/>
                  </a:lnTo>
                  <a:lnTo>
                    <a:pt x="41937" y="71499"/>
                  </a:lnTo>
                  <a:lnTo>
                    <a:pt x="19403" y="106941"/>
                  </a:lnTo>
                  <a:lnTo>
                    <a:pt x="5041" y="147117"/>
                  </a:lnTo>
                  <a:lnTo>
                    <a:pt x="0" y="190881"/>
                  </a:lnTo>
                  <a:lnTo>
                    <a:pt x="0" y="2517267"/>
                  </a:lnTo>
                  <a:lnTo>
                    <a:pt x="5041" y="2561030"/>
                  </a:lnTo>
                  <a:lnTo>
                    <a:pt x="19403" y="2601206"/>
                  </a:lnTo>
                  <a:lnTo>
                    <a:pt x="41937" y="2636648"/>
                  </a:lnTo>
                  <a:lnTo>
                    <a:pt x="71499" y="2666210"/>
                  </a:lnTo>
                  <a:lnTo>
                    <a:pt x="106941" y="2688744"/>
                  </a:lnTo>
                  <a:lnTo>
                    <a:pt x="147117" y="2703106"/>
                  </a:lnTo>
                  <a:lnTo>
                    <a:pt x="190880" y="2708148"/>
                  </a:lnTo>
                  <a:lnTo>
                    <a:pt x="4059554" y="2708148"/>
                  </a:lnTo>
                  <a:lnTo>
                    <a:pt x="4103318" y="2703106"/>
                  </a:lnTo>
                  <a:lnTo>
                    <a:pt x="4143494" y="2688744"/>
                  </a:lnTo>
                  <a:lnTo>
                    <a:pt x="4178936" y="2666210"/>
                  </a:lnTo>
                  <a:lnTo>
                    <a:pt x="4208498" y="2636648"/>
                  </a:lnTo>
                  <a:lnTo>
                    <a:pt x="4231032" y="2601206"/>
                  </a:lnTo>
                  <a:lnTo>
                    <a:pt x="4245394" y="2561030"/>
                  </a:lnTo>
                  <a:lnTo>
                    <a:pt x="4250435" y="2517267"/>
                  </a:lnTo>
                  <a:lnTo>
                    <a:pt x="4250435" y="190881"/>
                  </a:lnTo>
                  <a:lnTo>
                    <a:pt x="4245394" y="147117"/>
                  </a:lnTo>
                  <a:lnTo>
                    <a:pt x="4231032" y="106941"/>
                  </a:lnTo>
                  <a:lnTo>
                    <a:pt x="4208498" y="71499"/>
                  </a:lnTo>
                  <a:lnTo>
                    <a:pt x="4178936" y="41937"/>
                  </a:lnTo>
                  <a:lnTo>
                    <a:pt x="4143494" y="19403"/>
                  </a:lnTo>
                  <a:lnTo>
                    <a:pt x="4103318" y="5041"/>
                  </a:lnTo>
                  <a:lnTo>
                    <a:pt x="4059554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638538" y="2277617"/>
              <a:ext cx="4250690" cy="2708275"/>
            </a:xfrm>
            <a:custGeom>
              <a:avLst/>
              <a:gdLst/>
              <a:ahLst/>
              <a:cxnLst/>
              <a:rect l="l" t="t" r="r" b="b"/>
              <a:pathLst>
                <a:path w="4250690" h="2708275">
                  <a:moveTo>
                    <a:pt x="0" y="190881"/>
                  </a:moveTo>
                  <a:lnTo>
                    <a:pt x="5041" y="147117"/>
                  </a:lnTo>
                  <a:lnTo>
                    <a:pt x="19403" y="106941"/>
                  </a:lnTo>
                  <a:lnTo>
                    <a:pt x="41937" y="71499"/>
                  </a:lnTo>
                  <a:lnTo>
                    <a:pt x="71499" y="41937"/>
                  </a:lnTo>
                  <a:lnTo>
                    <a:pt x="106941" y="19403"/>
                  </a:lnTo>
                  <a:lnTo>
                    <a:pt x="147117" y="5041"/>
                  </a:lnTo>
                  <a:lnTo>
                    <a:pt x="190880" y="0"/>
                  </a:lnTo>
                  <a:lnTo>
                    <a:pt x="4059554" y="0"/>
                  </a:lnTo>
                  <a:lnTo>
                    <a:pt x="4103318" y="5041"/>
                  </a:lnTo>
                  <a:lnTo>
                    <a:pt x="4143494" y="19403"/>
                  </a:lnTo>
                  <a:lnTo>
                    <a:pt x="4178936" y="41937"/>
                  </a:lnTo>
                  <a:lnTo>
                    <a:pt x="4208498" y="71499"/>
                  </a:lnTo>
                  <a:lnTo>
                    <a:pt x="4231032" y="106941"/>
                  </a:lnTo>
                  <a:lnTo>
                    <a:pt x="4245394" y="147117"/>
                  </a:lnTo>
                  <a:lnTo>
                    <a:pt x="4250435" y="190881"/>
                  </a:lnTo>
                  <a:lnTo>
                    <a:pt x="4250435" y="2517267"/>
                  </a:lnTo>
                  <a:lnTo>
                    <a:pt x="4245394" y="2561030"/>
                  </a:lnTo>
                  <a:lnTo>
                    <a:pt x="4231032" y="2601206"/>
                  </a:lnTo>
                  <a:lnTo>
                    <a:pt x="4208498" y="2636648"/>
                  </a:lnTo>
                  <a:lnTo>
                    <a:pt x="4178936" y="2666210"/>
                  </a:lnTo>
                  <a:lnTo>
                    <a:pt x="4143494" y="2688744"/>
                  </a:lnTo>
                  <a:lnTo>
                    <a:pt x="4103318" y="2703106"/>
                  </a:lnTo>
                  <a:lnTo>
                    <a:pt x="4059554" y="2708148"/>
                  </a:lnTo>
                  <a:lnTo>
                    <a:pt x="190880" y="2708148"/>
                  </a:lnTo>
                  <a:lnTo>
                    <a:pt x="147117" y="2703106"/>
                  </a:lnTo>
                  <a:lnTo>
                    <a:pt x="106941" y="2688744"/>
                  </a:lnTo>
                  <a:lnTo>
                    <a:pt x="71499" y="2666210"/>
                  </a:lnTo>
                  <a:lnTo>
                    <a:pt x="41937" y="2636648"/>
                  </a:lnTo>
                  <a:lnTo>
                    <a:pt x="19403" y="2601206"/>
                  </a:lnTo>
                  <a:lnTo>
                    <a:pt x="5041" y="2561030"/>
                  </a:lnTo>
                  <a:lnTo>
                    <a:pt x="0" y="2517267"/>
                  </a:lnTo>
                  <a:lnTo>
                    <a:pt x="0" y="190881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858756" y="2496311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4" h="635635">
                  <a:moveTo>
                    <a:pt x="317753" y="0"/>
                  </a:moveTo>
                  <a:lnTo>
                    <a:pt x="270793" y="3444"/>
                  </a:lnTo>
                  <a:lnTo>
                    <a:pt x="225973" y="13451"/>
                  </a:lnTo>
                  <a:lnTo>
                    <a:pt x="183786" y="29529"/>
                  </a:lnTo>
                  <a:lnTo>
                    <a:pt x="144723" y="51186"/>
                  </a:lnTo>
                  <a:lnTo>
                    <a:pt x="109274" y="77931"/>
                  </a:lnTo>
                  <a:lnTo>
                    <a:pt x="77931" y="109274"/>
                  </a:lnTo>
                  <a:lnTo>
                    <a:pt x="51186" y="144723"/>
                  </a:lnTo>
                  <a:lnTo>
                    <a:pt x="29529" y="183786"/>
                  </a:lnTo>
                  <a:lnTo>
                    <a:pt x="13451" y="225973"/>
                  </a:lnTo>
                  <a:lnTo>
                    <a:pt x="3444" y="270793"/>
                  </a:lnTo>
                  <a:lnTo>
                    <a:pt x="0" y="317753"/>
                  </a:lnTo>
                  <a:lnTo>
                    <a:pt x="3444" y="364714"/>
                  </a:lnTo>
                  <a:lnTo>
                    <a:pt x="13451" y="409534"/>
                  </a:lnTo>
                  <a:lnTo>
                    <a:pt x="29529" y="451721"/>
                  </a:lnTo>
                  <a:lnTo>
                    <a:pt x="51186" y="490784"/>
                  </a:lnTo>
                  <a:lnTo>
                    <a:pt x="77931" y="526233"/>
                  </a:lnTo>
                  <a:lnTo>
                    <a:pt x="109274" y="557576"/>
                  </a:lnTo>
                  <a:lnTo>
                    <a:pt x="144723" y="584321"/>
                  </a:lnTo>
                  <a:lnTo>
                    <a:pt x="183786" y="605978"/>
                  </a:lnTo>
                  <a:lnTo>
                    <a:pt x="225973" y="622056"/>
                  </a:lnTo>
                  <a:lnTo>
                    <a:pt x="270793" y="632063"/>
                  </a:lnTo>
                  <a:lnTo>
                    <a:pt x="317753" y="635508"/>
                  </a:lnTo>
                  <a:lnTo>
                    <a:pt x="364714" y="632063"/>
                  </a:lnTo>
                  <a:lnTo>
                    <a:pt x="409534" y="622056"/>
                  </a:lnTo>
                  <a:lnTo>
                    <a:pt x="451721" y="605978"/>
                  </a:lnTo>
                  <a:lnTo>
                    <a:pt x="490784" y="584321"/>
                  </a:lnTo>
                  <a:lnTo>
                    <a:pt x="526233" y="557576"/>
                  </a:lnTo>
                  <a:lnTo>
                    <a:pt x="557576" y="526233"/>
                  </a:lnTo>
                  <a:lnTo>
                    <a:pt x="584321" y="490784"/>
                  </a:lnTo>
                  <a:lnTo>
                    <a:pt x="605978" y="451721"/>
                  </a:lnTo>
                  <a:lnTo>
                    <a:pt x="622056" y="409534"/>
                  </a:lnTo>
                  <a:lnTo>
                    <a:pt x="632063" y="364714"/>
                  </a:lnTo>
                  <a:lnTo>
                    <a:pt x="635508" y="317753"/>
                  </a:lnTo>
                  <a:lnTo>
                    <a:pt x="632063" y="270793"/>
                  </a:lnTo>
                  <a:lnTo>
                    <a:pt x="622056" y="225973"/>
                  </a:lnTo>
                  <a:lnTo>
                    <a:pt x="605978" y="183786"/>
                  </a:lnTo>
                  <a:lnTo>
                    <a:pt x="584321" y="144723"/>
                  </a:lnTo>
                  <a:lnTo>
                    <a:pt x="557576" y="109274"/>
                  </a:lnTo>
                  <a:lnTo>
                    <a:pt x="526233" y="77931"/>
                  </a:lnTo>
                  <a:lnTo>
                    <a:pt x="490784" y="51186"/>
                  </a:lnTo>
                  <a:lnTo>
                    <a:pt x="451721" y="29529"/>
                  </a:lnTo>
                  <a:lnTo>
                    <a:pt x="409534" y="13451"/>
                  </a:lnTo>
                  <a:lnTo>
                    <a:pt x="364714" y="3444"/>
                  </a:lnTo>
                  <a:lnTo>
                    <a:pt x="317753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8707" y="2677439"/>
              <a:ext cx="233970" cy="273228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9846309" y="3306317"/>
            <a:ext cx="3584575" cy="1438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135">
                <a:latin typeface="SimSun-ExtB"/>
                <a:cs typeface="SimSun-ExtB"/>
              </a:rPr>
              <a:t>Cĩop</a:t>
            </a:r>
            <a:r>
              <a:rPr dirty="0" sz="2050" spc="-525">
                <a:latin typeface="SimSun-ExtB"/>
                <a:cs typeface="SimSun-ExtB"/>
              </a:rPr>
              <a:t> </a:t>
            </a:r>
            <a:r>
              <a:rPr dirty="0" sz="2050" spc="-30">
                <a:latin typeface="SimSun-ExtB"/>
                <a:cs typeface="SimSun-ExtB"/>
              </a:rPr>
              <a:t>Disease</a:t>
            </a:r>
            <a:r>
              <a:rPr dirty="0" sz="2050" spc="-525">
                <a:latin typeface="SimSun-ExtB"/>
                <a:cs typeface="SimSun-ExtB"/>
              </a:rPr>
              <a:t> </a:t>
            </a:r>
            <a:r>
              <a:rPr dirty="0" sz="2050" spc="-30">
                <a:latin typeface="SimSun-ExtB"/>
                <a:cs typeface="SimSun-ExtB"/>
              </a:rPr>
              <a:t>Ḻosses</a:t>
            </a:r>
            <a:endParaRPr sz="2050">
              <a:latin typeface="SimSun-ExtB"/>
              <a:cs typeface="SimSun-ExtB"/>
            </a:endParaRPr>
          </a:p>
          <a:p>
            <a:pPr marL="12700" marR="5080">
              <a:lnSpc>
                <a:spcPct val="131300"/>
              </a:lnSpc>
              <a:spcBef>
                <a:spcPts val="865"/>
              </a:spcBef>
            </a:pPr>
            <a:r>
              <a:rPr dirty="0" sz="1650" spc="-100">
                <a:latin typeface="Verdana"/>
                <a:cs typeface="Verdana"/>
              </a:rPr>
              <a:t>Untreated</a:t>
            </a:r>
            <a:r>
              <a:rPr dirty="0" sz="1650" spc="-185">
                <a:latin typeface="Verdana"/>
                <a:cs typeface="Verdana"/>
              </a:rPr>
              <a:t> </a:t>
            </a:r>
            <a:r>
              <a:rPr dirty="0" sz="1650" spc="-80">
                <a:latin typeface="Verdana"/>
                <a:cs typeface="Verdana"/>
              </a:rPr>
              <a:t>diseases</a:t>
            </a:r>
            <a:r>
              <a:rPr dirty="0" sz="1650" spc="-185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cause</a:t>
            </a:r>
            <a:r>
              <a:rPr dirty="0" sz="1650" spc="-160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devastating </a:t>
            </a:r>
            <a:r>
              <a:rPr dirty="0" sz="1650" spc="-75">
                <a:latin typeface="Verdana"/>
                <a:cs typeface="Verdana"/>
              </a:rPr>
              <a:t>yield</a:t>
            </a:r>
            <a:r>
              <a:rPr dirty="0" sz="1650" spc="-195">
                <a:latin typeface="Verdana"/>
                <a:cs typeface="Verdana"/>
              </a:rPr>
              <a:t> </a:t>
            </a:r>
            <a:r>
              <a:rPr dirty="0" sz="1650" spc="-65">
                <a:latin typeface="Verdana"/>
                <a:cs typeface="Verdana"/>
              </a:rPr>
              <a:t>losses</a:t>
            </a:r>
            <a:r>
              <a:rPr dirty="0" sz="1650" spc="-195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without</a:t>
            </a:r>
            <a:r>
              <a:rPr dirty="0" sz="1650" spc="-190">
                <a:latin typeface="Verdana"/>
                <a:cs typeface="Verdana"/>
              </a:rPr>
              <a:t> </a:t>
            </a:r>
            <a:r>
              <a:rPr dirty="0" sz="1650" spc="-85">
                <a:latin typeface="Verdana"/>
                <a:cs typeface="Verdana"/>
              </a:rPr>
              <a:t>timely</a:t>
            </a:r>
            <a:r>
              <a:rPr dirty="0" sz="1650" spc="-185">
                <a:latin typeface="Verdana"/>
                <a:cs typeface="Verdana"/>
              </a:rPr>
              <a:t> </a:t>
            </a:r>
            <a:r>
              <a:rPr dirty="0" sz="1650" spc="-10">
                <a:latin typeface="Verdana"/>
                <a:cs typeface="Verdana"/>
              </a:rPr>
              <a:t>detection </a:t>
            </a:r>
            <a:r>
              <a:rPr dirty="0" sz="1650" spc="-110">
                <a:latin typeface="Verdana"/>
                <a:cs typeface="Verdana"/>
              </a:rPr>
              <a:t>and</a:t>
            </a:r>
            <a:r>
              <a:rPr dirty="0" sz="1650" spc="-180">
                <a:latin typeface="Verdana"/>
                <a:cs typeface="Verdana"/>
              </a:rPr>
              <a:t> </a:t>
            </a:r>
            <a:r>
              <a:rPr dirty="0" sz="1650" spc="-25">
                <a:latin typeface="Verdana"/>
                <a:cs typeface="Verdana"/>
              </a:rPr>
              <a:t>intervention.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39140" y="5180076"/>
            <a:ext cx="6482080" cy="2388235"/>
            <a:chOff x="739140" y="5180076"/>
            <a:chExt cx="6482080" cy="2388235"/>
          </a:xfrm>
        </p:grpSpPr>
        <p:sp>
          <p:nvSpPr>
            <p:cNvPr id="29" name="object 29" descr=""/>
            <p:cNvSpPr/>
            <p:nvPr/>
          </p:nvSpPr>
          <p:spPr>
            <a:xfrm>
              <a:off x="742950" y="5183886"/>
              <a:ext cx="6474460" cy="2380615"/>
            </a:xfrm>
            <a:custGeom>
              <a:avLst/>
              <a:gdLst/>
              <a:ahLst/>
              <a:cxnLst/>
              <a:rect l="l" t="t" r="r" b="b"/>
              <a:pathLst>
                <a:path w="6474459" h="2380615">
                  <a:moveTo>
                    <a:pt x="6283071" y="2380488"/>
                  </a:moveTo>
                  <a:lnTo>
                    <a:pt x="190868" y="2380488"/>
                  </a:lnTo>
                  <a:lnTo>
                    <a:pt x="147105" y="2375446"/>
                  </a:lnTo>
                  <a:lnTo>
                    <a:pt x="106930" y="2361087"/>
                  </a:lnTo>
                  <a:lnTo>
                    <a:pt x="71491" y="2338555"/>
                  </a:lnTo>
                  <a:lnTo>
                    <a:pt x="41932" y="2308996"/>
                  </a:lnTo>
                  <a:lnTo>
                    <a:pt x="19400" y="2273557"/>
                  </a:lnTo>
                  <a:lnTo>
                    <a:pt x="5041" y="2233382"/>
                  </a:lnTo>
                  <a:lnTo>
                    <a:pt x="0" y="2189619"/>
                  </a:lnTo>
                  <a:lnTo>
                    <a:pt x="0" y="190881"/>
                  </a:lnTo>
                  <a:lnTo>
                    <a:pt x="5041" y="147117"/>
                  </a:lnTo>
                  <a:lnTo>
                    <a:pt x="19400" y="106941"/>
                  </a:lnTo>
                  <a:lnTo>
                    <a:pt x="41932" y="71499"/>
                  </a:lnTo>
                  <a:lnTo>
                    <a:pt x="71491" y="41937"/>
                  </a:lnTo>
                  <a:lnTo>
                    <a:pt x="106930" y="19403"/>
                  </a:lnTo>
                  <a:lnTo>
                    <a:pt x="147105" y="5041"/>
                  </a:lnTo>
                  <a:lnTo>
                    <a:pt x="190868" y="0"/>
                  </a:lnTo>
                  <a:lnTo>
                    <a:pt x="6283071" y="0"/>
                  </a:lnTo>
                </a:path>
                <a:path w="6474459" h="2380615">
                  <a:moveTo>
                    <a:pt x="6283070" y="0"/>
                  </a:moveTo>
                  <a:lnTo>
                    <a:pt x="6326834" y="5041"/>
                  </a:lnTo>
                  <a:lnTo>
                    <a:pt x="6367010" y="19403"/>
                  </a:lnTo>
                  <a:lnTo>
                    <a:pt x="6402452" y="41937"/>
                  </a:lnTo>
                  <a:lnTo>
                    <a:pt x="6432014" y="71499"/>
                  </a:lnTo>
                  <a:lnTo>
                    <a:pt x="6454548" y="106941"/>
                  </a:lnTo>
                  <a:lnTo>
                    <a:pt x="6468910" y="147117"/>
                  </a:lnTo>
                  <a:lnTo>
                    <a:pt x="6473952" y="190880"/>
                  </a:lnTo>
                  <a:lnTo>
                    <a:pt x="6473952" y="2189619"/>
                  </a:lnTo>
                  <a:lnTo>
                    <a:pt x="6468910" y="2233382"/>
                  </a:lnTo>
                  <a:lnTo>
                    <a:pt x="6454548" y="2273557"/>
                  </a:lnTo>
                  <a:lnTo>
                    <a:pt x="6432014" y="2308996"/>
                  </a:lnTo>
                  <a:lnTo>
                    <a:pt x="6402452" y="2338555"/>
                  </a:lnTo>
                  <a:lnTo>
                    <a:pt x="6367010" y="2361087"/>
                  </a:lnTo>
                  <a:lnTo>
                    <a:pt x="6326834" y="2375446"/>
                  </a:lnTo>
                  <a:lnTo>
                    <a:pt x="6283071" y="2380488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42950" y="5183886"/>
              <a:ext cx="6474460" cy="2380615"/>
            </a:xfrm>
            <a:custGeom>
              <a:avLst/>
              <a:gdLst/>
              <a:ahLst/>
              <a:cxnLst/>
              <a:rect l="l" t="t" r="r" b="b"/>
              <a:pathLst>
                <a:path w="6474459" h="2380615">
                  <a:moveTo>
                    <a:pt x="6283071" y="0"/>
                  </a:moveTo>
                  <a:lnTo>
                    <a:pt x="190868" y="0"/>
                  </a:lnTo>
                  <a:lnTo>
                    <a:pt x="147105" y="5041"/>
                  </a:lnTo>
                  <a:lnTo>
                    <a:pt x="106930" y="19403"/>
                  </a:lnTo>
                  <a:lnTo>
                    <a:pt x="71491" y="41937"/>
                  </a:lnTo>
                  <a:lnTo>
                    <a:pt x="41932" y="71499"/>
                  </a:lnTo>
                  <a:lnTo>
                    <a:pt x="19400" y="106941"/>
                  </a:lnTo>
                  <a:lnTo>
                    <a:pt x="5041" y="147117"/>
                  </a:lnTo>
                  <a:lnTo>
                    <a:pt x="0" y="190881"/>
                  </a:lnTo>
                  <a:lnTo>
                    <a:pt x="0" y="2189619"/>
                  </a:lnTo>
                  <a:lnTo>
                    <a:pt x="5041" y="2233382"/>
                  </a:lnTo>
                  <a:lnTo>
                    <a:pt x="19400" y="2273557"/>
                  </a:lnTo>
                  <a:lnTo>
                    <a:pt x="41932" y="2308996"/>
                  </a:lnTo>
                  <a:lnTo>
                    <a:pt x="71491" y="2338555"/>
                  </a:lnTo>
                  <a:lnTo>
                    <a:pt x="106930" y="2361087"/>
                  </a:lnTo>
                  <a:lnTo>
                    <a:pt x="147105" y="2375446"/>
                  </a:lnTo>
                  <a:lnTo>
                    <a:pt x="190868" y="2380488"/>
                  </a:lnTo>
                  <a:lnTo>
                    <a:pt x="6283071" y="2380488"/>
                  </a:lnTo>
                  <a:lnTo>
                    <a:pt x="6326834" y="2375446"/>
                  </a:lnTo>
                  <a:lnTo>
                    <a:pt x="6367010" y="2361087"/>
                  </a:lnTo>
                  <a:lnTo>
                    <a:pt x="6402452" y="2338555"/>
                  </a:lnTo>
                  <a:lnTo>
                    <a:pt x="6432014" y="2308996"/>
                  </a:lnTo>
                  <a:lnTo>
                    <a:pt x="6454548" y="2273557"/>
                  </a:lnTo>
                  <a:lnTo>
                    <a:pt x="6468910" y="2233382"/>
                  </a:lnTo>
                  <a:lnTo>
                    <a:pt x="6473952" y="2189619"/>
                  </a:lnTo>
                  <a:lnTo>
                    <a:pt x="6473952" y="190881"/>
                  </a:lnTo>
                  <a:lnTo>
                    <a:pt x="6468910" y="147117"/>
                  </a:lnTo>
                  <a:lnTo>
                    <a:pt x="6454548" y="106941"/>
                  </a:lnTo>
                  <a:lnTo>
                    <a:pt x="6432014" y="71499"/>
                  </a:lnTo>
                  <a:lnTo>
                    <a:pt x="6402452" y="41937"/>
                  </a:lnTo>
                  <a:lnTo>
                    <a:pt x="6367010" y="19403"/>
                  </a:lnTo>
                  <a:lnTo>
                    <a:pt x="6326834" y="5041"/>
                  </a:lnTo>
                  <a:lnTo>
                    <a:pt x="6283071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42950" y="5183886"/>
              <a:ext cx="6474460" cy="2380615"/>
            </a:xfrm>
            <a:custGeom>
              <a:avLst/>
              <a:gdLst/>
              <a:ahLst/>
              <a:cxnLst/>
              <a:rect l="l" t="t" r="r" b="b"/>
              <a:pathLst>
                <a:path w="6474459" h="2380615">
                  <a:moveTo>
                    <a:pt x="0" y="190881"/>
                  </a:moveTo>
                  <a:lnTo>
                    <a:pt x="5041" y="147117"/>
                  </a:lnTo>
                  <a:lnTo>
                    <a:pt x="19400" y="106941"/>
                  </a:lnTo>
                  <a:lnTo>
                    <a:pt x="41932" y="71499"/>
                  </a:lnTo>
                  <a:lnTo>
                    <a:pt x="71491" y="41937"/>
                  </a:lnTo>
                  <a:lnTo>
                    <a:pt x="106930" y="19403"/>
                  </a:lnTo>
                  <a:lnTo>
                    <a:pt x="147105" y="5041"/>
                  </a:lnTo>
                  <a:lnTo>
                    <a:pt x="190868" y="0"/>
                  </a:lnTo>
                  <a:lnTo>
                    <a:pt x="6283071" y="0"/>
                  </a:lnTo>
                  <a:lnTo>
                    <a:pt x="6326834" y="5041"/>
                  </a:lnTo>
                  <a:lnTo>
                    <a:pt x="6367010" y="19403"/>
                  </a:lnTo>
                  <a:lnTo>
                    <a:pt x="6402452" y="41937"/>
                  </a:lnTo>
                  <a:lnTo>
                    <a:pt x="6432014" y="71499"/>
                  </a:lnTo>
                  <a:lnTo>
                    <a:pt x="6454548" y="106941"/>
                  </a:lnTo>
                  <a:lnTo>
                    <a:pt x="6468910" y="147117"/>
                  </a:lnTo>
                  <a:lnTo>
                    <a:pt x="6473952" y="190881"/>
                  </a:lnTo>
                  <a:lnTo>
                    <a:pt x="6473952" y="2189619"/>
                  </a:lnTo>
                  <a:lnTo>
                    <a:pt x="6468910" y="2233382"/>
                  </a:lnTo>
                  <a:lnTo>
                    <a:pt x="6454548" y="2273557"/>
                  </a:lnTo>
                  <a:lnTo>
                    <a:pt x="6432014" y="2308996"/>
                  </a:lnTo>
                  <a:lnTo>
                    <a:pt x="6402452" y="2338555"/>
                  </a:lnTo>
                  <a:lnTo>
                    <a:pt x="6367010" y="2361087"/>
                  </a:lnTo>
                  <a:lnTo>
                    <a:pt x="6326834" y="2375446"/>
                  </a:lnTo>
                  <a:lnTo>
                    <a:pt x="6283071" y="2380488"/>
                  </a:lnTo>
                  <a:lnTo>
                    <a:pt x="190868" y="2380488"/>
                  </a:lnTo>
                  <a:lnTo>
                    <a:pt x="147105" y="2375446"/>
                  </a:lnTo>
                  <a:lnTo>
                    <a:pt x="106930" y="2361087"/>
                  </a:lnTo>
                  <a:lnTo>
                    <a:pt x="71491" y="2338555"/>
                  </a:lnTo>
                  <a:lnTo>
                    <a:pt x="41932" y="2308996"/>
                  </a:lnTo>
                  <a:lnTo>
                    <a:pt x="19400" y="2273557"/>
                  </a:lnTo>
                  <a:lnTo>
                    <a:pt x="5041" y="2233382"/>
                  </a:lnTo>
                  <a:lnTo>
                    <a:pt x="0" y="2189619"/>
                  </a:lnTo>
                  <a:lnTo>
                    <a:pt x="0" y="190881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61644" y="5402580"/>
              <a:ext cx="637540" cy="637540"/>
            </a:xfrm>
            <a:custGeom>
              <a:avLst/>
              <a:gdLst/>
              <a:ahLst/>
              <a:cxnLst/>
              <a:rect l="l" t="t" r="r" b="b"/>
              <a:pathLst>
                <a:path w="637540" h="637539">
                  <a:moveTo>
                    <a:pt x="318516" y="0"/>
                  </a:moveTo>
                  <a:lnTo>
                    <a:pt x="271448" y="3453"/>
                  </a:lnTo>
                  <a:lnTo>
                    <a:pt x="226525" y="13486"/>
                  </a:lnTo>
                  <a:lnTo>
                    <a:pt x="184239" y="29606"/>
                  </a:lnTo>
                  <a:lnTo>
                    <a:pt x="145082" y="51319"/>
                  </a:lnTo>
                  <a:lnTo>
                    <a:pt x="109547" y="78132"/>
                  </a:lnTo>
                  <a:lnTo>
                    <a:pt x="78127" y="109552"/>
                  </a:lnTo>
                  <a:lnTo>
                    <a:pt x="51315" y="145088"/>
                  </a:lnTo>
                  <a:lnTo>
                    <a:pt x="29604" y="184244"/>
                  </a:lnTo>
                  <a:lnTo>
                    <a:pt x="13485" y="226530"/>
                  </a:lnTo>
                  <a:lnTo>
                    <a:pt x="3453" y="271451"/>
                  </a:lnTo>
                  <a:lnTo>
                    <a:pt x="0" y="318516"/>
                  </a:lnTo>
                  <a:lnTo>
                    <a:pt x="3453" y="365580"/>
                  </a:lnTo>
                  <a:lnTo>
                    <a:pt x="13485" y="410501"/>
                  </a:lnTo>
                  <a:lnTo>
                    <a:pt x="29604" y="452787"/>
                  </a:lnTo>
                  <a:lnTo>
                    <a:pt x="51315" y="491943"/>
                  </a:lnTo>
                  <a:lnTo>
                    <a:pt x="78127" y="527479"/>
                  </a:lnTo>
                  <a:lnTo>
                    <a:pt x="109547" y="558899"/>
                  </a:lnTo>
                  <a:lnTo>
                    <a:pt x="145082" y="585712"/>
                  </a:lnTo>
                  <a:lnTo>
                    <a:pt x="184239" y="607425"/>
                  </a:lnTo>
                  <a:lnTo>
                    <a:pt x="226525" y="623545"/>
                  </a:lnTo>
                  <a:lnTo>
                    <a:pt x="271448" y="633578"/>
                  </a:lnTo>
                  <a:lnTo>
                    <a:pt x="318516" y="637032"/>
                  </a:lnTo>
                  <a:lnTo>
                    <a:pt x="365580" y="633578"/>
                  </a:lnTo>
                  <a:lnTo>
                    <a:pt x="410501" y="623545"/>
                  </a:lnTo>
                  <a:lnTo>
                    <a:pt x="452787" y="607425"/>
                  </a:lnTo>
                  <a:lnTo>
                    <a:pt x="491943" y="585712"/>
                  </a:lnTo>
                  <a:lnTo>
                    <a:pt x="527479" y="558899"/>
                  </a:lnTo>
                  <a:lnTo>
                    <a:pt x="558899" y="527479"/>
                  </a:lnTo>
                  <a:lnTo>
                    <a:pt x="585712" y="491943"/>
                  </a:lnTo>
                  <a:lnTo>
                    <a:pt x="607425" y="452787"/>
                  </a:lnTo>
                  <a:lnTo>
                    <a:pt x="623545" y="410501"/>
                  </a:lnTo>
                  <a:lnTo>
                    <a:pt x="633578" y="365580"/>
                  </a:lnTo>
                  <a:lnTo>
                    <a:pt x="637032" y="318516"/>
                  </a:lnTo>
                  <a:lnTo>
                    <a:pt x="633578" y="271451"/>
                  </a:lnTo>
                  <a:lnTo>
                    <a:pt x="623545" y="226530"/>
                  </a:lnTo>
                  <a:lnTo>
                    <a:pt x="607425" y="184244"/>
                  </a:lnTo>
                  <a:lnTo>
                    <a:pt x="585712" y="145088"/>
                  </a:lnTo>
                  <a:lnTo>
                    <a:pt x="558899" y="109552"/>
                  </a:lnTo>
                  <a:lnTo>
                    <a:pt x="527479" y="78132"/>
                  </a:lnTo>
                  <a:lnTo>
                    <a:pt x="491943" y="51319"/>
                  </a:lnTo>
                  <a:lnTo>
                    <a:pt x="452787" y="29606"/>
                  </a:lnTo>
                  <a:lnTo>
                    <a:pt x="410501" y="13486"/>
                  </a:lnTo>
                  <a:lnTo>
                    <a:pt x="365580" y="3453"/>
                  </a:lnTo>
                  <a:lnTo>
                    <a:pt x="318516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8609" y="5632498"/>
              <a:ext cx="103433" cy="13905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149353" y="5589949"/>
              <a:ext cx="262255" cy="262890"/>
            </a:xfrm>
            <a:custGeom>
              <a:avLst/>
              <a:gdLst/>
              <a:ahLst/>
              <a:cxnLst/>
              <a:rect l="l" t="t" r="r" b="b"/>
              <a:pathLst>
                <a:path w="262255" h="262889">
                  <a:moveTo>
                    <a:pt x="42543" y="33959"/>
                  </a:moveTo>
                  <a:lnTo>
                    <a:pt x="25979" y="52104"/>
                  </a:lnTo>
                  <a:lnTo>
                    <a:pt x="13178" y="72828"/>
                  </a:lnTo>
                  <a:lnTo>
                    <a:pt x="4424" y="95559"/>
                  </a:lnTo>
                  <a:lnTo>
                    <a:pt x="0" y="119725"/>
                  </a:lnTo>
                  <a:lnTo>
                    <a:pt x="151" y="144291"/>
                  </a:lnTo>
                  <a:lnTo>
                    <a:pt x="13816" y="190834"/>
                  </a:lnTo>
                  <a:lnTo>
                    <a:pt x="43755" y="229523"/>
                  </a:lnTo>
                  <a:lnTo>
                    <a:pt x="85381" y="254430"/>
                  </a:lnTo>
                  <a:lnTo>
                    <a:pt x="133627" y="262526"/>
                  </a:lnTo>
                  <a:lnTo>
                    <a:pt x="157829" y="259757"/>
                  </a:lnTo>
                  <a:lnTo>
                    <a:pt x="202825" y="241090"/>
                  </a:lnTo>
                  <a:lnTo>
                    <a:pt x="237922" y="207310"/>
                  </a:lnTo>
                  <a:lnTo>
                    <a:pt x="258310" y="163064"/>
                  </a:lnTo>
                  <a:lnTo>
                    <a:pt x="262010" y="138778"/>
                  </a:lnTo>
                  <a:lnTo>
                    <a:pt x="261149" y="114434"/>
                  </a:lnTo>
                  <a:lnTo>
                    <a:pt x="246081" y="68110"/>
                  </a:lnTo>
                  <a:lnTo>
                    <a:pt x="215172" y="30466"/>
                  </a:lnTo>
                  <a:lnTo>
                    <a:pt x="172661" y="6661"/>
                  </a:lnTo>
                  <a:lnTo>
                    <a:pt x="124404" y="0"/>
                  </a:lnTo>
                  <a:lnTo>
                    <a:pt x="100289" y="3445"/>
                  </a:lnTo>
                  <a:lnTo>
                    <a:pt x="77035" y="11366"/>
                  </a:lnTo>
                </a:path>
              </a:pathLst>
            </a:custGeom>
            <a:ln w="11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272311" y="5792149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7041" y="0"/>
                  </a:moveTo>
                  <a:lnTo>
                    <a:pt x="0" y="7043"/>
                  </a:lnTo>
                  <a:lnTo>
                    <a:pt x="183" y="7888"/>
                  </a:lnTo>
                  <a:lnTo>
                    <a:pt x="7041" y="14103"/>
                  </a:lnTo>
                  <a:lnTo>
                    <a:pt x="9813" y="13500"/>
                  </a:lnTo>
                  <a:lnTo>
                    <a:pt x="12000" y="12002"/>
                  </a:lnTo>
                  <a:lnTo>
                    <a:pt x="6574" y="12002"/>
                  </a:lnTo>
                  <a:lnTo>
                    <a:pt x="4655" y="11175"/>
                  </a:lnTo>
                  <a:lnTo>
                    <a:pt x="4458" y="11175"/>
                  </a:lnTo>
                  <a:lnTo>
                    <a:pt x="3167" y="9917"/>
                  </a:lnTo>
                  <a:lnTo>
                    <a:pt x="2441" y="8291"/>
                  </a:lnTo>
                  <a:lnTo>
                    <a:pt x="2347" y="5795"/>
                  </a:lnTo>
                  <a:lnTo>
                    <a:pt x="3010" y="4460"/>
                  </a:lnTo>
                  <a:lnTo>
                    <a:pt x="3072" y="4315"/>
                  </a:lnTo>
                  <a:lnTo>
                    <a:pt x="4144" y="3242"/>
                  </a:lnTo>
                  <a:lnTo>
                    <a:pt x="3925" y="3242"/>
                  </a:lnTo>
                  <a:lnTo>
                    <a:pt x="5995" y="2350"/>
                  </a:lnTo>
                  <a:lnTo>
                    <a:pt x="12149" y="2350"/>
                  </a:lnTo>
                  <a:lnTo>
                    <a:pt x="11983" y="2119"/>
                  </a:lnTo>
                  <a:lnTo>
                    <a:pt x="9837" y="619"/>
                  </a:lnTo>
                  <a:lnTo>
                    <a:pt x="7041" y="0"/>
                  </a:lnTo>
                  <a:close/>
                </a:path>
                <a:path w="14605" h="14604">
                  <a:moveTo>
                    <a:pt x="12149" y="2350"/>
                  </a:moveTo>
                  <a:lnTo>
                    <a:pt x="8080" y="2350"/>
                  </a:lnTo>
                  <a:lnTo>
                    <a:pt x="9986" y="3242"/>
                  </a:lnTo>
                  <a:lnTo>
                    <a:pt x="11032" y="4315"/>
                  </a:lnTo>
                  <a:lnTo>
                    <a:pt x="11751" y="5795"/>
                  </a:lnTo>
                  <a:lnTo>
                    <a:pt x="11658" y="8291"/>
                  </a:lnTo>
                  <a:lnTo>
                    <a:pt x="10934" y="9917"/>
                  </a:lnTo>
                  <a:lnTo>
                    <a:pt x="9678" y="11175"/>
                  </a:lnTo>
                  <a:lnTo>
                    <a:pt x="9374" y="11175"/>
                  </a:lnTo>
                  <a:lnTo>
                    <a:pt x="7521" y="12002"/>
                  </a:lnTo>
                  <a:lnTo>
                    <a:pt x="14101" y="7043"/>
                  </a:lnTo>
                  <a:lnTo>
                    <a:pt x="13539" y="4460"/>
                  </a:lnTo>
                  <a:lnTo>
                    <a:pt x="13508" y="4315"/>
                  </a:lnTo>
                  <a:lnTo>
                    <a:pt x="12794" y="3242"/>
                  </a:lnTo>
                  <a:lnTo>
                    <a:pt x="12149" y="2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91719" y="5601199"/>
              <a:ext cx="34925" cy="22860"/>
            </a:xfrm>
            <a:custGeom>
              <a:avLst/>
              <a:gdLst/>
              <a:ahLst/>
              <a:cxnLst/>
              <a:rect l="l" t="t" r="r" b="b"/>
              <a:pathLst>
                <a:path w="34925" h="22860">
                  <a:moveTo>
                    <a:pt x="34618" y="0"/>
                  </a:moveTo>
                  <a:lnTo>
                    <a:pt x="0" y="22523"/>
                  </a:lnTo>
                </a:path>
              </a:pathLst>
            </a:custGeom>
            <a:ln w="11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949248" y="6213424"/>
            <a:ext cx="5283200" cy="1108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50" spc="265">
                <a:latin typeface="SimSun-ExtB"/>
                <a:cs typeface="SimSun-ExtB"/>
              </a:rPr>
              <a:t>No</a:t>
            </a:r>
            <a:r>
              <a:rPr dirty="0" sz="2050" spc="-545">
                <a:latin typeface="SimSun-ExtB"/>
                <a:cs typeface="SimSun-ExtB"/>
              </a:rPr>
              <a:t> </a:t>
            </a:r>
            <a:r>
              <a:rPr dirty="0" sz="2050" spc="-145">
                <a:latin typeface="SimSun-ExtB"/>
                <a:cs typeface="SimSun-ExtB"/>
              </a:rPr>
              <a:t>Vield</a:t>
            </a:r>
            <a:r>
              <a:rPr dirty="0" sz="2050" spc="-530">
                <a:latin typeface="SimSun-ExtB"/>
                <a:cs typeface="SimSun-ExtB"/>
              </a:rPr>
              <a:t> </a:t>
            </a:r>
            <a:r>
              <a:rPr dirty="0" sz="2050" spc="-325">
                <a:latin typeface="SimSun-ExtB"/>
                <a:cs typeface="SimSun-ExtB"/>
              </a:rPr>
              <a:t>PĩedicLio⭲</a:t>
            </a:r>
            <a:endParaRPr sz="2050">
              <a:latin typeface="SimSun-ExtB"/>
              <a:cs typeface="SimSun-ExtB"/>
            </a:endParaRPr>
          </a:p>
          <a:p>
            <a:pPr marL="12700" marR="5080">
              <a:lnSpc>
                <a:spcPct val="130900"/>
              </a:lnSpc>
              <a:spcBef>
                <a:spcPts val="875"/>
              </a:spcBef>
            </a:pPr>
            <a:r>
              <a:rPr dirty="0" sz="1650" spc="-85">
                <a:latin typeface="Verdana"/>
                <a:cs typeface="Verdana"/>
              </a:rPr>
              <a:t>Absence</a:t>
            </a:r>
            <a:r>
              <a:rPr dirty="0" sz="1650" spc="-165">
                <a:latin typeface="Verdana"/>
                <a:cs typeface="Verdana"/>
              </a:rPr>
              <a:t> </a:t>
            </a:r>
            <a:r>
              <a:rPr dirty="0" sz="1650" spc="-70">
                <a:latin typeface="Verdana"/>
                <a:cs typeface="Verdana"/>
              </a:rPr>
              <a:t>of</a:t>
            </a:r>
            <a:r>
              <a:rPr dirty="0" sz="1650" spc="-150">
                <a:latin typeface="Verdana"/>
                <a:cs typeface="Verdana"/>
              </a:rPr>
              <a:t> </a:t>
            </a:r>
            <a:r>
              <a:rPr dirty="0" sz="1650" spc="-80">
                <a:latin typeface="Verdana"/>
                <a:cs typeface="Verdana"/>
              </a:rPr>
              <a:t>AI-</a:t>
            </a:r>
            <a:r>
              <a:rPr dirty="0" sz="1650" spc="-85">
                <a:latin typeface="Verdana"/>
                <a:cs typeface="Verdana"/>
              </a:rPr>
              <a:t>powered</a:t>
            </a:r>
            <a:r>
              <a:rPr dirty="0" sz="1650" spc="-180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forecasting</a:t>
            </a:r>
            <a:r>
              <a:rPr dirty="0" sz="1650" spc="-175">
                <a:latin typeface="Verdana"/>
                <a:cs typeface="Verdana"/>
              </a:rPr>
              <a:t> </a:t>
            </a:r>
            <a:r>
              <a:rPr dirty="0" sz="1650" spc="-110">
                <a:latin typeface="Verdana"/>
                <a:cs typeface="Verdana"/>
              </a:rPr>
              <a:t>makes</a:t>
            </a:r>
            <a:r>
              <a:rPr dirty="0" sz="1650" spc="-190">
                <a:latin typeface="Verdana"/>
                <a:cs typeface="Verdana"/>
              </a:rPr>
              <a:t> </a:t>
            </a:r>
            <a:r>
              <a:rPr dirty="0" sz="1650" spc="-95">
                <a:latin typeface="Verdana"/>
                <a:cs typeface="Verdana"/>
              </a:rPr>
              <a:t>planning</a:t>
            </a:r>
            <a:r>
              <a:rPr dirty="0" sz="1650" spc="-170">
                <a:latin typeface="Verdana"/>
                <a:cs typeface="Verdana"/>
              </a:rPr>
              <a:t> </a:t>
            </a:r>
            <a:r>
              <a:rPr dirty="0" sz="1650" spc="-25">
                <a:latin typeface="Verdana"/>
                <a:cs typeface="Verdana"/>
              </a:rPr>
              <a:t>and </a:t>
            </a:r>
            <a:r>
              <a:rPr dirty="0" sz="1650" spc="-90">
                <a:latin typeface="Verdana"/>
                <a:cs typeface="Verdana"/>
              </a:rPr>
              <a:t>resource</a:t>
            </a:r>
            <a:r>
              <a:rPr dirty="0" sz="1650" spc="-180">
                <a:latin typeface="Verdana"/>
                <a:cs typeface="Verdana"/>
              </a:rPr>
              <a:t> </a:t>
            </a:r>
            <a:r>
              <a:rPr dirty="0" sz="1650" spc="-70">
                <a:latin typeface="Verdana"/>
                <a:cs typeface="Verdana"/>
              </a:rPr>
              <a:t>allocation</a:t>
            </a:r>
            <a:r>
              <a:rPr dirty="0" sz="1650" spc="-175">
                <a:latin typeface="Verdana"/>
                <a:cs typeface="Verdana"/>
              </a:rPr>
              <a:t> </a:t>
            </a:r>
            <a:r>
              <a:rPr dirty="0" sz="1650" spc="-10">
                <a:latin typeface="Verdana"/>
                <a:cs typeface="Verdana"/>
              </a:rPr>
              <a:t>challenging.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7411211" y="5180076"/>
            <a:ext cx="6482080" cy="2388235"/>
            <a:chOff x="7411211" y="5180076"/>
            <a:chExt cx="6482080" cy="2388235"/>
          </a:xfrm>
        </p:grpSpPr>
        <p:sp>
          <p:nvSpPr>
            <p:cNvPr id="39" name="object 39" descr=""/>
            <p:cNvSpPr/>
            <p:nvPr/>
          </p:nvSpPr>
          <p:spPr>
            <a:xfrm>
              <a:off x="7415021" y="5183886"/>
              <a:ext cx="6474460" cy="2380615"/>
            </a:xfrm>
            <a:custGeom>
              <a:avLst/>
              <a:gdLst/>
              <a:ahLst/>
              <a:cxnLst/>
              <a:rect l="l" t="t" r="r" b="b"/>
              <a:pathLst>
                <a:path w="6474459" h="2380615">
                  <a:moveTo>
                    <a:pt x="6283070" y="2380488"/>
                  </a:moveTo>
                  <a:lnTo>
                    <a:pt x="190881" y="2380488"/>
                  </a:lnTo>
                  <a:lnTo>
                    <a:pt x="147117" y="2375446"/>
                  </a:lnTo>
                  <a:lnTo>
                    <a:pt x="106941" y="2361087"/>
                  </a:lnTo>
                  <a:lnTo>
                    <a:pt x="71499" y="2338555"/>
                  </a:lnTo>
                  <a:lnTo>
                    <a:pt x="41937" y="2308996"/>
                  </a:lnTo>
                  <a:lnTo>
                    <a:pt x="19403" y="2273557"/>
                  </a:lnTo>
                  <a:lnTo>
                    <a:pt x="5041" y="2233382"/>
                  </a:lnTo>
                  <a:lnTo>
                    <a:pt x="0" y="2189619"/>
                  </a:lnTo>
                  <a:lnTo>
                    <a:pt x="0" y="190881"/>
                  </a:lnTo>
                  <a:lnTo>
                    <a:pt x="5041" y="147117"/>
                  </a:lnTo>
                  <a:lnTo>
                    <a:pt x="19403" y="106941"/>
                  </a:lnTo>
                  <a:lnTo>
                    <a:pt x="41937" y="71499"/>
                  </a:lnTo>
                  <a:lnTo>
                    <a:pt x="71499" y="41937"/>
                  </a:lnTo>
                  <a:lnTo>
                    <a:pt x="106941" y="19403"/>
                  </a:lnTo>
                  <a:lnTo>
                    <a:pt x="147117" y="5041"/>
                  </a:lnTo>
                  <a:lnTo>
                    <a:pt x="190880" y="0"/>
                  </a:lnTo>
                  <a:lnTo>
                    <a:pt x="6283070" y="0"/>
                  </a:lnTo>
                </a:path>
                <a:path w="6474459" h="2380615">
                  <a:moveTo>
                    <a:pt x="6283070" y="0"/>
                  </a:moveTo>
                  <a:lnTo>
                    <a:pt x="6326834" y="5041"/>
                  </a:lnTo>
                  <a:lnTo>
                    <a:pt x="6367010" y="19403"/>
                  </a:lnTo>
                  <a:lnTo>
                    <a:pt x="6402452" y="41937"/>
                  </a:lnTo>
                  <a:lnTo>
                    <a:pt x="6432014" y="71499"/>
                  </a:lnTo>
                  <a:lnTo>
                    <a:pt x="6454548" y="106941"/>
                  </a:lnTo>
                  <a:lnTo>
                    <a:pt x="6468910" y="147117"/>
                  </a:lnTo>
                  <a:lnTo>
                    <a:pt x="6473951" y="190881"/>
                  </a:lnTo>
                  <a:lnTo>
                    <a:pt x="6473951" y="2189619"/>
                  </a:lnTo>
                  <a:lnTo>
                    <a:pt x="6468910" y="2233382"/>
                  </a:lnTo>
                  <a:lnTo>
                    <a:pt x="6454548" y="2273557"/>
                  </a:lnTo>
                  <a:lnTo>
                    <a:pt x="6432014" y="2308996"/>
                  </a:lnTo>
                  <a:lnTo>
                    <a:pt x="6402452" y="2338555"/>
                  </a:lnTo>
                  <a:lnTo>
                    <a:pt x="6367010" y="2361087"/>
                  </a:lnTo>
                  <a:lnTo>
                    <a:pt x="6326834" y="2375446"/>
                  </a:lnTo>
                  <a:lnTo>
                    <a:pt x="6283070" y="2380488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415021" y="5183886"/>
              <a:ext cx="6474460" cy="2380615"/>
            </a:xfrm>
            <a:custGeom>
              <a:avLst/>
              <a:gdLst/>
              <a:ahLst/>
              <a:cxnLst/>
              <a:rect l="l" t="t" r="r" b="b"/>
              <a:pathLst>
                <a:path w="6474459" h="2380615">
                  <a:moveTo>
                    <a:pt x="6283070" y="0"/>
                  </a:moveTo>
                  <a:lnTo>
                    <a:pt x="190880" y="0"/>
                  </a:lnTo>
                  <a:lnTo>
                    <a:pt x="147117" y="5041"/>
                  </a:lnTo>
                  <a:lnTo>
                    <a:pt x="106941" y="19403"/>
                  </a:lnTo>
                  <a:lnTo>
                    <a:pt x="71499" y="41937"/>
                  </a:lnTo>
                  <a:lnTo>
                    <a:pt x="41937" y="71499"/>
                  </a:lnTo>
                  <a:lnTo>
                    <a:pt x="19403" y="106941"/>
                  </a:lnTo>
                  <a:lnTo>
                    <a:pt x="5041" y="147117"/>
                  </a:lnTo>
                  <a:lnTo>
                    <a:pt x="0" y="190881"/>
                  </a:lnTo>
                  <a:lnTo>
                    <a:pt x="0" y="2189619"/>
                  </a:lnTo>
                  <a:lnTo>
                    <a:pt x="5041" y="2233382"/>
                  </a:lnTo>
                  <a:lnTo>
                    <a:pt x="19403" y="2273557"/>
                  </a:lnTo>
                  <a:lnTo>
                    <a:pt x="41937" y="2308996"/>
                  </a:lnTo>
                  <a:lnTo>
                    <a:pt x="71499" y="2338555"/>
                  </a:lnTo>
                  <a:lnTo>
                    <a:pt x="106941" y="2361087"/>
                  </a:lnTo>
                  <a:lnTo>
                    <a:pt x="147117" y="2375446"/>
                  </a:lnTo>
                  <a:lnTo>
                    <a:pt x="190880" y="2380488"/>
                  </a:lnTo>
                  <a:lnTo>
                    <a:pt x="6283070" y="2380488"/>
                  </a:lnTo>
                  <a:lnTo>
                    <a:pt x="6326834" y="2375446"/>
                  </a:lnTo>
                  <a:lnTo>
                    <a:pt x="6367010" y="2361087"/>
                  </a:lnTo>
                  <a:lnTo>
                    <a:pt x="6402452" y="2338555"/>
                  </a:lnTo>
                  <a:lnTo>
                    <a:pt x="6432014" y="2308996"/>
                  </a:lnTo>
                  <a:lnTo>
                    <a:pt x="6454548" y="2273557"/>
                  </a:lnTo>
                  <a:lnTo>
                    <a:pt x="6468910" y="2233382"/>
                  </a:lnTo>
                  <a:lnTo>
                    <a:pt x="6473951" y="2189619"/>
                  </a:lnTo>
                  <a:lnTo>
                    <a:pt x="6473951" y="190881"/>
                  </a:lnTo>
                  <a:lnTo>
                    <a:pt x="6468910" y="147117"/>
                  </a:lnTo>
                  <a:lnTo>
                    <a:pt x="6454548" y="106941"/>
                  </a:lnTo>
                  <a:lnTo>
                    <a:pt x="6432014" y="71499"/>
                  </a:lnTo>
                  <a:lnTo>
                    <a:pt x="6402452" y="41937"/>
                  </a:lnTo>
                  <a:lnTo>
                    <a:pt x="6367010" y="19403"/>
                  </a:lnTo>
                  <a:lnTo>
                    <a:pt x="6326834" y="5041"/>
                  </a:lnTo>
                  <a:lnTo>
                    <a:pt x="6283070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415021" y="5183886"/>
              <a:ext cx="6474460" cy="2380615"/>
            </a:xfrm>
            <a:custGeom>
              <a:avLst/>
              <a:gdLst/>
              <a:ahLst/>
              <a:cxnLst/>
              <a:rect l="l" t="t" r="r" b="b"/>
              <a:pathLst>
                <a:path w="6474459" h="2380615">
                  <a:moveTo>
                    <a:pt x="0" y="190881"/>
                  </a:moveTo>
                  <a:lnTo>
                    <a:pt x="5041" y="147117"/>
                  </a:lnTo>
                  <a:lnTo>
                    <a:pt x="19403" y="106941"/>
                  </a:lnTo>
                  <a:lnTo>
                    <a:pt x="41937" y="71499"/>
                  </a:lnTo>
                  <a:lnTo>
                    <a:pt x="71499" y="41937"/>
                  </a:lnTo>
                  <a:lnTo>
                    <a:pt x="106941" y="19403"/>
                  </a:lnTo>
                  <a:lnTo>
                    <a:pt x="147117" y="5041"/>
                  </a:lnTo>
                  <a:lnTo>
                    <a:pt x="190880" y="0"/>
                  </a:lnTo>
                  <a:lnTo>
                    <a:pt x="6283070" y="0"/>
                  </a:lnTo>
                  <a:lnTo>
                    <a:pt x="6326834" y="5041"/>
                  </a:lnTo>
                  <a:lnTo>
                    <a:pt x="6367010" y="19403"/>
                  </a:lnTo>
                  <a:lnTo>
                    <a:pt x="6402452" y="41937"/>
                  </a:lnTo>
                  <a:lnTo>
                    <a:pt x="6432014" y="71499"/>
                  </a:lnTo>
                  <a:lnTo>
                    <a:pt x="6454548" y="106941"/>
                  </a:lnTo>
                  <a:lnTo>
                    <a:pt x="6468910" y="147117"/>
                  </a:lnTo>
                  <a:lnTo>
                    <a:pt x="6473951" y="190881"/>
                  </a:lnTo>
                  <a:lnTo>
                    <a:pt x="6473951" y="2189619"/>
                  </a:lnTo>
                  <a:lnTo>
                    <a:pt x="6468910" y="2233382"/>
                  </a:lnTo>
                  <a:lnTo>
                    <a:pt x="6454548" y="2273557"/>
                  </a:lnTo>
                  <a:lnTo>
                    <a:pt x="6432014" y="2308996"/>
                  </a:lnTo>
                  <a:lnTo>
                    <a:pt x="6402452" y="2338555"/>
                  </a:lnTo>
                  <a:lnTo>
                    <a:pt x="6367010" y="2361087"/>
                  </a:lnTo>
                  <a:lnTo>
                    <a:pt x="6326834" y="2375446"/>
                  </a:lnTo>
                  <a:lnTo>
                    <a:pt x="6283070" y="2380488"/>
                  </a:lnTo>
                  <a:lnTo>
                    <a:pt x="190880" y="2380488"/>
                  </a:lnTo>
                  <a:lnTo>
                    <a:pt x="147117" y="2375446"/>
                  </a:lnTo>
                  <a:lnTo>
                    <a:pt x="106941" y="2361087"/>
                  </a:lnTo>
                  <a:lnTo>
                    <a:pt x="71499" y="2338555"/>
                  </a:lnTo>
                  <a:lnTo>
                    <a:pt x="41937" y="2308996"/>
                  </a:lnTo>
                  <a:lnTo>
                    <a:pt x="19403" y="2273557"/>
                  </a:lnTo>
                  <a:lnTo>
                    <a:pt x="5041" y="2233382"/>
                  </a:lnTo>
                  <a:lnTo>
                    <a:pt x="0" y="2189619"/>
                  </a:lnTo>
                  <a:lnTo>
                    <a:pt x="0" y="190881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633715" y="5402580"/>
              <a:ext cx="637540" cy="637540"/>
            </a:xfrm>
            <a:custGeom>
              <a:avLst/>
              <a:gdLst/>
              <a:ahLst/>
              <a:cxnLst/>
              <a:rect l="l" t="t" r="r" b="b"/>
              <a:pathLst>
                <a:path w="637540" h="637539">
                  <a:moveTo>
                    <a:pt x="318515" y="0"/>
                  </a:moveTo>
                  <a:lnTo>
                    <a:pt x="271451" y="3453"/>
                  </a:lnTo>
                  <a:lnTo>
                    <a:pt x="226530" y="13486"/>
                  </a:lnTo>
                  <a:lnTo>
                    <a:pt x="184244" y="29606"/>
                  </a:lnTo>
                  <a:lnTo>
                    <a:pt x="145088" y="51319"/>
                  </a:lnTo>
                  <a:lnTo>
                    <a:pt x="109552" y="78132"/>
                  </a:lnTo>
                  <a:lnTo>
                    <a:pt x="78132" y="109552"/>
                  </a:lnTo>
                  <a:lnTo>
                    <a:pt x="51319" y="145088"/>
                  </a:lnTo>
                  <a:lnTo>
                    <a:pt x="29606" y="184244"/>
                  </a:lnTo>
                  <a:lnTo>
                    <a:pt x="13486" y="226530"/>
                  </a:lnTo>
                  <a:lnTo>
                    <a:pt x="3453" y="271451"/>
                  </a:lnTo>
                  <a:lnTo>
                    <a:pt x="0" y="318516"/>
                  </a:lnTo>
                  <a:lnTo>
                    <a:pt x="3453" y="365580"/>
                  </a:lnTo>
                  <a:lnTo>
                    <a:pt x="13486" y="410501"/>
                  </a:lnTo>
                  <a:lnTo>
                    <a:pt x="29606" y="452787"/>
                  </a:lnTo>
                  <a:lnTo>
                    <a:pt x="51319" y="491943"/>
                  </a:lnTo>
                  <a:lnTo>
                    <a:pt x="78132" y="527479"/>
                  </a:lnTo>
                  <a:lnTo>
                    <a:pt x="109552" y="558899"/>
                  </a:lnTo>
                  <a:lnTo>
                    <a:pt x="145088" y="585712"/>
                  </a:lnTo>
                  <a:lnTo>
                    <a:pt x="184244" y="607425"/>
                  </a:lnTo>
                  <a:lnTo>
                    <a:pt x="226530" y="623545"/>
                  </a:lnTo>
                  <a:lnTo>
                    <a:pt x="271451" y="633578"/>
                  </a:lnTo>
                  <a:lnTo>
                    <a:pt x="318515" y="637032"/>
                  </a:lnTo>
                  <a:lnTo>
                    <a:pt x="365580" y="633578"/>
                  </a:lnTo>
                  <a:lnTo>
                    <a:pt x="410501" y="623545"/>
                  </a:lnTo>
                  <a:lnTo>
                    <a:pt x="452787" y="607425"/>
                  </a:lnTo>
                  <a:lnTo>
                    <a:pt x="491943" y="585712"/>
                  </a:lnTo>
                  <a:lnTo>
                    <a:pt x="527479" y="558899"/>
                  </a:lnTo>
                  <a:lnTo>
                    <a:pt x="558899" y="527479"/>
                  </a:lnTo>
                  <a:lnTo>
                    <a:pt x="585712" y="491943"/>
                  </a:lnTo>
                  <a:lnTo>
                    <a:pt x="607425" y="452787"/>
                  </a:lnTo>
                  <a:lnTo>
                    <a:pt x="623545" y="410501"/>
                  </a:lnTo>
                  <a:lnTo>
                    <a:pt x="633578" y="365580"/>
                  </a:lnTo>
                  <a:lnTo>
                    <a:pt x="637031" y="318516"/>
                  </a:lnTo>
                  <a:lnTo>
                    <a:pt x="633578" y="271451"/>
                  </a:lnTo>
                  <a:lnTo>
                    <a:pt x="623545" y="226530"/>
                  </a:lnTo>
                  <a:lnTo>
                    <a:pt x="607425" y="184244"/>
                  </a:lnTo>
                  <a:lnTo>
                    <a:pt x="585712" y="145088"/>
                  </a:lnTo>
                  <a:lnTo>
                    <a:pt x="558899" y="109552"/>
                  </a:lnTo>
                  <a:lnTo>
                    <a:pt x="527479" y="78132"/>
                  </a:lnTo>
                  <a:lnTo>
                    <a:pt x="491943" y="51319"/>
                  </a:lnTo>
                  <a:lnTo>
                    <a:pt x="452787" y="29606"/>
                  </a:lnTo>
                  <a:lnTo>
                    <a:pt x="410501" y="13486"/>
                  </a:lnTo>
                  <a:lnTo>
                    <a:pt x="365580" y="3453"/>
                  </a:lnTo>
                  <a:lnTo>
                    <a:pt x="318515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24011" y="5583703"/>
              <a:ext cx="256543" cy="274723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7621905" y="6213424"/>
            <a:ext cx="5354955" cy="1108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50" spc="-185">
                <a:latin typeface="SimSun-ExtB"/>
                <a:cs typeface="SimSun-ExtB"/>
              </a:rPr>
              <a:t>Pooĩ</a:t>
            </a:r>
            <a:r>
              <a:rPr dirty="0" sz="2050" spc="-550">
                <a:latin typeface="SimSun-ExtB"/>
                <a:cs typeface="SimSun-ExtB"/>
              </a:rPr>
              <a:t> </a:t>
            </a:r>
            <a:r>
              <a:rPr dirty="0" sz="2050" spc="-290">
                <a:latin typeface="SimSun-ExtB"/>
                <a:cs typeface="SimSun-ExtB"/>
              </a:rPr>
              <a:t>Hĩacki⭲g</a:t>
            </a:r>
            <a:endParaRPr sz="2050">
              <a:latin typeface="SimSun-ExtB"/>
              <a:cs typeface="SimSun-ExtB"/>
            </a:endParaRPr>
          </a:p>
          <a:p>
            <a:pPr marL="12700" marR="5080">
              <a:lnSpc>
                <a:spcPct val="130900"/>
              </a:lnSpc>
              <a:spcBef>
                <a:spcPts val="875"/>
              </a:spcBef>
            </a:pPr>
            <a:r>
              <a:rPr dirty="0" sz="1650" spc="-85">
                <a:latin typeface="Verdana"/>
                <a:cs typeface="Verdana"/>
              </a:rPr>
              <a:t>Limited</a:t>
            </a:r>
            <a:r>
              <a:rPr dirty="0" sz="1650" spc="-165">
                <a:latin typeface="Verdana"/>
                <a:cs typeface="Verdana"/>
              </a:rPr>
              <a:t> </a:t>
            </a:r>
            <a:r>
              <a:rPr dirty="0" sz="1650" spc="-70">
                <a:latin typeface="Verdana"/>
                <a:cs typeface="Verdana"/>
              </a:rPr>
              <a:t>tools</a:t>
            </a:r>
            <a:r>
              <a:rPr dirty="0" sz="1650" spc="-160">
                <a:latin typeface="Verdana"/>
                <a:cs typeface="Verdana"/>
              </a:rPr>
              <a:t> </a:t>
            </a:r>
            <a:r>
              <a:rPr dirty="0" sz="1650" spc="-75">
                <a:latin typeface="Verdana"/>
                <a:cs typeface="Verdana"/>
              </a:rPr>
              <a:t>for</a:t>
            </a:r>
            <a:r>
              <a:rPr dirty="0" sz="1650" spc="-150">
                <a:latin typeface="Verdana"/>
                <a:cs typeface="Verdana"/>
              </a:rPr>
              <a:t> </a:t>
            </a:r>
            <a:r>
              <a:rPr dirty="0" sz="1650" spc="-130">
                <a:latin typeface="Verdana"/>
                <a:cs typeface="Verdana"/>
              </a:rPr>
              <a:t>managing</a:t>
            </a:r>
            <a:r>
              <a:rPr dirty="0" sz="1650" spc="-170">
                <a:latin typeface="Verdana"/>
                <a:cs typeface="Verdana"/>
              </a:rPr>
              <a:t> </a:t>
            </a:r>
            <a:r>
              <a:rPr dirty="0" sz="1650" spc="-110">
                <a:latin typeface="Verdana"/>
                <a:cs typeface="Verdana"/>
              </a:rPr>
              <a:t>farm</a:t>
            </a:r>
            <a:r>
              <a:rPr dirty="0" sz="1650" spc="-170">
                <a:latin typeface="Verdana"/>
                <a:cs typeface="Verdana"/>
              </a:rPr>
              <a:t> </a:t>
            </a:r>
            <a:r>
              <a:rPr dirty="0" sz="1650" spc="-90">
                <a:latin typeface="Verdana"/>
                <a:cs typeface="Verdana"/>
              </a:rPr>
              <a:t>activities,</a:t>
            </a:r>
            <a:r>
              <a:rPr dirty="0" sz="1650" spc="-195">
                <a:latin typeface="Verdana"/>
                <a:cs typeface="Verdana"/>
              </a:rPr>
              <a:t> </a:t>
            </a:r>
            <a:r>
              <a:rPr dirty="0" sz="1650" spc="-100">
                <a:latin typeface="Verdana"/>
                <a:cs typeface="Verdana"/>
              </a:rPr>
              <a:t>expenses,</a:t>
            </a:r>
            <a:r>
              <a:rPr dirty="0" sz="1650" spc="-175">
                <a:latin typeface="Verdana"/>
                <a:cs typeface="Verdana"/>
              </a:rPr>
              <a:t> </a:t>
            </a:r>
            <a:r>
              <a:rPr dirty="0" sz="1650" spc="-25">
                <a:latin typeface="Verdana"/>
                <a:cs typeface="Verdana"/>
              </a:rPr>
              <a:t>and </a:t>
            </a:r>
            <a:r>
              <a:rPr dirty="0" sz="1650" spc="-110">
                <a:latin typeface="Verdana"/>
                <a:cs typeface="Verdana"/>
              </a:rPr>
              <a:t>inventory</a:t>
            </a:r>
            <a:r>
              <a:rPr dirty="0" sz="1650" spc="-165">
                <a:latin typeface="Verdana"/>
                <a:cs typeface="Verdana"/>
              </a:rPr>
              <a:t> </a:t>
            </a:r>
            <a:r>
              <a:rPr dirty="0" sz="1650" spc="-10">
                <a:latin typeface="Verdana"/>
                <a:cs typeface="Verdana"/>
              </a:rPr>
              <a:t>efficiently.</a:t>
            </a:r>
            <a:endParaRPr sz="1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95250" y="7721852"/>
            <a:ext cx="1741170" cy="400050"/>
            <a:chOff x="12795250" y="7721852"/>
            <a:chExt cx="1741170" cy="4000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1728215" y="0"/>
                  </a:moveTo>
                  <a:lnTo>
                    <a:pt x="0" y="0"/>
                  </a:lnTo>
                  <a:lnTo>
                    <a:pt x="0" y="387095"/>
                  </a:lnTo>
                  <a:lnTo>
                    <a:pt x="1728215" y="387095"/>
                  </a:lnTo>
                  <a:lnTo>
                    <a:pt x="1728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0" y="387095"/>
                  </a:moveTo>
                  <a:lnTo>
                    <a:pt x="1728215" y="387095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3870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8214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5"/>
              </a:spcBef>
            </a:pPr>
            <a:r>
              <a:rPr dirty="0" sz="4450" spc="-919"/>
              <a:t>E…isLi⭲g</a:t>
            </a:r>
            <a:r>
              <a:rPr dirty="0" sz="4450" spc="-1225"/>
              <a:t> </a:t>
            </a:r>
            <a:r>
              <a:rPr dirty="0" sz="4450" spc="-545"/>
              <a:t>SoluLio⭲s</a:t>
            </a:r>
            <a:r>
              <a:rPr dirty="0" sz="4450" spc="-1220"/>
              <a:t> </a:t>
            </a:r>
            <a:r>
              <a:rPr dirty="0" sz="4450" spc="-515"/>
              <a:t>Fall</a:t>
            </a:r>
            <a:r>
              <a:rPr dirty="0" sz="4450" spc="-1220"/>
              <a:t> </a:t>
            </a:r>
            <a:r>
              <a:rPr dirty="0" sz="4450" spc="-545"/>
              <a:t>ShoĩL</a:t>
            </a:r>
            <a:endParaRPr sz="445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004" y="2327148"/>
            <a:ext cx="8284464" cy="462381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627234" y="2080717"/>
            <a:ext cx="2735580" cy="430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50" spc="-595">
                <a:solidFill>
                  <a:srgbClr val="3E6EF3"/>
                </a:solidFill>
                <a:latin typeface="SimSun-ExtB"/>
                <a:cs typeface="SimSun-ExtB"/>
              </a:rPr>
              <a:t>Cuĩĩe⭲L</a:t>
            </a:r>
            <a:r>
              <a:rPr dirty="0" sz="2650" spc="-735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2650" spc="-180">
                <a:solidFill>
                  <a:srgbClr val="3E6EF3"/>
                </a:solidFill>
                <a:latin typeface="SimSun-ExtB"/>
                <a:cs typeface="SimSun-ExtB"/>
              </a:rPr>
              <a:t>PlaLfoĩms</a:t>
            </a:r>
            <a:endParaRPr sz="2650">
              <a:latin typeface="SimSun-ExtB"/>
              <a:cs typeface="SimSun-ExtB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27234" y="2707436"/>
            <a:ext cx="4062095" cy="186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384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eNAM</a:t>
            </a:r>
            <a:r>
              <a:rPr dirty="0" sz="17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5">
                <a:solidFill>
                  <a:srgbClr val="666666"/>
                </a:solidFill>
                <a:latin typeface="Verdana"/>
                <a:cs typeface="Verdana"/>
              </a:rPr>
              <a:t>(National</a:t>
            </a:r>
            <a:r>
              <a:rPr dirty="0" sz="17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Agriculture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20">
                <a:solidFill>
                  <a:srgbClr val="666666"/>
                </a:solidFill>
                <a:latin typeface="Verdana"/>
                <a:cs typeface="Verdana"/>
              </a:rPr>
              <a:t>Market)</a:t>
            </a:r>
            <a:r>
              <a:rPr dirty="0" sz="17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666666"/>
                </a:solidFill>
                <a:latin typeface="Verdana"/>
                <a:cs typeface="Verdana"/>
              </a:rPr>
              <a:t>- </a:t>
            </a:r>
            <a:r>
              <a:rPr dirty="0" sz="1750" spc="-80">
                <a:solidFill>
                  <a:srgbClr val="666666"/>
                </a:solidFill>
                <a:latin typeface="Verdana"/>
                <a:cs typeface="Verdana"/>
              </a:rPr>
              <a:t>limited</a:t>
            </a:r>
            <a:r>
              <a:rPr dirty="0" sz="17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functionality</a:t>
            </a:r>
            <a:endParaRPr sz="175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</a:tabLst>
            </a:pPr>
            <a:r>
              <a:rPr dirty="0" sz="1750" spc="-100">
                <a:solidFill>
                  <a:srgbClr val="666666"/>
                </a:solidFill>
                <a:latin typeface="Verdana"/>
                <a:cs typeface="Verdana"/>
              </a:rPr>
              <a:t>AgriTech</a:t>
            </a:r>
            <a:r>
              <a:rPr dirty="0" sz="17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apps</a:t>
            </a:r>
            <a:r>
              <a:rPr dirty="0" sz="1750" spc="-1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with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666666"/>
                </a:solidFill>
                <a:latin typeface="Verdana"/>
                <a:cs typeface="Verdana"/>
              </a:rPr>
              <a:t>basic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666666"/>
                </a:solidFill>
                <a:latin typeface="Verdana"/>
                <a:cs typeface="Verdana"/>
              </a:rPr>
              <a:t>AI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support</a:t>
            </a:r>
            <a:endParaRPr sz="1750">
              <a:latin typeface="Verdana"/>
              <a:cs typeface="Verdana"/>
            </a:endParaRPr>
          </a:p>
          <a:p>
            <a:pPr marL="355600" marR="564515" indent="-342900">
              <a:lnSpc>
                <a:spcPts val="29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750" spc="-130">
                <a:solidFill>
                  <a:srgbClr val="666666"/>
                </a:solidFill>
                <a:latin typeface="Verdana"/>
                <a:cs typeface="Verdana"/>
              </a:rPr>
              <a:t>Government</a:t>
            </a:r>
            <a:r>
              <a:rPr dirty="0" sz="175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portals</a:t>
            </a:r>
            <a:r>
              <a:rPr dirty="0" sz="1750" spc="-1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with</a:t>
            </a:r>
            <a:r>
              <a:rPr dirty="0" sz="17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666666"/>
                </a:solidFill>
                <a:latin typeface="Verdana"/>
                <a:cs typeface="Verdana"/>
              </a:rPr>
              <a:t>static, </a:t>
            </a: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outdated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666666"/>
                </a:solidFill>
                <a:latin typeface="Verdana"/>
                <a:cs typeface="Verdana"/>
              </a:rPr>
              <a:t>data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27234" y="4933569"/>
            <a:ext cx="229552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170">
                <a:solidFill>
                  <a:srgbClr val="3E6EF3"/>
                </a:solidFill>
                <a:latin typeface="SimSun-ExtB"/>
                <a:cs typeface="SimSun-ExtB"/>
              </a:rPr>
              <a:t>Kev</a:t>
            </a:r>
            <a:r>
              <a:rPr dirty="0" sz="2650" spc="-750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2650" spc="-420">
                <a:solidFill>
                  <a:srgbClr val="3E6EF3"/>
                </a:solidFill>
                <a:latin typeface="SimSun-ExtB"/>
                <a:cs typeface="SimSun-ExtB"/>
              </a:rPr>
              <a:t>ḺimiLaLio⭲s</a:t>
            </a:r>
            <a:endParaRPr sz="2650">
              <a:latin typeface="SimSun-ExtB"/>
              <a:cs typeface="SimSun-ExtB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627234" y="5560238"/>
            <a:ext cx="3702685" cy="149987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</a:tabLst>
            </a:pP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No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real-</a:t>
            </a:r>
            <a:r>
              <a:rPr dirty="0" sz="1750" spc="-110">
                <a:solidFill>
                  <a:srgbClr val="666666"/>
                </a:solidFill>
                <a:latin typeface="Verdana"/>
                <a:cs typeface="Verdana"/>
              </a:rPr>
              <a:t>time</a:t>
            </a:r>
            <a:r>
              <a:rPr dirty="0" sz="175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AI-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powered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666666"/>
                </a:solidFill>
                <a:latin typeface="Verdana"/>
                <a:cs typeface="Verdana"/>
              </a:rPr>
              <a:t>insights</a:t>
            </a:r>
            <a:endParaRPr sz="175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Limited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r>
              <a:rPr dirty="0" sz="1750" spc="-1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disease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detection</a:t>
            </a:r>
            <a:endParaRPr sz="175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810"/>
              </a:spcBef>
              <a:buChar char="•"/>
              <a:tabLst>
                <a:tab pos="354965" algn="l"/>
              </a:tabLst>
            </a:pP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No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5">
                <a:solidFill>
                  <a:srgbClr val="666666"/>
                </a:solidFill>
                <a:latin typeface="Verdana"/>
                <a:cs typeface="Verdana"/>
              </a:rPr>
              <a:t>integrated</a:t>
            </a:r>
            <a:r>
              <a:rPr dirty="0" sz="1750" spc="-1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20">
                <a:solidFill>
                  <a:srgbClr val="666666"/>
                </a:solidFill>
                <a:latin typeface="Verdana"/>
                <a:cs typeface="Verdana"/>
              </a:rPr>
              <a:t>farm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666666"/>
                </a:solidFill>
                <a:latin typeface="Verdana"/>
                <a:cs typeface="Verdana"/>
              </a:rPr>
              <a:t>management</a:t>
            </a:r>
            <a:endParaRPr sz="175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dirty="0" sz="1750" spc="-80">
                <a:solidFill>
                  <a:srgbClr val="666666"/>
                </a:solidFill>
                <a:latin typeface="Verdana"/>
                <a:cs typeface="Verdana"/>
              </a:rPr>
              <a:t>Poor</a:t>
            </a:r>
            <a:r>
              <a:rPr dirty="0" sz="17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5">
                <a:solidFill>
                  <a:srgbClr val="666666"/>
                </a:solidFill>
                <a:latin typeface="Verdana"/>
                <a:cs typeface="Verdana"/>
              </a:rPr>
              <a:t>user</a:t>
            </a:r>
            <a:r>
              <a:rPr dirty="0" sz="17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experience</a:t>
            </a:r>
            <a:r>
              <a:rPr dirty="0" sz="175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for</a:t>
            </a:r>
            <a:r>
              <a:rPr dirty="0" sz="1750" spc="-1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farmers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95250" y="7721852"/>
            <a:ext cx="1741170" cy="400050"/>
            <a:chOff x="12795250" y="7721852"/>
            <a:chExt cx="1741170" cy="4000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1728215" y="0"/>
                  </a:moveTo>
                  <a:lnTo>
                    <a:pt x="0" y="0"/>
                  </a:lnTo>
                  <a:lnTo>
                    <a:pt x="0" y="387095"/>
                  </a:lnTo>
                  <a:lnTo>
                    <a:pt x="1728215" y="387095"/>
                  </a:lnTo>
                  <a:lnTo>
                    <a:pt x="1728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0" y="387095"/>
                  </a:moveTo>
                  <a:lnTo>
                    <a:pt x="1728215" y="387095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3870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55903" y="802385"/>
            <a:ext cx="4934585" cy="559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0"/>
              <a:t>Ouĩ</a:t>
            </a:r>
            <a:r>
              <a:rPr dirty="0" spc="-965"/>
              <a:t> </a:t>
            </a:r>
            <a:r>
              <a:rPr dirty="0" spc="-150"/>
              <a:t>6I-</a:t>
            </a:r>
            <a:r>
              <a:rPr dirty="0" spc="-10"/>
              <a:t>Poweĩed</a:t>
            </a:r>
            <a:r>
              <a:rPr dirty="0" spc="-990"/>
              <a:t> </a:t>
            </a:r>
            <a:r>
              <a:rPr dirty="0" spc="-465"/>
              <a:t>SoluLio⭲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55903" y="1677162"/>
            <a:ext cx="77069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A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comprehensive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platform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that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transforms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traditional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farming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into</a:t>
            </a:r>
            <a:r>
              <a:rPr dirty="0" sz="1400" spc="-9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data-driven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smart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666666"/>
                </a:solidFill>
                <a:latin typeface="Verdana"/>
                <a:cs typeface="Verdana"/>
              </a:rPr>
              <a:t>agriculture.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98910" y="2100531"/>
            <a:ext cx="476884" cy="511809"/>
            <a:chOff x="1198910" y="2100531"/>
            <a:chExt cx="476884" cy="511809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4900" y="2304255"/>
              <a:ext cx="80643" cy="7898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44314" y="2111936"/>
              <a:ext cx="337820" cy="489584"/>
            </a:xfrm>
            <a:custGeom>
              <a:avLst/>
              <a:gdLst/>
              <a:ahLst/>
              <a:cxnLst/>
              <a:rect l="l" t="t" r="r" b="b"/>
              <a:pathLst>
                <a:path w="337819" h="489585">
                  <a:moveTo>
                    <a:pt x="200694" y="32444"/>
                  </a:moveTo>
                  <a:lnTo>
                    <a:pt x="169012" y="3174"/>
                  </a:lnTo>
                  <a:lnTo>
                    <a:pt x="150483" y="0"/>
                  </a:lnTo>
                  <a:lnTo>
                    <a:pt x="142138" y="371"/>
                  </a:lnTo>
                  <a:lnTo>
                    <a:pt x="101882" y="14795"/>
                  </a:lnTo>
                  <a:lnTo>
                    <a:pt x="75136" y="47149"/>
                  </a:lnTo>
                  <a:lnTo>
                    <a:pt x="68800" y="62538"/>
                  </a:lnTo>
                  <a:lnTo>
                    <a:pt x="65990" y="76110"/>
                  </a:lnTo>
                </a:path>
                <a:path w="337819" h="489585">
                  <a:moveTo>
                    <a:pt x="200633" y="452926"/>
                  </a:moveTo>
                  <a:lnTo>
                    <a:pt x="172248" y="483560"/>
                  </a:lnTo>
                  <a:lnTo>
                    <a:pt x="145734" y="488285"/>
                  </a:lnTo>
                  <a:lnTo>
                    <a:pt x="137568" y="487705"/>
                  </a:lnTo>
                  <a:lnTo>
                    <a:pt x="98188" y="470542"/>
                  </a:lnTo>
                  <a:lnTo>
                    <a:pt x="71110" y="435977"/>
                  </a:lnTo>
                  <a:lnTo>
                    <a:pt x="67947" y="428204"/>
                  </a:lnTo>
                  <a:lnTo>
                    <a:pt x="65060" y="416566"/>
                  </a:lnTo>
                </a:path>
                <a:path w="337819" h="489585">
                  <a:moveTo>
                    <a:pt x="65990" y="76110"/>
                  </a:moveTo>
                  <a:lnTo>
                    <a:pt x="26167" y="94019"/>
                  </a:lnTo>
                  <a:lnTo>
                    <a:pt x="1848" y="130487"/>
                  </a:lnTo>
                  <a:lnTo>
                    <a:pt x="0" y="144853"/>
                  </a:lnTo>
                  <a:lnTo>
                    <a:pt x="273" y="152156"/>
                  </a:lnTo>
                  <a:lnTo>
                    <a:pt x="969" y="157355"/>
                  </a:lnTo>
                  <a:lnTo>
                    <a:pt x="3235" y="168482"/>
                  </a:lnTo>
                </a:path>
                <a:path w="337819" h="489585">
                  <a:moveTo>
                    <a:pt x="200633" y="452926"/>
                  </a:moveTo>
                  <a:lnTo>
                    <a:pt x="225709" y="482018"/>
                  </a:lnTo>
                  <a:lnTo>
                    <a:pt x="253747" y="488998"/>
                  </a:lnTo>
                  <a:lnTo>
                    <a:pt x="260879" y="488599"/>
                  </a:lnTo>
                  <a:lnTo>
                    <a:pt x="299416" y="473635"/>
                  </a:lnTo>
                  <a:lnTo>
                    <a:pt x="327635" y="442709"/>
                  </a:lnTo>
                  <a:lnTo>
                    <a:pt x="335759" y="415746"/>
                  </a:lnTo>
                  <a:lnTo>
                    <a:pt x="337738" y="405053"/>
                  </a:lnTo>
                </a:path>
              </a:pathLst>
            </a:custGeom>
            <a:ln w="21716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4327" y="2394800"/>
              <a:ext cx="94554" cy="6390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44947" y="2111381"/>
              <a:ext cx="194310" cy="454025"/>
            </a:xfrm>
            <a:custGeom>
              <a:avLst/>
              <a:gdLst/>
              <a:ahLst/>
              <a:cxnLst/>
              <a:rect l="l" t="t" r="r" b="b"/>
              <a:pathLst>
                <a:path w="194310" h="454025">
                  <a:moveTo>
                    <a:pt x="52896" y="136693"/>
                  </a:moveTo>
                  <a:lnTo>
                    <a:pt x="49111" y="138194"/>
                  </a:lnTo>
                  <a:lnTo>
                    <a:pt x="41933" y="143969"/>
                  </a:lnTo>
                  <a:lnTo>
                    <a:pt x="27079" y="158068"/>
                  </a:lnTo>
                  <a:lnTo>
                    <a:pt x="265" y="184539"/>
                  </a:lnTo>
                </a:path>
                <a:path w="194310" h="454025">
                  <a:moveTo>
                    <a:pt x="834" y="34083"/>
                  </a:moveTo>
                  <a:lnTo>
                    <a:pt x="29864" y="4466"/>
                  </a:lnTo>
                  <a:lnTo>
                    <a:pt x="50391" y="0"/>
                  </a:lnTo>
                  <a:lnTo>
                    <a:pt x="57036" y="86"/>
                  </a:lnTo>
                  <a:lnTo>
                    <a:pt x="94170" y="11887"/>
                  </a:lnTo>
                  <a:lnTo>
                    <a:pt x="124838" y="43910"/>
                  </a:lnTo>
                  <a:lnTo>
                    <a:pt x="132046" y="60231"/>
                  </a:lnTo>
                  <a:lnTo>
                    <a:pt x="134969" y="73760"/>
                  </a:lnTo>
                </a:path>
                <a:path w="194310" h="454025">
                  <a:moveTo>
                    <a:pt x="193514" y="336128"/>
                  </a:moveTo>
                  <a:lnTo>
                    <a:pt x="191216" y="347464"/>
                  </a:lnTo>
                  <a:lnTo>
                    <a:pt x="184952" y="356722"/>
                  </a:lnTo>
                  <a:lnTo>
                    <a:pt x="175662" y="362965"/>
                  </a:lnTo>
                  <a:lnTo>
                    <a:pt x="164289" y="365254"/>
                  </a:lnTo>
                  <a:lnTo>
                    <a:pt x="152918" y="362965"/>
                  </a:lnTo>
                  <a:lnTo>
                    <a:pt x="143633" y="356722"/>
                  </a:lnTo>
                  <a:lnTo>
                    <a:pt x="137373" y="347464"/>
                  </a:lnTo>
                  <a:lnTo>
                    <a:pt x="135077" y="336127"/>
                  </a:lnTo>
                  <a:lnTo>
                    <a:pt x="137373" y="324789"/>
                  </a:lnTo>
                  <a:lnTo>
                    <a:pt x="143633" y="315531"/>
                  </a:lnTo>
                  <a:lnTo>
                    <a:pt x="152918" y="309289"/>
                  </a:lnTo>
                  <a:lnTo>
                    <a:pt x="164289" y="307001"/>
                  </a:lnTo>
                  <a:lnTo>
                    <a:pt x="175662" y="309289"/>
                  </a:lnTo>
                  <a:lnTo>
                    <a:pt x="184952" y="315531"/>
                  </a:lnTo>
                  <a:lnTo>
                    <a:pt x="191216" y="324789"/>
                  </a:lnTo>
                  <a:lnTo>
                    <a:pt x="193514" y="336128"/>
                  </a:lnTo>
                  <a:close/>
                </a:path>
                <a:path w="194310" h="454025">
                  <a:moveTo>
                    <a:pt x="193775" y="131927"/>
                  </a:moveTo>
                  <a:lnTo>
                    <a:pt x="191486" y="143214"/>
                  </a:lnTo>
                  <a:lnTo>
                    <a:pt x="185245" y="152431"/>
                  </a:lnTo>
                  <a:lnTo>
                    <a:pt x="175997" y="158645"/>
                  </a:lnTo>
                  <a:lnTo>
                    <a:pt x="164680" y="160924"/>
                  </a:lnTo>
                  <a:lnTo>
                    <a:pt x="153364" y="158645"/>
                  </a:lnTo>
                  <a:lnTo>
                    <a:pt x="144123" y="152431"/>
                  </a:lnTo>
                  <a:lnTo>
                    <a:pt x="137893" y="143214"/>
                  </a:lnTo>
                  <a:lnTo>
                    <a:pt x="135608" y="131927"/>
                  </a:lnTo>
                  <a:lnTo>
                    <a:pt x="137893" y="120640"/>
                  </a:lnTo>
                  <a:lnTo>
                    <a:pt x="144123" y="111423"/>
                  </a:lnTo>
                  <a:lnTo>
                    <a:pt x="153364" y="105209"/>
                  </a:lnTo>
                  <a:lnTo>
                    <a:pt x="164680" y="102930"/>
                  </a:lnTo>
                  <a:lnTo>
                    <a:pt x="175997" y="105209"/>
                  </a:lnTo>
                  <a:lnTo>
                    <a:pt x="185245" y="111423"/>
                  </a:lnTo>
                  <a:lnTo>
                    <a:pt x="191486" y="120640"/>
                  </a:lnTo>
                  <a:lnTo>
                    <a:pt x="193775" y="131927"/>
                  </a:lnTo>
                  <a:close/>
                </a:path>
                <a:path w="194310" h="454025">
                  <a:moveTo>
                    <a:pt x="0" y="453481"/>
                  </a:moveTo>
                  <a:lnTo>
                    <a:pt x="82" y="35297"/>
                  </a:lnTo>
                </a:path>
              </a:pathLst>
            </a:custGeom>
            <a:ln w="21716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8910" y="2269707"/>
              <a:ext cx="121383" cy="26874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445152" y="2248052"/>
              <a:ext cx="163195" cy="200025"/>
            </a:xfrm>
            <a:custGeom>
              <a:avLst/>
              <a:gdLst/>
              <a:ahLst/>
              <a:cxnLst/>
              <a:rect l="l" t="t" r="r" b="b"/>
              <a:pathLst>
                <a:path w="163194" h="200025">
                  <a:moveTo>
                    <a:pt x="160345" y="96395"/>
                  </a:moveTo>
                  <a:lnTo>
                    <a:pt x="0" y="96694"/>
                  </a:lnTo>
                </a:path>
                <a:path w="163194" h="200025">
                  <a:moveTo>
                    <a:pt x="132842" y="199278"/>
                  </a:moveTo>
                  <a:lnTo>
                    <a:pt x="72879" y="199803"/>
                  </a:lnTo>
                </a:path>
                <a:path w="163194" h="200025">
                  <a:moveTo>
                    <a:pt x="134964" y="0"/>
                  </a:moveTo>
                  <a:lnTo>
                    <a:pt x="52691" y="21"/>
                  </a:lnTo>
                </a:path>
                <a:path w="163194" h="200025">
                  <a:moveTo>
                    <a:pt x="162824" y="88538"/>
                  </a:moveTo>
                  <a:lnTo>
                    <a:pt x="160736" y="96387"/>
                  </a:lnTo>
                </a:path>
              </a:pathLst>
            </a:custGeom>
            <a:ln w="21716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55903" y="2624424"/>
            <a:ext cx="5611495" cy="1029969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50" spc="-70">
                <a:solidFill>
                  <a:srgbClr val="666666"/>
                </a:solidFill>
                <a:latin typeface="SimSun-ExtB"/>
                <a:cs typeface="SimSun-ExtB"/>
              </a:rPr>
              <a:t>6I</a:t>
            </a:r>
            <a:r>
              <a:rPr dirty="0" sz="1750" spc="-46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125">
                <a:solidFill>
                  <a:srgbClr val="666666"/>
                </a:solidFill>
                <a:latin typeface="SimSun-ExtB"/>
                <a:cs typeface="SimSun-ExtB"/>
              </a:rPr>
              <a:t>Vield</a:t>
            </a:r>
            <a:r>
              <a:rPr dirty="0" sz="1750" spc="-484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280">
                <a:solidFill>
                  <a:srgbClr val="666666"/>
                </a:solidFill>
                <a:latin typeface="SimSun-ExtB"/>
                <a:cs typeface="SimSun-ExtB"/>
              </a:rPr>
              <a:t>PĩedicLio⭲</a:t>
            </a:r>
            <a:endParaRPr sz="1750">
              <a:latin typeface="SimSun-ExtB"/>
              <a:cs typeface="SimSun-ExtB"/>
            </a:endParaRPr>
          </a:p>
          <a:p>
            <a:pPr marL="12700" marR="5080">
              <a:lnSpc>
                <a:spcPct val="119300"/>
              </a:lnSpc>
              <a:spcBef>
                <a:spcPts val="625"/>
              </a:spcBef>
            </a:pP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Machine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learning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models</a:t>
            </a:r>
            <a:r>
              <a:rPr dirty="0" sz="140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forecast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r>
              <a:rPr dirty="0" sz="140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yields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based</a:t>
            </a:r>
            <a:r>
              <a:rPr dirty="0" sz="140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on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666666"/>
                </a:solidFill>
                <a:latin typeface="Verdana"/>
                <a:cs typeface="Verdana"/>
              </a:rPr>
              <a:t>historical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666666"/>
                </a:solidFill>
                <a:latin typeface="Verdana"/>
                <a:cs typeface="Verdana"/>
              </a:rPr>
              <a:t>data,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weather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patterns,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666666"/>
                </a:solidFill>
                <a:latin typeface="Verdana"/>
                <a:cs typeface="Verdana"/>
              </a:rPr>
              <a:t>soil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conditions.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413562" y="2109748"/>
            <a:ext cx="512445" cy="493395"/>
            <a:chOff x="7413562" y="2109748"/>
            <a:chExt cx="512445" cy="493395"/>
          </a:xfrm>
        </p:grpSpPr>
        <p:sp>
          <p:nvSpPr>
            <p:cNvPr id="16" name="object 16" descr=""/>
            <p:cNvSpPr/>
            <p:nvPr/>
          </p:nvSpPr>
          <p:spPr>
            <a:xfrm>
              <a:off x="7563252" y="2456654"/>
              <a:ext cx="69850" cy="78740"/>
            </a:xfrm>
            <a:custGeom>
              <a:avLst/>
              <a:gdLst/>
              <a:ahLst/>
              <a:cxnLst/>
              <a:rect l="l" t="t" r="r" b="b"/>
              <a:pathLst>
                <a:path w="69850" h="78739">
                  <a:moveTo>
                    <a:pt x="69695" y="3226"/>
                  </a:moveTo>
                  <a:lnTo>
                    <a:pt x="66334" y="1032"/>
                  </a:lnTo>
                  <a:lnTo>
                    <a:pt x="64259" y="303"/>
                  </a:lnTo>
                  <a:lnTo>
                    <a:pt x="60767" y="0"/>
                  </a:lnTo>
                  <a:lnTo>
                    <a:pt x="55289" y="1285"/>
                  </a:lnTo>
                  <a:lnTo>
                    <a:pt x="16486" y="23307"/>
                  </a:lnTo>
                  <a:lnTo>
                    <a:pt x="269" y="59129"/>
                  </a:lnTo>
                  <a:lnTo>
                    <a:pt x="0" y="78517"/>
                  </a:lnTo>
                </a:path>
              </a:pathLst>
            </a:custGeom>
            <a:ln w="21724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0592" y="2208787"/>
              <a:ext cx="475350" cy="9290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424433" y="2120617"/>
              <a:ext cx="488315" cy="471170"/>
            </a:xfrm>
            <a:custGeom>
              <a:avLst/>
              <a:gdLst/>
              <a:ahLst/>
              <a:cxnLst/>
              <a:rect l="l" t="t" r="r" b="b"/>
              <a:pathLst>
                <a:path w="488315" h="471169">
                  <a:moveTo>
                    <a:pt x="285285" y="335698"/>
                  </a:moveTo>
                  <a:lnTo>
                    <a:pt x="245219" y="372314"/>
                  </a:lnTo>
                </a:path>
                <a:path w="488315" h="471169">
                  <a:moveTo>
                    <a:pt x="351259" y="471161"/>
                  </a:moveTo>
                  <a:lnTo>
                    <a:pt x="348558" y="383450"/>
                  </a:lnTo>
                </a:path>
                <a:path w="488315" h="471169">
                  <a:moveTo>
                    <a:pt x="447231" y="470365"/>
                  </a:moveTo>
                  <a:lnTo>
                    <a:pt x="42706" y="469977"/>
                  </a:lnTo>
                </a:path>
                <a:path w="488315" h="471169">
                  <a:moveTo>
                    <a:pt x="448100" y="167975"/>
                  </a:moveTo>
                  <a:lnTo>
                    <a:pt x="447231" y="470365"/>
                  </a:lnTo>
                </a:path>
                <a:path w="488315" h="471169">
                  <a:moveTo>
                    <a:pt x="42706" y="469977"/>
                  </a:moveTo>
                  <a:lnTo>
                    <a:pt x="42006" y="168222"/>
                  </a:lnTo>
                </a:path>
                <a:path w="488315" h="471169">
                  <a:moveTo>
                    <a:pt x="436706" y="0"/>
                  </a:moveTo>
                  <a:lnTo>
                    <a:pt x="53835" y="0"/>
                  </a:lnTo>
                </a:path>
                <a:path w="488315" h="471169">
                  <a:moveTo>
                    <a:pt x="368589" y="126641"/>
                  </a:moveTo>
                  <a:lnTo>
                    <a:pt x="368541" y="109964"/>
                  </a:lnTo>
                </a:path>
                <a:path w="488315" h="471169">
                  <a:moveTo>
                    <a:pt x="245097" y="126294"/>
                  </a:moveTo>
                  <a:lnTo>
                    <a:pt x="245223" y="110007"/>
                  </a:lnTo>
                </a:path>
                <a:path w="488315" h="471169">
                  <a:moveTo>
                    <a:pt x="245219" y="372314"/>
                  </a:moveTo>
                  <a:lnTo>
                    <a:pt x="208514" y="339263"/>
                  </a:lnTo>
                </a:path>
                <a:path w="488315" h="471169">
                  <a:moveTo>
                    <a:pt x="120834" y="125626"/>
                  </a:moveTo>
                  <a:lnTo>
                    <a:pt x="121652" y="109977"/>
                  </a:lnTo>
                </a:path>
                <a:path w="488315" h="471169">
                  <a:moveTo>
                    <a:pt x="37174" y="165637"/>
                  </a:moveTo>
                  <a:lnTo>
                    <a:pt x="18640" y="155532"/>
                  </a:lnTo>
                  <a:lnTo>
                    <a:pt x="5872" y="139676"/>
                  </a:lnTo>
                  <a:lnTo>
                    <a:pt x="0" y="120205"/>
                  </a:lnTo>
                  <a:lnTo>
                    <a:pt x="2148" y="99253"/>
                  </a:lnTo>
                  <a:lnTo>
                    <a:pt x="4303" y="92328"/>
                  </a:lnTo>
                  <a:lnTo>
                    <a:pt x="7859" y="85919"/>
                  </a:lnTo>
                  <a:lnTo>
                    <a:pt x="12596" y="80420"/>
                  </a:lnTo>
                </a:path>
                <a:path w="488315" h="471169">
                  <a:moveTo>
                    <a:pt x="436706" y="0"/>
                  </a:moveTo>
                  <a:lnTo>
                    <a:pt x="487850" y="99045"/>
                  </a:lnTo>
                </a:path>
                <a:path w="488315" h="471169">
                  <a:moveTo>
                    <a:pt x="298749" y="259124"/>
                  </a:moveTo>
                  <a:lnTo>
                    <a:pt x="294543" y="279902"/>
                  </a:lnTo>
                  <a:lnTo>
                    <a:pt x="283070" y="296869"/>
                  </a:lnTo>
                  <a:lnTo>
                    <a:pt x="266053" y="308309"/>
                  </a:lnTo>
                  <a:lnTo>
                    <a:pt x="245214" y="312503"/>
                  </a:lnTo>
                  <a:lnTo>
                    <a:pt x="224377" y="308309"/>
                  </a:lnTo>
                  <a:lnTo>
                    <a:pt x="207360" y="296869"/>
                  </a:lnTo>
                  <a:lnTo>
                    <a:pt x="195886" y="279902"/>
                  </a:lnTo>
                  <a:lnTo>
                    <a:pt x="191679" y="259124"/>
                  </a:lnTo>
                  <a:lnTo>
                    <a:pt x="195886" y="238347"/>
                  </a:lnTo>
                  <a:lnTo>
                    <a:pt x="207360" y="221379"/>
                  </a:lnTo>
                  <a:lnTo>
                    <a:pt x="224377" y="209939"/>
                  </a:lnTo>
                  <a:lnTo>
                    <a:pt x="245214" y="205744"/>
                  </a:lnTo>
                  <a:lnTo>
                    <a:pt x="266053" y="209939"/>
                  </a:lnTo>
                  <a:lnTo>
                    <a:pt x="283070" y="221379"/>
                  </a:lnTo>
                  <a:lnTo>
                    <a:pt x="294543" y="238347"/>
                  </a:lnTo>
                  <a:lnTo>
                    <a:pt x="298749" y="259124"/>
                  </a:lnTo>
                  <a:close/>
                </a:path>
                <a:path w="488315" h="471169">
                  <a:moveTo>
                    <a:pt x="138818" y="414554"/>
                  </a:moveTo>
                  <a:lnTo>
                    <a:pt x="138853" y="471159"/>
                  </a:lnTo>
                </a:path>
                <a:path w="488315" h="471169">
                  <a:moveTo>
                    <a:pt x="348675" y="383411"/>
                  </a:moveTo>
                  <a:lnTo>
                    <a:pt x="338910" y="364602"/>
                  </a:lnTo>
                  <a:lnTo>
                    <a:pt x="324344" y="349798"/>
                  </a:lnTo>
                  <a:lnTo>
                    <a:pt x="306098" y="339844"/>
                  </a:lnTo>
                  <a:lnTo>
                    <a:pt x="285290" y="335586"/>
                  </a:lnTo>
                </a:path>
                <a:path w="488315" h="471169">
                  <a:moveTo>
                    <a:pt x="12027" y="79935"/>
                  </a:moveTo>
                  <a:lnTo>
                    <a:pt x="53835" y="0"/>
                  </a:lnTo>
                </a:path>
              </a:pathLst>
            </a:custGeom>
            <a:ln w="21720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390638" y="2624424"/>
            <a:ext cx="5864225" cy="1029969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50" spc="-235">
                <a:solidFill>
                  <a:srgbClr val="666666"/>
                </a:solidFill>
                <a:latin typeface="SimSun-ExtB"/>
                <a:cs typeface="SimSun-ExtB"/>
              </a:rPr>
              <a:t>DiĩecL</a:t>
            </a:r>
            <a:r>
              <a:rPr dirty="0" sz="1750" spc="-459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SimSun-ExtB"/>
                <a:cs typeface="SimSun-ExtB"/>
              </a:rPr>
              <a:t>MaĩkeLplace</a:t>
            </a:r>
            <a:endParaRPr sz="1750">
              <a:latin typeface="SimSun-ExtB"/>
              <a:cs typeface="SimSun-ExtB"/>
            </a:endParaRPr>
          </a:p>
          <a:p>
            <a:pPr marL="12700" marR="5080">
              <a:lnSpc>
                <a:spcPct val="119300"/>
              </a:lnSpc>
              <a:spcBef>
                <a:spcPts val="625"/>
              </a:spcBef>
            </a:pP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Connect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farmers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directly</a:t>
            </a:r>
            <a:r>
              <a:rPr dirty="0" sz="140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with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buyers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through</a:t>
            </a:r>
            <a:r>
              <a:rPr dirty="0" sz="140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a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transparent,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666666"/>
                </a:solidFill>
                <a:latin typeface="Verdana"/>
                <a:cs typeface="Verdana"/>
              </a:rPr>
              <a:t>commission-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free</a:t>
            </a:r>
            <a:r>
              <a:rPr dirty="0" sz="140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platform.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180149" y="4005555"/>
            <a:ext cx="513080" cy="421640"/>
            <a:chOff x="1180149" y="4005555"/>
            <a:chExt cx="513080" cy="421640"/>
          </a:xfrm>
        </p:grpSpPr>
        <p:sp>
          <p:nvSpPr>
            <p:cNvPr id="21" name="object 21" descr=""/>
            <p:cNvSpPr/>
            <p:nvPr/>
          </p:nvSpPr>
          <p:spPr>
            <a:xfrm>
              <a:off x="1191020" y="4078395"/>
              <a:ext cx="43815" cy="56515"/>
            </a:xfrm>
            <a:custGeom>
              <a:avLst/>
              <a:gdLst/>
              <a:ahLst/>
              <a:cxnLst/>
              <a:rect l="l" t="t" r="r" b="b"/>
              <a:pathLst>
                <a:path w="43815" h="56514">
                  <a:moveTo>
                    <a:pt x="43268" y="0"/>
                  </a:moveTo>
                  <a:lnTo>
                    <a:pt x="4611" y="21126"/>
                  </a:lnTo>
                  <a:lnTo>
                    <a:pt x="113" y="47356"/>
                  </a:lnTo>
                  <a:lnTo>
                    <a:pt x="0" y="56033"/>
                  </a:lnTo>
                </a:path>
              </a:pathLst>
            </a:custGeom>
            <a:ln w="21742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0150" y="4361627"/>
              <a:ext cx="82319" cy="65303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5459" y="4347759"/>
              <a:ext cx="67363" cy="7916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191020" y="4016426"/>
              <a:ext cx="491490" cy="400050"/>
            </a:xfrm>
            <a:custGeom>
              <a:avLst/>
              <a:gdLst/>
              <a:ahLst/>
              <a:cxnLst/>
              <a:rect l="l" t="t" r="r" b="b"/>
              <a:pathLst>
                <a:path w="491489" h="400050">
                  <a:moveTo>
                    <a:pt x="490887" y="103842"/>
                  </a:moveTo>
                  <a:lnTo>
                    <a:pt x="474361" y="69331"/>
                  </a:lnTo>
                  <a:lnTo>
                    <a:pt x="434263" y="61716"/>
                  </a:lnTo>
                  <a:lnTo>
                    <a:pt x="396595" y="61580"/>
                  </a:lnTo>
                  <a:lnTo>
                    <a:pt x="356048" y="57133"/>
                  </a:lnTo>
                  <a:lnTo>
                    <a:pt x="338046" y="26753"/>
                  </a:lnTo>
                  <a:lnTo>
                    <a:pt x="330959" y="14137"/>
                  </a:lnTo>
                  <a:lnTo>
                    <a:pt x="326560" y="7398"/>
                  </a:lnTo>
                  <a:lnTo>
                    <a:pt x="323279" y="3696"/>
                  </a:lnTo>
                  <a:lnTo>
                    <a:pt x="320891" y="2261"/>
                  </a:lnTo>
                  <a:lnTo>
                    <a:pt x="316133" y="652"/>
                  </a:lnTo>
                  <a:lnTo>
                    <a:pt x="309153" y="0"/>
                  </a:lnTo>
                </a:path>
                <a:path w="491489" h="400050">
                  <a:moveTo>
                    <a:pt x="182130" y="43"/>
                  </a:moveTo>
                  <a:lnTo>
                    <a:pt x="152730" y="26952"/>
                  </a:lnTo>
                  <a:lnTo>
                    <a:pt x="141189" y="48566"/>
                  </a:lnTo>
                  <a:lnTo>
                    <a:pt x="135335" y="57968"/>
                  </a:lnTo>
                </a:path>
                <a:path w="491489" h="400050">
                  <a:moveTo>
                    <a:pt x="132008" y="59411"/>
                  </a:moveTo>
                  <a:lnTo>
                    <a:pt x="43268" y="61968"/>
                  </a:lnTo>
                </a:path>
                <a:path w="491489" h="400050">
                  <a:moveTo>
                    <a:pt x="132008" y="59411"/>
                  </a:moveTo>
                  <a:lnTo>
                    <a:pt x="135335" y="57968"/>
                  </a:lnTo>
                </a:path>
                <a:path w="491489" h="400050">
                  <a:moveTo>
                    <a:pt x="402138" y="41164"/>
                  </a:moveTo>
                  <a:lnTo>
                    <a:pt x="454747" y="41365"/>
                  </a:lnTo>
                </a:path>
                <a:path w="491489" h="400050">
                  <a:moveTo>
                    <a:pt x="375505" y="224771"/>
                  </a:moveTo>
                  <a:lnTo>
                    <a:pt x="365282" y="275405"/>
                  </a:lnTo>
                  <a:lnTo>
                    <a:pt x="337404" y="316753"/>
                  </a:lnTo>
                  <a:lnTo>
                    <a:pt x="296055" y="344631"/>
                  </a:lnTo>
                  <a:lnTo>
                    <a:pt x="245420" y="354854"/>
                  </a:lnTo>
                  <a:lnTo>
                    <a:pt x="194784" y="344631"/>
                  </a:lnTo>
                  <a:lnTo>
                    <a:pt x="153433" y="316753"/>
                  </a:lnTo>
                  <a:lnTo>
                    <a:pt x="125554" y="275404"/>
                  </a:lnTo>
                  <a:lnTo>
                    <a:pt x="115330" y="224771"/>
                  </a:lnTo>
                  <a:lnTo>
                    <a:pt x="125554" y="174139"/>
                  </a:lnTo>
                  <a:lnTo>
                    <a:pt x="153433" y="132792"/>
                  </a:lnTo>
                  <a:lnTo>
                    <a:pt x="194784" y="104915"/>
                  </a:lnTo>
                  <a:lnTo>
                    <a:pt x="245420" y="94693"/>
                  </a:lnTo>
                  <a:lnTo>
                    <a:pt x="296055" y="104915"/>
                  </a:lnTo>
                  <a:lnTo>
                    <a:pt x="337404" y="132792"/>
                  </a:lnTo>
                  <a:lnTo>
                    <a:pt x="365282" y="174139"/>
                  </a:lnTo>
                  <a:lnTo>
                    <a:pt x="375505" y="224771"/>
                  </a:lnTo>
                  <a:close/>
                </a:path>
                <a:path w="491489" h="400050">
                  <a:moveTo>
                    <a:pt x="0" y="118002"/>
                  </a:moveTo>
                  <a:lnTo>
                    <a:pt x="0" y="356072"/>
                  </a:lnTo>
                </a:path>
                <a:path w="491489" h="400050">
                  <a:moveTo>
                    <a:pt x="60577" y="399633"/>
                  </a:moveTo>
                  <a:lnTo>
                    <a:pt x="445310" y="399629"/>
                  </a:lnTo>
                </a:path>
                <a:path w="491489" h="400050">
                  <a:moveTo>
                    <a:pt x="490930" y="342204"/>
                  </a:moveTo>
                  <a:lnTo>
                    <a:pt x="490887" y="103842"/>
                  </a:lnTo>
                </a:path>
                <a:path w="491489" h="400050">
                  <a:moveTo>
                    <a:pt x="309153" y="0"/>
                  </a:moveTo>
                  <a:lnTo>
                    <a:pt x="182130" y="43"/>
                  </a:lnTo>
                </a:path>
              </a:pathLst>
            </a:custGeom>
            <a:ln w="21742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155903" y="4485006"/>
            <a:ext cx="5258435" cy="1029969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50" spc="-15">
                <a:solidFill>
                  <a:srgbClr val="666666"/>
                </a:solidFill>
                <a:latin typeface="SimSun-ExtB"/>
                <a:cs typeface="SimSun-ExtB"/>
              </a:rPr>
              <a:t>Disease</a:t>
            </a:r>
            <a:r>
              <a:rPr dirty="0" sz="1750" spc="-50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30">
                <a:solidFill>
                  <a:srgbClr val="666666"/>
                </a:solidFill>
                <a:latin typeface="SimSun-ExtB"/>
                <a:cs typeface="SimSun-ExtB"/>
              </a:rPr>
              <a:t>DeLecLio⭲</a:t>
            </a:r>
            <a:endParaRPr sz="17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Upload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r>
              <a:rPr dirty="0" sz="140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666666"/>
                </a:solidFill>
                <a:latin typeface="Verdana"/>
                <a:cs typeface="Verdana"/>
              </a:rPr>
              <a:t>images</a:t>
            </a:r>
            <a:r>
              <a:rPr dirty="0" sz="1400" spc="-1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for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instant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AI-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powered</a:t>
            </a:r>
            <a:r>
              <a:rPr dirty="0" sz="140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disease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diagnosis</a:t>
            </a:r>
            <a:r>
              <a:rPr dirty="0" sz="1400" spc="-1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treatment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Verdana"/>
                <a:cs typeface="Verdana"/>
              </a:rPr>
              <a:t>recommendations.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438524" y="3959940"/>
            <a:ext cx="462280" cy="513080"/>
            <a:chOff x="7438524" y="3959940"/>
            <a:chExt cx="462280" cy="513080"/>
          </a:xfrm>
        </p:grpSpPr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8524" y="3959940"/>
              <a:ext cx="462230" cy="27814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449392" y="3988029"/>
              <a:ext cx="347980" cy="473709"/>
            </a:xfrm>
            <a:custGeom>
              <a:avLst/>
              <a:gdLst/>
              <a:ahLst/>
              <a:cxnLst/>
              <a:rect l="l" t="t" r="r" b="b"/>
              <a:pathLst>
                <a:path w="347979" h="473710">
                  <a:moveTo>
                    <a:pt x="347706" y="473000"/>
                  </a:moveTo>
                  <a:lnTo>
                    <a:pt x="324802" y="426105"/>
                  </a:lnTo>
                  <a:lnTo>
                    <a:pt x="287006" y="392789"/>
                  </a:lnTo>
                  <a:lnTo>
                    <a:pt x="239475" y="376076"/>
                  </a:lnTo>
                  <a:lnTo>
                    <a:pt x="187365" y="378990"/>
                  </a:lnTo>
                  <a:lnTo>
                    <a:pt x="154787" y="392356"/>
                  </a:lnTo>
                  <a:lnTo>
                    <a:pt x="127353" y="413471"/>
                  </a:lnTo>
                  <a:lnTo>
                    <a:pt x="106379" y="441013"/>
                  </a:lnTo>
                  <a:lnTo>
                    <a:pt x="93180" y="473658"/>
                  </a:lnTo>
                </a:path>
                <a:path w="347979" h="473710">
                  <a:moveTo>
                    <a:pt x="347754" y="472988"/>
                  </a:moveTo>
                  <a:lnTo>
                    <a:pt x="92528" y="473492"/>
                  </a:lnTo>
                </a:path>
                <a:path w="347979" h="473710">
                  <a:moveTo>
                    <a:pt x="220360" y="239192"/>
                  </a:moveTo>
                  <a:lnTo>
                    <a:pt x="199216" y="197348"/>
                  </a:lnTo>
                </a:path>
                <a:path w="347979" h="473710">
                  <a:moveTo>
                    <a:pt x="220360" y="239192"/>
                  </a:moveTo>
                  <a:lnTo>
                    <a:pt x="220091" y="375245"/>
                  </a:lnTo>
                </a:path>
                <a:path w="347979" h="473710">
                  <a:moveTo>
                    <a:pt x="53252" y="8914"/>
                  </a:moveTo>
                  <a:lnTo>
                    <a:pt x="0" y="0"/>
                  </a:lnTo>
                </a:path>
              </a:pathLst>
            </a:custGeom>
            <a:ln w="21735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7390638" y="4485006"/>
            <a:ext cx="5634355" cy="1029969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50" spc="-100">
                <a:solidFill>
                  <a:srgbClr val="666666"/>
                </a:solidFill>
                <a:latin typeface="SimSun-ExtB"/>
                <a:cs typeface="SimSun-ExtB"/>
              </a:rPr>
              <a:t>SmaĩL</a:t>
            </a:r>
            <a:r>
              <a:rPr dirty="0" sz="1750" spc="-484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SimSun-ExtB"/>
                <a:cs typeface="SimSun-ExtB"/>
              </a:rPr>
              <a:t>Recomme⭲daLio⭲s</a:t>
            </a:r>
            <a:endParaRPr sz="17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400" spc="-95">
                <a:solidFill>
                  <a:srgbClr val="666666"/>
                </a:solidFill>
                <a:latin typeface="Verdana"/>
                <a:cs typeface="Verdana"/>
              </a:rPr>
              <a:t>Get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personalized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suggestions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based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on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land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type,</a:t>
            </a:r>
            <a:r>
              <a:rPr dirty="0" sz="140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season,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Verdana"/>
                <a:cs typeface="Verdana"/>
              </a:rPr>
              <a:t>market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demand,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profitability.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183879" y="5831552"/>
            <a:ext cx="505459" cy="500380"/>
            <a:chOff x="1183879" y="5831552"/>
            <a:chExt cx="505459" cy="500380"/>
          </a:xfrm>
        </p:grpSpPr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3902" y="6253640"/>
              <a:ext cx="94116" cy="7821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12468" y="6242285"/>
              <a:ext cx="76514" cy="89597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2560" y="5860247"/>
              <a:ext cx="86502" cy="7147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83892" y="5860241"/>
              <a:ext cx="73153" cy="8088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1194750" y="5831552"/>
              <a:ext cx="483870" cy="489584"/>
            </a:xfrm>
            <a:custGeom>
              <a:avLst/>
              <a:gdLst/>
              <a:ahLst/>
              <a:cxnLst/>
              <a:rect l="l" t="t" r="r" b="b"/>
              <a:pathLst>
                <a:path w="483869" h="489585">
                  <a:moveTo>
                    <a:pt x="483460" y="142664"/>
                  </a:moveTo>
                  <a:lnTo>
                    <a:pt x="3" y="142659"/>
                  </a:lnTo>
                </a:path>
                <a:path w="483869" h="489585">
                  <a:moveTo>
                    <a:pt x="4" y="150027"/>
                  </a:moveTo>
                  <a:lnTo>
                    <a:pt x="3" y="432939"/>
                  </a:lnTo>
                </a:path>
                <a:path w="483869" h="489585">
                  <a:moveTo>
                    <a:pt x="380251" y="82628"/>
                  </a:moveTo>
                  <a:lnTo>
                    <a:pt x="380199" y="0"/>
                  </a:lnTo>
                </a:path>
                <a:path w="483869" h="489585">
                  <a:moveTo>
                    <a:pt x="102911" y="81149"/>
                  </a:moveTo>
                  <a:lnTo>
                    <a:pt x="102916" y="650"/>
                  </a:lnTo>
                </a:path>
                <a:path w="483869" h="489585">
                  <a:moveTo>
                    <a:pt x="203172" y="379217"/>
                  </a:moveTo>
                  <a:lnTo>
                    <a:pt x="364239" y="216927"/>
                  </a:lnTo>
                </a:path>
                <a:path w="483869" h="489585">
                  <a:moveTo>
                    <a:pt x="130079" y="306307"/>
                  </a:moveTo>
                  <a:lnTo>
                    <a:pt x="203172" y="379217"/>
                  </a:lnTo>
                </a:path>
                <a:path w="483869" h="489585">
                  <a:moveTo>
                    <a:pt x="72417" y="489453"/>
                  </a:moveTo>
                  <a:lnTo>
                    <a:pt x="428577" y="489471"/>
                  </a:lnTo>
                </a:path>
                <a:path w="483869" h="489585">
                  <a:moveTo>
                    <a:pt x="483373" y="421591"/>
                  </a:moveTo>
                  <a:lnTo>
                    <a:pt x="483460" y="89314"/>
                  </a:lnTo>
                </a:path>
                <a:path w="483869" h="489585">
                  <a:moveTo>
                    <a:pt x="418661" y="39547"/>
                  </a:moveTo>
                  <a:lnTo>
                    <a:pt x="51437" y="39546"/>
                  </a:lnTo>
                </a:path>
                <a:path w="483869" h="489585">
                  <a:moveTo>
                    <a:pt x="0" y="98711"/>
                  </a:moveTo>
                  <a:lnTo>
                    <a:pt x="4" y="150027"/>
                  </a:lnTo>
                </a:path>
              </a:pathLst>
            </a:custGeom>
            <a:ln w="21711">
              <a:solidFill>
                <a:srgbClr val="3E6E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155903" y="6345112"/>
            <a:ext cx="5565140" cy="103060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50" spc="-50">
                <a:solidFill>
                  <a:srgbClr val="666666"/>
                </a:solidFill>
                <a:latin typeface="SimSun-ExtB"/>
                <a:cs typeface="SimSun-ExtB"/>
              </a:rPr>
              <a:t>Faĩm</a:t>
            </a:r>
            <a:r>
              <a:rPr dirty="0" sz="1750" spc="-49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70">
                <a:solidFill>
                  <a:srgbClr val="666666"/>
                </a:solidFill>
                <a:latin typeface="SimSun-ExtB"/>
                <a:cs typeface="SimSun-ExtB"/>
              </a:rPr>
              <a:t>Cale⭲daĩ</a:t>
            </a:r>
            <a:endParaRPr sz="1750">
              <a:latin typeface="SimSun-ExtB"/>
              <a:cs typeface="SimSun-ExtB"/>
            </a:endParaRPr>
          </a:p>
          <a:p>
            <a:pPr marL="12700" marR="5080">
              <a:lnSpc>
                <a:spcPct val="119300"/>
              </a:lnSpc>
              <a:spcBef>
                <a:spcPts val="625"/>
              </a:spcBef>
            </a:pP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Integrated</a:t>
            </a:r>
            <a:r>
              <a:rPr dirty="0" sz="140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calendar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tracks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planting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schedules,</a:t>
            </a:r>
            <a:r>
              <a:rPr dirty="0" sz="140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666666"/>
                </a:solidFill>
                <a:latin typeface="Verdana"/>
                <a:cs typeface="Verdana"/>
              </a:rPr>
              <a:t>harvest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dates,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00" spc="-1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Verdana"/>
                <a:cs typeface="Verdana"/>
              </a:rPr>
              <a:t>key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farming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activities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automatically.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7424180" y="5832115"/>
            <a:ext cx="491490" cy="488950"/>
          </a:xfrm>
          <a:custGeom>
            <a:avLst/>
            <a:gdLst/>
            <a:ahLst/>
            <a:cxnLst/>
            <a:rect l="l" t="t" r="r" b="b"/>
            <a:pathLst>
              <a:path w="491490" h="488950">
                <a:moveTo>
                  <a:pt x="302331" y="488295"/>
                </a:moveTo>
                <a:lnTo>
                  <a:pt x="301348" y="382452"/>
                </a:lnTo>
              </a:path>
              <a:path w="491490" h="488950">
                <a:moveTo>
                  <a:pt x="480711" y="488160"/>
                </a:moveTo>
                <a:lnTo>
                  <a:pt x="11832" y="488180"/>
                </a:lnTo>
              </a:path>
              <a:path w="491490" h="488950">
                <a:moveTo>
                  <a:pt x="482189" y="274001"/>
                </a:moveTo>
                <a:lnTo>
                  <a:pt x="377980" y="274079"/>
                </a:lnTo>
              </a:path>
              <a:path w="491490" h="488950">
                <a:moveTo>
                  <a:pt x="480711" y="488160"/>
                </a:moveTo>
                <a:lnTo>
                  <a:pt x="480884" y="282626"/>
                </a:lnTo>
                <a:lnTo>
                  <a:pt x="482233" y="273993"/>
                </a:lnTo>
              </a:path>
              <a:path w="491490" h="488950">
                <a:moveTo>
                  <a:pt x="379928" y="274071"/>
                </a:moveTo>
                <a:lnTo>
                  <a:pt x="379550" y="488257"/>
                </a:lnTo>
              </a:path>
              <a:path w="491490" h="488950">
                <a:moveTo>
                  <a:pt x="122950" y="273949"/>
                </a:moveTo>
                <a:lnTo>
                  <a:pt x="10047" y="274123"/>
                </a:lnTo>
              </a:path>
              <a:path w="491490" h="488950">
                <a:moveTo>
                  <a:pt x="113117" y="273962"/>
                </a:moveTo>
                <a:lnTo>
                  <a:pt x="113091" y="488342"/>
                </a:lnTo>
              </a:path>
              <a:path w="491490" h="488950">
                <a:moveTo>
                  <a:pt x="11832" y="488180"/>
                </a:moveTo>
                <a:lnTo>
                  <a:pt x="11739" y="274114"/>
                </a:lnTo>
              </a:path>
              <a:path w="491490" h="488950">
                <a:moveTo>
                  <a:pt x="430306" y="178351"/>
                </a:moveTo>
                <a:lnTo>
                  <a:pt x="487060" y="265442"/>
                </a:lnTo>
                <a:lnTo>
                  <a:pt x="490930" y="273191"/>
                </a:lnTo>
              </a:path>
              <a:path w="491490" h="488950">
                <a:moveTo>
                  <a:pt x="482189" y="274001"/>
                </a:moveTo>
                <a:lnTo>
                  <a:pt x="490930" y="273191"/>
                </a:lnTo>
              </a:path>
              <a:path w="491490" h="488950">
                <a:moveTo>
                  <a:pt x="377980" y="274079"/>
                </a:moveTo>
                <a:lnTo>
                  <a:pt x="317108" y="273949"/>
                </a:lnTo>
              </a:path>
              <a:path w="491490" h="488950">
                <a:moveTo>
                  <a:pt x="430306" y="178351"/>
                </a:moveTo>
                <a:lnTo>
                  <a:pt x="369674" y="274049"/>
                </a:lnTo>
              </a:path>
              <a:path w="491490" h="488950">
                <a:moveTo>
                  <a:pt x="122950" y="273949"/>
                </a:moveTo>
                <a:lnTo>
                  <a:pt x="62287" y="177822"/>
                </a:lnTo>
              </a:path>
              <a:path w="491490" h="488950">
                <a:moveTo>
                  <a:pt x="10047" y="274123"/>
                </a:moveTo>
                <a:lnTo>
                  <a:pt x="0" y="273169"/>
                </a:lnTo>
              </a:path>
              <a:path w="491490" h="488950">
                <a:moveTo>
                  <a:pt x="62287" y="177822"/>
                </a:moveTo>
                <a:lnTo>
                  <a:pt x="0" y="273169"/>
                </a:lnTo>
              </a:path>
              <a:path w="491490" h="488950">
                <a:moveTo>
                  <a:pt x="334695" y="150478"/>
                </a:moveTo>
                <a:lnTo>
                  <a:pt x="157028" y="150534"/>
                </a:lnTo>
              </a:path>
              <a:path w="491490" h="488950">
                <a:moveTo>
                  <a:pt x="317108" y="273949"/>
                </a:moveTo>
                <a:lnTo>
                  <a:pt x="316599" y="151787"/>
                </a:lnTo>
              </a:path>
              <a:path w="491490" h="488950">
                <a:moveTo>
                  <a:pt x="175598" y="273728"/>
                </a:moveTo>
                <a:lnTo>
                  <a:pt x="113117" y="273962"/>
                </a:lnTo>
              </a:path>
              <a:path w="491490" h="488950">
                <a:moveTo>
                  <a:pt x="175654" y="151809"/>
                </a:moveTo>
                <a:lnTo>
                  <a:pt x="175598" y="273728"/>
                </a:lnTo>
              </a:path>
              <a:path w="491490" h="488950">
                <a:moveTo>
                  <a:pt x="334695" y="150478"/>
                </a:moveTo>
                <a:lnTo>
                  <a:pt x="245803" y="0"/>
                </a:lnTo>
                <a:lnTo>
                  <a:pt x="157028" y="150534"/>
                </a:lnTo>
              </a:path>
              <a:path w="491490" h="488950">
                <a:moveTo>
                  <a:pt x="246129" y="199387"/>
                </a:moveTo>
                <a:lnTo>
                  <a:pt x="246138" y="234355"/>
                </a:lnTo>
              </a:path>
              <a:path w="491490" h="488950">
                <a:moveTo>
                  <a:pt x="62348" y="326978"/>
                </a:moveTo>
                <a:lnTo>
                  <a:pt x="62369" y="355081"/>
                </a:lnTo>
              </a:path>
              <a:path w="491490" h="488950">
                <a:moveTo>
                  <a:pt x="429785" y="355207"/>
                </a:moveTo>
                <a:lnTo>
                  <a:pt x="429785" y="324628"/>
                </a:lnTo>
              </a:path>
              <a:path w="491490" h="488950">
                <a:moveTo>
                  <a:pt x="301187" y="382474"/>
                </a:moveTo>
                <a:lnTo>
                  <a:pt x="293719" y="361597"/>
                </a:lnTo>
                <a:lnTo>
                  <a:pt x="279303" y="345747"/>
                </a:lnTo>
                <a:lnTo>
                  <a:pt x="259978" y="336444"/>
                </a:lnTo>
                <a:lnTo>
                  <a:pt x="237784" y="335208"/>
                </a:lnTo>
                <a:lnTo>
                  <a:pt x="218755" y="341562"/>
                </a:lnTo>
                <a:lnTo>
                  <a:pt x="203591" y="353767"/>
                </a:lnTo>
                <a:lnTo>
                  <a:pt x="193529" y="370409"/>
                </a:lnTo>
                <a:lnTo>
                  <a:pt x="189806" y="390071"/>
                </a:lnTo>
              </a:path>
              <a:path w="491490" h="488950">
                <a:moveTo>
                  <a:pt x="189689" y="390071"/>
                </a:moveTo>
                <a:lnTo>
                  <a:pt x="189454" y="488248"/>
                </a:lnTo>
              </a:path>
            </a:pathLst>
          </a:custGeom>
          <a:ln w="21711">
            <a:solidFill>
              <a:srgbClr val="3E6E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7390638" y="6345112"/>
            <a:ext cx="5960110" cy="103060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750" spc="-70">
                <a:solidFill>
                  <a:srgbClr val="666666"/>
                </a:solidFill>
                <a:latin typeface="SimSun-ExtB"/>
                <a:cs typeface="SimSun-ExtB"/>
              </a:rPr>
              <a:t>6I</a:t>
            </a:r>
            <a:r>
              <a:rPr dirty="0" sz="1750" spc="-484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70">
                <a:solidFill>
                  <a:srgbClr val="666666"/>
                </a:solidFill>
                <a:latin typeface="SimSun-ExtB"/>
                <a:cs typeface="SimSun-ExtB"/>
              </a:rPr>
              <a:t>ChaL</a:t>
            </a:r>
            <a:r>
              <a:rPr dirty="0" sz="1750" spc="-484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SimSun-ExtB"/>
                <a:cs typeface="SimSun-ExtB"/>
              </a:rPr>
              <a:t>SuppoĩL</a:t>
            </a:r>
            <a:endParaRPr sz="1750">
              <a:latin typeface="SimSun-ExtB"/>
              <a:cs typeface="SimSun-ExtB"/>
            </a:endParaRPr>
          </a:p>
          <a:p>
            <a:pPr marL="12700" marR="5080">
              <a:lnSpc>
                <a:spcPct val="119300"/>
              </a:lnSpc>
              <a:spcBef>
                <a:spcPts val="625"/>
              </a:spcBef>
            </a:pP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24/7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multilingual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assistant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provides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farming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advice,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66666"/>
                </a:solidFill>
                <a:latin typeface="Verdana"/>
                <a:cs typeface="Verdana"/>
              </a:rPr>
              <a:t>disease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solutions,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Verdana"/>
                <a:cs typeface="Verdana"/>
              </a:rPr>
              <a:t>and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weather</a:t>
            </a:r>
            <a:r>
              <a:rPr dirty="0" sz="140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guidance.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12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95"/>
              </a:spcBef>
            </a:pPr>
            <a:r>
              <a:rPr dirty="0" sz="4300" spc="-240"/>
              <a:t>SmaĩL</a:t>
            </a:r>
            <a:r>
              <a:rPr dirty="0" sz="4300" spc="-1180"/>
              <a:t> </a:t>
            </a:r>
            <a:r>
              <a:rPr dirty="0" sz="4300" spc="-50"/>
              <a:t>Supplv</a:t>
            </a:r>
            <a:r>
              <a:rPr dirty="0" sz="4300" spc="-1160"/>
              <a:t> </a:t>
            </a:r>
            <a:r>
              <a:rPr dirty="0" sz="4300" spc="-1595"/>
              <a:t>”</a:t>
            </a:r>
            <a:r>
              <a:rPr dirty="0" sz="4300" spc="-1165"/>
              <a:t> </a:t>
            </a:r>
            <a:r>
              <a:rPr dirty="0" sz="4300" spc="-254"/>
              <a:t>MaĩkeL</a:t>
            </a:r>
            <a:r>
              <a:rPr dirty="0" sz="4300" spc="-1150"/>
              <a:t> </a:t>
            </a:r>
            <a:r>
              <a:rPr dirty="0" sz="4300" spc="114"/>
              <a:t>SvsLem</a:t>
            </a:r>
            <a:endParaRPr sz="4300"/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Supplv</a:t>
            </a:r>
            <a:r>
              <a:rPr dirty="0" spc="-550"/>
              <a:t> </a:t>
            </a:r>
            <a:r>
              <a:rPr dirty="0" spc="-310"/>
              <a:t>Hĩacki⭲g</a:t>
            </a: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700" spc="-85">
                <a:latin typeface="Verdana"/>
                <a:cs typeface="Verdana"/>
              </a:rPr>
              <a:t>Real-</a:t>
            </a:r>
            <a:r>
              <a:rPr dirty="0" sz="1700" spc="-95">
                <a:latin typeface="Verdana"/>
                <a:cs typeface="Verdana"/>
              </a:rPr>
              <a:t>time</a:t>
            </a:r>
            <a:r>
              <a:rPr dirty="0" sz="1700" spc="-185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monitoring</a:t>
            </a:r>
            <a:r>
              <a:rPr dirty="0" sz="1700" spc="-195">
                <a:latin typeface="Verdana"/>
                <a:cs typeface="Verdana"/>
              </a:rPr>
              <a:t> </a:t>
            </a:r>
            <a:r>
              <a:rPr dirty="0" sz="1700" spc="-80">
                <a:latin typeface="Verdana"/>
                <a:cs typeface="Verdana"/>
              </a:rPr>
              <a:t>of</a:t>
            </a:r>
            <a:r>
              <a:rPr dirty="0" sz="1700" spc="-165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crop</a:t>
            </a:r>
            <a:r>
              <a:rPr dirty="0" sz="1700" spc="-180">
                <a:latin typeface="Verdana"/>
                <a:cs typeface="Verdana"/>
              </a:rPr>
              <a:t> </a:t>
            </a:r>
            <a:r>
              <a:rPr dirty="0" sz="1700" spc="-130">
                <a:latin typeface="Verdana"/>
                <a:cs typeface="Verdana"/>
              </a:rPr>
              <a:t>movement</a:t>
            </a:r>
            <a:r>
              <a:rPr dirty="0" sz="1700" spc="-180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from</a:t>
            </a:r>
            <a:r>
              <a:rPr dirty="0" sz="1700" spc="-175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farm</a:t>
            </a:r>
            <a:r>
              <a:rPr dirty="0" sz="1700" spc="-155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to</a:t>
            </a:r>
            <a:r>
              <a:rPr dirty="0" sz="1700" spc="-175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market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pc="-335"/>
              <a:t>Pĩice</a:t>
            </a:r>
            <a:r>
              <a:rPr dirty="0" spc="-565"/>
              <a:t> </a:t>
            </a:r>
            <a:r>
              <a:rPr dirty="0" spc="-10"/>
              <a:t>Displav</a:t>
            </a: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700" spc="-105">
                <a:latin typeface="Verdana"/>
                <a:cs typeface="Verdana"/>
              </a:rPr>
              <a:t>Live</a:t>
            </a:r>
            <a:r>
              <a:rPr dirty="0" sz="1700" spc="-16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crop</a:t>
            </a:r>
            <a:r>
              <a:rPr dirty="0" sz="1700" spc="-160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rate</a:t>
            </a:r>
            <a:r>
              <a:rPr dirty="0" sz="1700" spc="-145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updates</a:t>
            </a:r>
            <a:r>
              <a:rPr dirty="0" sz="1700" spc="-16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across</a:t>
            </a:r>
            <a:r>
              <a:rPr dirty="0" sz="1700" spc="-180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regional</a:t>
            </a:r>
            <a:r>
              <a:rPr dirty="0" sz="1700" spc="-16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markets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pc="-225"/>
              <a:t>Faĩmeĩ-</a:t>
            </a:r>
            <a:r>
              <a:rPr dirty="0" spc="-190"/>
              <a:t>Buveĩ</a:t>
            </a:r>
            <a:r>
              <a:rPr dirty="0" spc="-495"/>
              <a:t> </a:t>
            </a:r>
            <a:r>
              <a:rPr dirty="0" spc="-700"/>
              <a:t>Ḻi⭲k</a:t>
            </a: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700" spc="-95">
                <a:latin typeface="Verdana"/>
                <a:cs typeface="Verdana"/>
              </a:rPr>
              <a:t>Direct</a:t>
            </a:r>
            <a:r>
              <a:rPr dirty="0" sz="1700" spc="-13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connections</a:t>
            </a:r>
            <a:r>
              <a:rPr dirty="0" sz="1700" spc="-18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eliminate</a:t>
            </a:r>
            <a:r>
              <a:rPr dirty="0" sz="1700" spc="-14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middlemen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pc="-145"/>
              <a:t>Vield</a:t>
            </a:r>
            <a:r>
              <a:rPr dirty="0" spc="-575"/>
              <a:t> </a:t>
            </a:r>
            <a:r>
              <a:rPr dirty="0" spc="-345"/>
              <a:t>PĩedicLio⭲</a:t>
            </a: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700" spc="-65">
                <a:latin typeface="Verdana"/>
                <a:cs typeface="Verdana"/>
              </a:rPr>
              <a:t>AI</a:t>
            </a:r>
            <a:r>
              <a:rPr dirty="0" sz="1700" spc="-16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forecasts</a:t>
            </a:r>
            <a:r>
              <a:rPr dirty="0" sz="1700" spc="-16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expected</a:t>
            </a:r>
            <a:r>
              <a:rPr dirty="0" sz="1700" spc="-140">
                <a:latin typeface="Verdana"/>
                <a:cs typeface="Verdana"/>
              </a:rPr>
              <a:t> </a:t>
            </a:r>
            <a:r>
              <a:rPr dirty="0" sz="1700" spc="-114">
                <a:latin typeface="Verdana"/>
                <a:cs typeface="Verdana"/>
              </a:rPr>
              <a:t>harvest</a:t>
            </a:r>
            <a:r>
              <a:rPr dirty="0" sz="1700" spc="-15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quantities</a:t>
            </a:r>
            <a:endParaRPr sz="17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68" y="1970532"/>
            <a:ext cx="1104900" cy="5300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95250" y="7743188"/>
            <a:ext cx="1741170" cy="401320"/>
            <a:chOff x="12795250" y="7743188"/>
            <a:chExt cx="1741170" cy="40132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801600" y="7749538"/>
              <a:ext cx="1728470" cy="388620"/>
            </a:xfrm>
            <a:custGeom>
              <a:avLst/>
              <a:gdLst/>
              <a:ahLst/>
              <a:cxnLst/>
              <a:rect l="l" t="t" r="r" b="b"/>
              <a:pathLst>
                <a:path w="1728469" h="388620">
                  <a:moveTo>
                    <a:pt x="1728215" y="0"/>
                  </a:moveTo>
                  <a:lnTo>
                    <a:pt x="0" y="0"/>
                  </a:lnTo>
                  <a:lnTo>
                    <a:pt x="0" y="388620"/>
                  </a:lnTo>
                  <a:lnTo>
                    <a:pt x="1728215" y="388620"/>
                  </a:lnTo>
                  <a:lnTo>
                    <a:pt x="1728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801600" y="7749538"/>
              <a:ext cx="1728470" cy="388620"/>
            </a:xfrm>
            <a:custGeom>
              <a:avLst/>
              <a:gdLst/>
              <a:ahLst/>
              <a:cxnLst/>
              <a:rect l="l" t="t" r="r" b="b"/>
              <a:pathLst>
                <a:path w="1728469" h="388620">
                  <a:moveTo>
                    <a:pt x="0" y="388620"/>
                  </a:moveTo>
                  <a:lnTo>
                    <a:pt x="1728215" y="388620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38862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1845" rIns="0" bIns="0" rtlCol="0" vert="horz">
            <a:spAutoFit/>
          </a:bodyPr>
          <a:lstStyle/>
          <a:p>
            <a:pPr marL="1223645">
              <a:lnSpc>
                <a:spcPct val="100000"/>
              </a:lnSpc>
              <a:spcBef>
                <a:spcPts val="95"/>
              </a:spcBef>
            </a:pPr>
            <a:r>
              <a:rPr dirty="0" sz="3100" spc="-200"/>
              <a:t>Cĩop</a:t>
            </a:r>
            <a:r>
              <a:rPr dirty="0" sz="3100" spc="-805"/>
              <a:t> </a:t>
            </a:r>
            <a:r>
              <a:rPr dirty="0" sz="3100" spc="-540"/>
              <a:t>I⭲Lellige⭲ce</a:t>
            </a:r>
            <a:r>
              <a:rPr dirty="0" sz="3100" spc="-819"/>
              <a:t> </a:t>
            </a:r>
            <a:r>
              <a:rPr dirty="0" sz="3100" spc="-550"/>
              <a:t>E⭲gi⭲e</a:t>
            </a:r>
            <a:endParaRPr sz="3100"/>
          </a:p>
        </p:txBody>
      </p:sp>
      <p:sp>
        <p:nvSpPr>
          <p:cNvPr id="6" name="object 6" descr=""/>
          <p:cNvSpPr/>
          <p:nvPr/>
        </p:nvSpPr>
        <p:spPr>
          <a:xfrm>
            <a:off x="1859279" y="2606039"/>
            <a:ext cx="3568065" cy="22860"/>
          </a:xfrm>
          <a:custGeom>
            <a:avLst/>
            <a:gdLst/>
            <a:ahLst/>
            <a:cxnLst/>
            <a:rect l="l" t="t" r="r" b="b"/>
            <a:pathLst>
              <a:path w="3568065" h="22860">
                <a:moveTo>
                  <a:pt x="3567684" y="0"/>
                </a:moveTo>
                <a:lnTo>
                  <a:pt x="0" y="0"/>
                </a:lnTo>
                <a:lnTo>
                  <a:pt x="0" y="22860"/>
                </a:lnTo>
                <a:lnTo>
                  <a:pt x="3567684" y="22860"/>
                </a:lnTo>
                <a:lnTo>
                  <a:pt x="3567684" y="0"/>
                </a:lnTo>
                <a:close/>
              </a:path>
            </a:pathLst>
          </a:custGeom>
          <a:solidFill>
            <a:srgbClr val="A1B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859279" y="3777996"/>
            <a:ext cx="3568065" cy="22860"/>
          </a:xfrm>
          <a:custGeom>
            <a:avLst/>
            <a:gdLst/>
            <a:ahLst/>
            <a:cxnLst/>
            <a:rect l="l" t="t" r="r" b="b"/>
            <a:pathLst>
              <a:path w="3568065" h="22860">
                <a:moveTo>
                  <a:pt x="3567684" y="0"/>
                </a:moveTo>
                <a:lnTo>
                  <a:pt x="0" y="0"/>
                </a:lnTo>
                <a:lnTo>
                  <a:pt x="0" y="22860"/>
                </a:lnTo>
                <a:lnTo>
                  <a:pt x="3567684" y="22860"/>
                </a:lnTo>
                <a:lnTo>
                  <a:pt x="3567684" y="0"/>
                </a:lnTo>
                <a:close/>
              </a:path>
            </a:pathLst>
          </a:custGeom>
          <a:solidFill>
            <a:srgbClr val="A1B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859279" y="4948428"/>
            <a:ext cx="3568065" cy="22860"/>
          </a:xfrm>
          <a:custGeom>
            <a:avLst/>
            <a:gdLst/>
            <a:ahLst/>
            <a:cxnLst/>
            <a:rect l="l" t="t" r="r" b="b"/>
            <a:pathLst>
              <a:path w="3568065" h="22860">
                <a:moveTo>
                  <a:pt x="3567684" y="0"/>
                </a:moveTo>
                <a:lnTo>
                  <a:pt x="0" y="0"/>
                </a:lnTo>
                <a:lnTo>
                  <a:pt x="0" y="22860"/>
                </a:lnTo>
                <a:lnTo>
                  <a:pt x="3567684" y="22860"/>
                </a:lnTo>
                <a:lnTo>
                  <a:pt x="3567684" y="0"/>
                </a:lnTo>
                <a:close/>
              </a:path>
            </a:pathLst>
          </a:custGeom>
          <a:solidFill>
            <a:srgbClr val="A1B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846579" y="1911807"/>
            <a:ext cx="3295015" cy="3725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305">
                <a:solidFill>
                  <a:srgbClr val="3E6EF3"/>
                </a:solidFill>
                <a:latin typeface="SimSun-ExtB"/>
                <a:cs typeface="SimSun-ExtB"/>
              </a:rPr>
              <a:t>How</a:t>
            </a:r>
            <a:r>
              <a:rPr dirty="0" sz="1850" spc="-500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1850" spc="-390">
                <a:solidFill>
                  <a:srgbClr val="3E6EF3"/>
                </a:solidFill>
                <a:latin typeface="SimSun-ExtB"/>
                <a:cs typeface="SimSun-ExtB"/>
              </a:rPr>
              <a:t>IL</a:t>
            </a:r>
            <a:r>
              <a:rPr dirty="0" sz="1850" spc="-525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1850" spc="-20">
                <a:solidFill>
                  <a:srgbClr val="3E6EF3"/>
                </a:solidFill>
                <a:latin typeface="SimSun-ExtB"/>
                <a:cs typeface="SimSun-ExtB"/>
              </a:rPr>
              <a:t>Woĩks</a:t>
            </a:r>
            <a:endParaRPr sz="18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200" spc="-25">
                <a:solidFill>
                  <a:srgbClr val="666666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550">
                <a:solidFill>
                  <a:srgbClr val="666666"/>
                </a:solidFill>
                <a:latin typeface="SimSun-ExtB"/>
                <a:cs typeface="SimSun-ExtB"/>
              </a:rPr>
              <a:t>Upload</a:t>
            </a:r>
            <a:r>
              <a:rPr dirty="0" sz="1550" spc="-12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550" spc="65">
                <a:solidFill>
                  <a:srgbClr val="666666"/>
                </a:solidFill>
                <a:latin typeface="SimSun-ExtB"/>
                <a:cs typeface="SimSun-ExtB"/>
              </a:rPr>
              <a:t>Image</a:t>
            </a:r>
            <a:endParaRPr sz="15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200" spc="-85">
                <a:solidFill>
                  <a:srgbClr val="666666"/>
                </a:solidFill>
                <a:latin typeface="Verdana"/>
                <a:cs typeface="Verdana"/>
              </a:rPr>
              <a:t>Capture</a:t>
            </a: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66666"/>
                </a:solidFill>
                <a:latin typeface="Verdana"/>
                <a:cs typeface="Verdana"/>
              </a:rPr>
              <a:t>or</a:t>
            </a:r>
            <a:r>
              <a:rPr dirty="0" sz="1200" spc="-9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66666"/>
                </a:solidFill>
                <a:latin typeface="Verdana"/>
                <a:cs typeface="Verdana"/>
              </a:rPr>
              <a:t>upload</a:t>
            </a: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66666"/>
                </a:solidFill>
                <a:latin typeface="Verdana"/>
                <a:cs typeface="Verdana"/>
              </a:rPr>
              <a:t>photo</a:t>
            </a:r>
            <a:r>
              <a:rPr dirty="0" sz="1200" spc="-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66666"/>
                </a:solidFill>
                <a:latin typeface="Verdana"/>
                <a:cs typeface="Verdana"/>
              </a:rPr>
              <a:t>of</a:t>
            </a:r>
            <a:r>
              <a:rPr dirty="0" sz="1200" spc="-1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66666"/>
                </a:solidFill>
                <a:latin typeface="Verdana"/>
                <a:cs typeface="Verdana"/>
              </a:rPr>
              <a:t>affected</a:t>
            </a:r>
            <a:r>
              <a:rPr dirty="0" sz="1200" spc="-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666666"/>
                </a:solidFill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550" spc="-70">
                <a:solidFill>
                  <a:srgbClr val="666666"/>
                </a:solidFill>
                <a:latin typeface="SimSun-ExtB"/>
                <a:cs typeface="SimSun-ExtB"/>
              </a:rPr>
              <a:t>6I</a:t>
            </a:r>
            <a:r>
              <a:rPr dirty="0" sz="1550" spc="-40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550" spc="-70">
                <a:solidFill>
                  <a:srgbClr val="666666"/>
                </a:solidFill>
                <a:latin typeface="SimSun-ExtB"/>
                <a:cs typeface="SimSun-ExtB"/>
              </a:rPr>
              <a:t>6⭲alvsis</a:t>
            </a:r>
            <a:endParaRPr sz="15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200" spc="-85">
                <a:solidFill>
                  <a:srgbClr val="666666"/>
                </a:solidFill>
                <a:latin typeface="Verdana"/>
                <a:cs typeface="Verdana"/>
              </a:rPr>
              <a:t>Deep</a:t>
            </a:r>
            <a:r>
              <a:rPr dirty="0" sz="1200" spc="-1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66666"/>
                </a:solidFill>
                <a:latin typeface="Verdana"/>
                <a:cs typeface="Verdana"/>
              </a:rPr>
              <a:t>learning</a:t>
            </a: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66666"/>
                </a:solidFill>
                <a:latin typeface="Verdana"/>
                <a:cs typeface="Verdana"/>
              </a:rPr>
              <a:t>model</a:t>
            </a:r>
            <a:r>
              <a:rPr dirty="0" sz="1200" spc="-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666666"/>
                </a:solidFill>
                <a:latin typeface="Verdana"/>
                <a:cs typeface="Verdana"/>
              </a:rPr>
              <a:t>processes</a:t>
            </a: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66666"/>
                </a:solidFill>
                <a:latin typeface="Verdana"/>
                <a:cs typeface="Verdana"/>
              </a:rPr>
              <a:t>image</a:t>
            </a:r>
            <a:r>
              <a:rPr dirty="0" sz="1200" spc="-9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66666"/>
                </a:solidFill>
                <a:latin typeface="Verdana"/>
                <a:cs typeface="Verdana"/>
              </a:rPr>
              <a:t>instantly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666666"/>
                </a:solidFill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550" spc="-25">
                <a:solidFill>
                  <a:srgbClr val="666666"/>
                </a:solidFill>
                <a:latin typeface="SimSun-ExtB"/>
                <a:cs typeface="SimSun-ExtB"/>
              </a:rPr>
              <a:t>Disease</a:t>
            </a:r>
            <a:r>
              <a:rPr dirty="0" sz="1550" spc="-35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550" spc="-20">
                <a:solidFill>
                  <a:srgbClr val="666666"/>
                </a:solidFill>
                <a:latin typeface="SimSun-ExtB"/>
                <a:cs typeface="SimSun-ExtB"/>
              </a:rPr>
              <a:t>DeLecLio⭲</a:t>
            </a:r>
            <a:endParaRPr sz="15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200" spc="-50">
                <a:solidFill>
                  <a:srgbClr val="666666"/>
                </a:solidFill>
                <a:latin typeface="Verdana"/>
                <a:cs typeface="Verdana"/>
              </a:rPr>
              <a:t>Identifies</a:t>
            </a:r>
            <a:r>
              <a:rPr dirty="0" sz="1200" spc="-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666666"/>
                </a:solidFill>
                <a:latin typeface="Verdana"/>
                <a:cs typeface="Verdana"/>
              </a:rPr>
              <a:t>specific</a:t>
            </a: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66666"/>
                </a:solidFill>
                <a:latin typeface="Verdana"/>
                <a:cs typeface="Verdana"/>
              </a:rPr>
              <a:t>disease with</a:t>
            </a:r>
            <a:r>
              <a:rPr dirty="0" sz="1200" spc="-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66666"/>
                </a:solidFill>
                <a:latin typeface="Verdana"/>
                <a:cs typeface="Verdana"/>
              </a:rPr>
              <a:t>confidence</a:t>
            </a:r>
            <a:r>
              <a:rPr dirty="0" sz="1200" spc="-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666666"/>
                </a:solidFill>
                <a:latin typeface="Verdana"/>
                <a:cs typeface="Verdana"/>
              </a:rPr>
              <a:t>level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46579" y="5872098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666666"/>
                </a:solidFill>
                <a:latin typeface="Calibri"/>
                <a:cs typeface="Calibri"/>
              </a:rPr>
              <a:t>04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859279" y="6120384"/>
            <a:ext cx="3568065" cy="22860"/>
          </a:xfrm>
          <a:custGeom>
            <a:avLst/>
            <a:gdLst/>
            <a:ahLst/>
            <a:cxnLst/>
            <a:rect l="l" t="t" r="r" b="b"/>
            <a:pathLst>
              <a:path w="3568065" h="22860">
                <a:moveTo>
                  <a:pt x="3567684" y="0"/>
                </a:moveTo>
                <a:lnTo>
                  <a:pt x="0" y="0"/>
                </a:lnTo>
                <a:lnTo>
                  <a:pt x="0" y="22860"/>
                </a:lnTo>
                <a:lnTo>
                  <a:pt x="3567684" y="22860"/>
                </a:lnTo>
                <a:lnTo>
                  <a:pt x="3567684" y="0"/>
                </a:lnTo>
                <a:close/>
              </a:path>
            </a:pathLst>
          </a:custGeom>
          <a:solidFill>
            <a:srgbClr val="A1B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846579" y="6217996"/>
            <a:ext cx="3399154" cy="590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135">
                <a:solidFill>
                  <a:srgbClr val="666666"/>
                </a:solidFill>
                <a:latin typeface="SimSun-ExtB"/>
                <a:cs typeface="SimSun-ExtB"/>
              </a:rPr>
              <a:t>HĩeaLme⭲L</a:t>
            </a:r>
            <a:r>
              <a:rPr dirty="0" sz="1550" spc="-35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550" spc="-20">
                <a:solidFill>
                  <a:srgbClr val="666666"/>
                </a:solidFill>
                <a:latin typeface="SimSun-ExtB"/>
                <a:cs typeface="SimSun-ExtB"/>
              </a:rPr>
              <a:t>Pla⭲</a:t>
            </a:r>
            <a:endParaRPr sz="15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Recommends</a:t>
            </a:r>
            <a:r>
              <a:rPr dirty="0" sz="1200" spc="-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666666"/>
                </a:solidFill>
                <a:latin typeface="Verdana"/>
                <a:cs typeface="Verdana"/>
              </a:rPr>
              <a:t>solutions</a:t>
            </a:r>
            <a:r>
              <a:rPr dirty="0" sz="1200" spc="-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200" spc="-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preventive</a:t>
            </a:r>
            <a:r>
              <a:rPr dirty="0" sz="1200" spc="-55">
                <a:solidFill>
                  <a:srgbClr val="666666"/>
                </a:solidFill>
                <a:latin typeface="Verdana"/>
                <a:cs typeface="Verdana"/>
              </a:rPr>
              <a:t> measures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679" y="1818132"/>
            <a:ext cx="6957059" cy="3883152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808726" y="5798311"/>
            <a:ext cx="173228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65">
                <a:solidFill>
                  <a:srgbClr val="3E6EF3"/>
                </a:solidFill>
                <a:latin typeface="SimSun-ExtB"/>
                <a:cs typeface="SimSun-ExtB"/>
              </a:rPr>
              <a:t>6ddiLio⭲al</a:t>
            </a:r>
            <a:r>
              <a:rPr dirty="0" sz="1550" spc="-350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1550" spc="-105">
                <a:solidFill>
                  <a:srgbClr val="3E6EF3"/>
                </a:solidFill>
                <a:latin typeface="SimSun-ExtB"/>
                <a:cs typeface="SimSun-ExtB"/>
              </a:rPr>
              <a:t>FeaLuĩes</a:t>
            </a:r>
            <a:endParaRPr sz="1550">
              <a:latin typeface="SimSun-ExtB"/>
              <a:cs typeface="SimSun-ExtB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08726" y="6146673"/>
            <a:ext cx="2289175" cy="88963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5600" algn="l"/>
              </a:tabLst>
            </a:pPr>
            <a:r>
              <a:rPr dirty="0" sz="1200" spc="-80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r>
              <a:rPr dirty="0" sz="120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66666"/>
                </a:solidFill>
                <a:latin typeface="Verdana"/>
                <a:cs typeface="Verdana"/>
              </a:rPr>
              <a:t>health</a:t>
            </a:r>
            <a:r>
              <a:rPr dirty="0" sz="1200" spc="-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66666"/>
                </a:solidFill>
                <a:latin typeface="Verdana"/>
                <a:cs typeface="Verdana"/>
              </a:rPr>
              <a:t>analysis</a:t>
            </a:r>
            <a:r>
              <a:rPr dirty="0" sz="120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Verdana"/>
                <a:cs typeface="Verdana"/>
              </a:rPr>
              <a:t>scoring</a:t>
            </a:r>
            <a:endParaRPr sz="12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Char char="•"/>
              <a:tabLst>
                <a:tab pos="355600" algn="l"/>
              </a:tabLst>
            </a:pPr>
            <a:r>
              <a:rPr dirty="0" sz="1200" spc="-55">
                <a:solidFill>
                  <a:srgbClr val="666666"/>
                </a:solidFill>
                <a:latin typeface="Verdana"/>
                <a:cs typeface="Verdana"/>
              </a:rPr>
              <a:t>Historical</a:t>
            </a:r>
            <a:r>
              <a:rPr dirty="0" sz="1200" spc="-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66666"/>
                </a:solidFill>
                <a:latin typeface="Verdana"/>
                <a:cs typeface="Verdana"/>
              </a:rPr>
              <a:t>disease</a:t>
            </a:r>
            <a:r>
              <a:rPr dirty="0" sz="1200" spc="-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66666"/>
                </a:solidFill>
                <a:latin typeface="Verdana"/>
                <a:cs typeface="Verdana"/>
              </a:rPr>
              <a:t>patterns</a:t>
            </a:r>
            <a:endParaRPr sz="12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Char char="•"/>
              <a:tabLst>
                <a:tab pos="355600" algn="l"/>
              </a:tabLst>
            </a:pPr>
            <a:r>
              <a:rPr dirty="0" sz="1200" spc="-50">
                <a:solidFill>
                  <a:srgbClr val="666666"/>
                </a:solidFill>
                <a:latin typeface="Verdana"/>
                <a:cs typeface="Verdana"/>
              </a:rPr>
              <a:t>Pest</a:t>
            </a:r>
            <a:r>
              <a:rPr dirty="0" sz="120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66666"/>
                </a:solidFill>
                <a:latin typeface="Verdana"/>
                <a:cs typeface="Verdana"/>
              </a:rPr>
              <a:t>infestation</a:t>
            </a:r>
            <a:r>
              <a:rPr dirty="0" sz="1200" spc="-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66666"/>
                </a:solidFill>
                <a:latin typeface="Verdana"/>
                <a:cs typeface="Verdana"/>
              </a:rPr>
              <a:t>detection</a:t>
            </a:r>
            <a:endParaRPr sz="12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Char char="•"/>
              <a:tabLst>
                <a:tab pos="355600" algn="l"/>
              </a:tabLst>
            </a:pPr>
            <a:r>
              <a:rPr dirty="0" sz="1200" spc="-75">
                <a:solidFill>
                  <a:srgbClr val="666666"/>
                </a:solidFill>
                <a:latin typeface="Verdana"/>
                <a:cs typeface="Verdana"/>
              </a:rPr>
              <a:t>Preventive</a:t>
            </a:r>
            <a:r>
              <a:rPr dirty="0" sz="1200" spc="-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66666"/>
                </a:solidFill>
                <a:latin typeface="Verdana"/>
                <a:cs typeface="Verdana"/>
              </a:rPr>
              <a:t>care</a:t>
            </a:r>
            <a:r>
              <a:rPr dirty="0" sz="1200" spc="-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66666"/>
                </a:solidFill>
                <a:latin typeface="Verdana"/>
                <a:cs typeface="Verdana"/>
              </a:rPr>
              <a:t>alerts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537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z="4450" spc="-120"/>
              <a:t>Faĩm</a:t>
            </a:r>
            <a:r>
              <a:rPr dirty="0" sz="4450" spc="-1195"/>
              <a:t> </a:t>
            </a:r>
            <a:r>
              <a:rPr dirty="0" sz="4450" spc="-40"/>
              <a:t>Ma⭲ageme⭲L</a:t>
            </a:r>
            <a:r>
              <a:rPr dirty="0" sz="4450" spc="-1190"/>
              <a:t> </a:t>
            </a:r>
            <a:r>
              <a:rPr dirty="0" sz="4450" spc="-10"/>
              <a:t>Dashboaĩd</a:t>
            </a:r>
            <a:endParaRPr sz="4450"/>
          </a:p>
        </p:txBody>
      </p:sp>
      <p:grpSp>
        <p:nvGrpSpPr>
          <p:cNvPr id="3" name="object 3" descr=""/>
          <p:cNvGrpSpPr/>
          <p:nvPr/>
        </p:nvGrpSpPr>
        <p:grpSpPr>
          <a:xfrm>
            <a:off x="794004" y="2020823"/>
            <a:ext cx="6408420" cy="680085"/>
            <a:chOff x="794004" y="2020823"/>
            <a:chExt cx="6408420" cy="680085"/>
          </a:xfrm>
        </p:grpSpPr>
        <p:sp>
          <p:nvSpPr>
            <p:cNvPr id="4" name="object 4" descr=""/>
            <p:cNvSpPr/>
            <p:nvPr/>
          </p:nvSpPr>
          <p:spPr>
            <a:xfrm>
              <a:off x="794004" y="2020823"/>
              <a:ext cx="6408420" cy="680085"/>
            </a:xfrm>
            <a:custGeom>
              <a:avLst/>
              <a:gdLst/>
              <a:ahLst/>
              <a:cxnLst/>
              <a:rect l="l" t="t" r="r" b="b"/>
              <a:pathLst>
                <a:path w="6408420" h="680085">
                  <a:moveTo>
                    <a:pt x="6408420" y="370332"/>
                  </a:moveTo>
                  <a:lnTo>
                    <a:pt x="6403619" y="346621"/>
                  </a:lnTo>
                  <a:lnTo>
                    <a:pt x="6390551" y="327240"/>
                  </a:lnTo>
                  <a:lnTo>
                    <a:pt x="6371171" y="314172"/>
                  </a:lnTo>
                  <a:lnTo>
                    <a:pt x="6347460" y="309372"/>
                  </a:lnTo>
                  <a:lnTo>
                    <a:pt x="3541242" y="309372"/>
                  </a:lnTo>
                  <a:lnTo>
                    <a:pt x="3540188" y="293738"/>
                  </a:lnTo>
                  <a:lnTo>
                    <a:pt x="3531158" y="249504"/>
                  </a:lnTo>
                  <a:lnTo>
                    <a:pt x="3516592" y="207568"/>
                  </a:lnTo>
                  <a:lnTo>
                    <a:pt x="3496894" y="168325"/>
                  </a:lnTo>
                  <a:lnTo>
                    <a:pt x="3472484" y="132181"/>
                  </a:lnTo>
                  <a:lnTo>
                    <a:pt x="3443757" y="99542"/>
                  </a:lnTo>
                  <a:lnTo>
                    <a:pt x="3411118" y="70815"/>
                  </a:lnTo>
                  <a:lnTo>
                    <a:pt x="3374974" y="46405"/>
                  </a:lnTo>
                  <a:lnTo>
                    <a:pt x="3335731" y="26708"/>
                  </a:lnTo>
                  <a:lnTo>
                    <a:pt x="3293795" y="12141"/>
                  </a:lnTo>
                  <a:lnTo>
                    <a:pt x="3249561" y="3111"/>
                  </a:lnTo>
                  <a:lnTo>
                    <a:pt x="3203448" y="0"/>
                  </a:lnTo>
                  <a:lnTo>
                    <a:pt x="3157321" y="3111"/>
                  </a:lnTo>
                  <a:lnTo>
                    <a:pt x="3113087" y="12141"/>
                  </a:lnTo>
                  <a:lnTo>
                    <a:pt x="3071152" y="26708"/>
                  </a:lnTo>
                  <a:lnTo>
                    <a:pt x="3031909" y="46405"/>
                  </a:lnTo>
                  <a:lnTo>
                    <a:pt x="2995765" y="70815"/>
                  </a:lnTo>
                  <a:lnTo>
                    <a:pt x="2963126" y="99542"/>
                  </a:lnTo>
                  <a:lnTo>
                    <a:pt x="2934398" y="132181"/>
                  </a:lnTo>
                  <a:lnTo>
                    <a:pt x="2909989" y="168325"/>
                  </a:lnTo>
                  <a:lnTo>
                    <a:pt x="2890291" y="207568"/>
                  </a:lnTo>
                  <a:lnTo>
                    <a:pt x="2875724" y="249504"/>
                  </a:lnTo>
                  <a:lnTo>
                    <a:pt x="2866694" y="293738"/>
                  </a:lnTo>
                  <a:lnTo>
                    <a:pt x="2865640" y="309372"/>
                  </a:lnTo>
                  <a:lnTo>
                    <a:pt x="60960" y="309372"/>
                  </a:lnTo>
                  <a:lnTo>
                    <a:pt x="37223" y="314172"/>
                  </a:lnTo>
                  <a:lnTo>
                    <a:pt x="17843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43" y="413435"/>
                  </a:lnTo>
                  <a:lnTo>
                    <a:pt x="37223" y="426504"/>
                  </a:lnTo>
                  <a:lnTo>
                    <a:pt x="60960" y="431292"/>
                  </a:lnTo>
                  <a:lnTo>
                    <a:pt x="2876092" y="431292"/>
                  </a:lnTo>
                  <a:lnTo>
                    <a:pt x="2890291" y="472147"/>
                  </a:lnTo>
                  <a:lnTo>
                    <a:pt x="2909989" y="511390"/>
                  </a:lnTo>
                  <a:lnTo>
                    <a:pt x="2934398" y="547535"/>
                  </a:lnTo>
                  <a:lnTo>
                    <a:pt x="2963126" y="580174"/>
                  </a:lnTo>
                  <a:lnTo>
                    <a:pt x="2995765" y="608901"/>
                  </a:lnTo>
                  <a:lnTo>
                    <a:pt x="3031909" y="633310"/>
                  </a:lnTo>
                  <a:lnTo>
                    <a:pt x="3071152" y="653008"/>
                  </a:lnTo>
                  <a:lnTo>
                    <a:pt x="3113087" y="667575"/>
                  </a:lnTo>
                  <a:lnTo>
                    <a:pt x="3157321" y="676605"/>
                  </a:lnTo>
                  <a:lnTo>
                    <a:pt x="3203448" y="679704"/>
                  </a:lnTo>
                  <a:lnTo>
                    <a:pt x="3249561" y="676605"/>
                  </a:lnTo>
                  <a:lnTo>
                    <a:pt x="3293795" y="667575"/>
                  </a:lnTo>
                  <a:lnTo>
                    <a:pt x="3335731" y="653008"/>
                  </a:lnTo>
                  <a:lnTo>
                    <a:pt x="3374974" y="633310"/>
                  </a:lnTo>
                  <a:lnTo>
                    <a:pt x="3411118" y="608901"/>
                  </a:lnTo>
                  <a:lnTo>
                    <a:pt x="3443757" y="580174"/>
                  </a:lnTo>
                  <a:lnTo>
                    <a:pt x="3472484" y="547535"/>
                  </a:lnTo>
                  <a:lnTo>
                    <a:pt x="3496894" y="511390"/>
                  </a:lnTo>
                  <a:lnTo>
                    <a:pt x="3516592" y="472147"/>
                  </a:lnTo>
                  <a:lnTo>
                    <a:pt x="3530777" y="431292"/>
                  </a:lnTo>
                  <a:lnTo>
                    <a:pt x="6347460" y="431292"/>
                  </a:lnTo>
                  <a:lnTo>
                    <a:pt x="6371171" y="426504"/>
                  </a:lnTo>
                  <a:lnTo>
                    <a:pt x="6390551" y="413435"/>
                  </a:lnTo>
                  <a:lnTo>
                    <a:pt x="6403619" y="394055"/>
                  </a:lnTo>
                  <a:lnTo>
                    <a:pt x="6408420" y="370332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9623" y="2230594"/>
              <a:ext cx="215758" cy="260115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038555" y="2903347"/>
            <a:ext cx="5723890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4">
                <a:solidFill>
                  <a:srgbClr val="666666"/>
                </a:solidFill>
                <a:latin typeface="SimSun-ExtB"/>
                <a:cs typeface="SimSun-ExtB"/>
              </a:rPr>
              <a:t>E…pe⭲se</a:t>
            </a:r>
            <a:r>
              <a:rPr dirty="0" sz="2200" spc="-60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2200" spc="-320">
                <a:solidFill>
                  <a:srgbClr val="666666"/>
                </a:solidFill>
                <a:latin typeface="SimSun-ExtB"/>
                <a:cs typeface="SimSun-ExtB"/>
              </a:rPr>
              <a:t>Hĩacki⭲g</a:t>
            </a:r>
            <a:endParaRPr sz="2200">
              <a:latin typeface="SimSun-ExtB"/>
              <a:cs typeface="SimSun-ExtB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dirty="0" sz="1750" spc="-120">
                <a:solidFill>
                  <a:srgbClr val="666666"/>
                </a:solidFill>
                <a:latin typeface="Verdana"/>
                <a:cs typeface="Verdana"/>
              </a:rPr>
              <a:t>Log</a:t>
            </a:r>
            <a:r>
              <a:rPr dirty="0" sz="17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666666"/>
                </a:solidFill>
                <a:latin typeface="Verdana"/>
                <a:cs typeface="Verdana"/>
              </a:rPr>
              <a:t>all</a:t>
            </a:r>
            <a:r>
              <a:rPr dirty="0" sz="17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666666"/>
                </a:solidFill>
                <a:latin typeface="Verdana"/>
                <a:cs typeface="Verdana"/>
              </a:rPr>
              <a:t>costs</a:t>
            </a:r>
            <a:r>
              <a:rPr dirty="0" sz="1750" spc="-1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including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seeds,</a:t>
            </a:r>
            <a:r>
              <a:rPr dirty="0" sz="17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fertilizers,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0">
                <a:solidFill>
                  <a:srgbClr val="666666"/>
                </a:solidFill>
                <a:latin typeface="Verdana"/>
                <a:cs typeface="Verdana"/>
              </a:rPr>
              <a:t>pesticides,</a:t>
            </a:r>
            <a:r>
              <a:rPr dirty="0" sz="1750" spc="-1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666666"/>
                </a:solidFill>
                <a:latin typeface="Verdana"/>
                <a:cs typeface="Verdana"/>
              </a:rPr>
              <a:t>labor,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equipment.</a:t>
            </a:r>
            <a:r>
              <a:rPr dirty="0" sz="17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0">
                <a:solidFill>
                  <a:srgbClr val="666666"/>
                </a:solidFill>
                <a:latin typeface="Verdana"/>
                <a:cs typeface="Verdana"/>
              </a:rPr>
              <a:t>Generate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0">
                <a:solidFill>
                  <a:srgbClr val="666666"/>
                </a:solidFill>
                <a:latin typeface="Verdana"/>
                <a:cs typeface="Verdana"/>
              </a:rPr>
              <a:t>expense</a:t>
            </a:r>
            <a:r>
              <a:rPr dirty="0" sz="175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reports</a:t>
            </a:r>
            <a:r>
              <a:rPr dirty="0" sz="1750" spc="-20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35">
                <a:solidFill>
                  <a:srgbClr val="666666"/>
                </a:solidFill>
                <a:latin typeface="Verdana"/>
                <a:cs typeface="Verdana"/>
              </a:rPr>
              <a:t>by</a:t>
            </a:r>
            <a:r>
              <a:rPr dirty="0" sz="175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0">
                <a:solidFill>
                  <a:srgbClr val="666666"/>
                </a:solidFill>
                <a:latin typeface="Verdana"/>
                <a:cs typeface="Verdana"/>
              </a:rPr>
              <a:t>season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666666"/>
                </a:solidFill>
                <a:latin typeface="Verdana"/>
                <a:cs typeface="Verdana"/>
              </a:rPr>
              <a:t>or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r>
              <a:rPr dirty="0" sz="1750" spc="-2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type.</a:t>
            </a:r>
            <a:endParaRPr sz="17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427976" y="2020823"/>
            <a:ext cx="6408420" cy="680085"/>
            <a:chOff x="7427976" y="2020823"/>
            <a:chExt cx="6408420" cy="680085"/>
          </a:xfrm>
        </p:grpSpPr>
        <p:sp>
          <p:nvSpPr>
            <p:cNvPr id="8" name="object 8" descr=""/>
            <p:cNvSpPr/>
            <p:nvPr/>
          </p:nvSpPr>
          <p:spPr>
            <a:xfrm>
              <a:off x="7427976" y="2020823"/>
              <a:ext cx="6408420" cy="680085"/>
            </a:xfrm>
            <a:custGeom>
              <a:avLst/>
              <a:gdLst/>
              <a:ahLst/>
              <a:cxnLst/>
              <a:rect l="l" t="t" r="r" b="b"/>
              <a:pathLst>
                <a:path w="6408419" h="680085">
                  <a:moveTo>
                    <a:pt x="6408420" y="370332"/>
                  </a:moveTo>
                  <a:lnTo>
                    <a:pt x="6403619" y="346621"/>
                  </a:lnTo>
                  <a:lnTo>
                    <a:pt x="6390551" y="327240"/>
                  </a:lnTo>
                  <a:lnTo>
                    <a:pt x="6371171" y="314172"/>
                  </a:lnTo>
                  <a:lnTo>
                    <a:pt x="6347460" y="309372"/>
                  </a:lnTo>
                  <a:lnTo>
                    <a:pt x="3542766" y="309372"/>
                  </a:lnTo>
                  <a:lnTo>
                    <a:pt x="3541712" y="293738"/>
                  </a:lnTo>
                  <a:lnTo>
                    <a:pt x="3532682" y="249504"/>
                  </a:lnTo>
                  <a:lnTo>
                    <a:pt x="3518116" y="207568"/>
                  </a:lnTo>
                  <a:lnTo>
                    <a:pt x="3498418" y="168325"/>
                  </a:lnTo>
                  <a:lnTo>
                    <a:pt x="3474008" y="132181"/>
                  </a:lnTo>
                  <a:lnTo>
                    <a:pt x="3445281" y="99542"/>
                  </a:lnTo>
                  <a:lnTo>
                    <a:pt x="3412642" y="70815"/>
                  </a:lnTo>
                  <a:lnTo>
                    <a:pt x="3376498" y="46405"/>
                  </a:lnTo>
                  <a:lnTo>
                    <a:pt x="3337255" y="26708"/>
                  </a:lnTo>
                  <a:lnTo>
                    <a:pt x="3295319" y="12141"/>
                  </a:lnTo>
                  <a:lnTo>
                    <a:pt x="3251085" y="3111"/>
                  </a:lnTo>
                  <a:lnTo>
                    <a:pt x="3204972" y="0"/>
                  </a:lnTo>
                  <a:lnTo>
                    <a:pt x="3203448" y="0"/>
                  </a:lnTo>
                  <a:lnTo>
                    <a:pt x="3157321" y="3111"/>
                  </a:lnTo>
                  <a:lnTo>
                    <a:pt x="3113087" y="12141"/>
                  </a:lnTo>
                  <a:lnTo>
                    <a:pt x="3071152" y="26708"/>
                  </a:lnTo>
                  <a:lnTo>
                    <a:pt x="3031909" y="46405"/>
                  </a:lnTo>
                  <a:lnTo>
                    <a:pt x="2995765" y="70815"/>
                  </a:lnTo>
                  <a:lnTo>
                    <a:pt x="2963126" y="99542"/>
                  </a:lnTo>
                  <a:lnTo>
                    <a:pt x="2934398" y="132181"/>
                  </a:lnTo>
                  <a:lnTo>
                    <a:pt x="2909989" y="168325"/>
                  </a:lnTo>
                  <a:lnTo>
                    <a:pt x="2890291" y="207568"/>
                  </a:lnTo>
                  <a:lnTo>
                    <a:pt x="2875724" y="249504"/>
                  </a:lnTo>
                  <a:lnTo>
                    <a:pt x="2866694" y="293738"/>
                  </a:lnTo>
                  <a:lnTo>
                    <a:pt x="2865640" y="309372"/>
                  </a:lnTo>
                  <a:lnTo>
                    <a:pt x="60960" y="309372"/>
                  </a:lnTo>
                  <a:lnTo>
                    <a:pt x="37236" y="314172"/>
                  </a:lnTo>
                  <a:lnTo>
                    <a:pt x="17856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56" y="413435"/>
                  </a:lnTo>
                  <a:lnTo>
                    <a:pt x="37236" y="426504"/>
                  </a:lnTo>
                  <a:lnTo>
                    <a:pt x="60960" y="431292"/>
                  </a:lnTo>
                  <a:lnTo>
                    <a:pt x="2876092" y="431292"/>
                  </a:lnTo>
                  <a:lnTo>
                    <a:pt x="2890291" y="472147"/>
                  </a:lnTo>
                  <a:lnTo>
                    <a:pt x="2909989" y="511390"/>
                  </a:lnTo>
                  <a:lnTo>
                    <a:pt x="2934398" y="547535"/>
                  </a:lnTo>
                  <a:lnTo>
                    <a:pt x="2963126" y="580174"/>
                  </a:lnTo>
                  <a:lnTo>
                    <a:pt x="2995765" y="608901"/>
                  </a:lnTo>
                  <a:lnTo>
                    <a:pt x="3031909" y="633310"/>
                  </a:lnTo>
                  <a:lnTo>
                    <a:pt x="3071152" y="653008"/>
                  </a:lnTo>
                  <a:lnTo>
                    <a:pt x="3113087" y="667575"/>
                  </a:lnTo>
                  <a:lnTo>
                    <a:pt x="3157321" y="676605"/>
                  </a:lnTo>
                  <a:lnTo>
                    <a:pt x="3203448" y="679704"/>
                  </a:lnTo>
                  <a:lnTo>
                    <a:pt x="3204972" y="679704"/>
                  </a:lnTo>
                  <a:lnTo>
                    <a:pt x="3251085" y="676605"/>
                  </a:lnTo>
                  <a:lnTo>
                    <a:pt x="3295319" y="667575"/>
                  </a:lnTo>
                  <a:lnTo>
                    <a:pt x="3337255" y="653008"/>
                  </a:lnTo>
                  <a:lnTo>
                    <a:pt x="3376498" y="633310"/>
                  </a:lnTo>
                  <a:lnTo>
                    <a:pt x="3412642" y="608901"/>
                  </a:lnTo>
                  <a:lnTo>
                    <a:pt x="3445281" y="580174"/>
                  </a:lnTo>
                  <a:lnTo>
                    <a:pt x="3474008" y="547535"/>
                  </a:lnTo>
                  <a:lnTo>
                    <a:pt x="3498418" y="511390"/>
                  </a:lnTo>
                  <a:lnTo>
                    <a:pt x="3518116" y="472147"/>
                  </a:lnTo>
                  <a:lnTo>
                    <a:pt x="3532301" y="431292"/>
                  </a:lnTo>
                  <a:lnTo>
                    <a:pt x="6347460" y="431292"/>
                  </a:lnTo>
                  <a:lnTo>
                    <a:pt x="6371171" y="426504"/>
                  </a:lnTo>
                  <a:lnTo>
                    <a:pt x="6390551" y="413435"/>
                  </a:lnTo>
                  <a:lnTo>
                    <a:pt x="6403619" y="394055"/>
                  </a:lnTo>
                  <a:lnTo>
                    <a:pt x="6408420" y="370332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3399" y="2230740"/>
              <a:ext cx="237680" cy="259995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673720" y="2903347"/>
            <a:ext cx="5281930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450">
                <a:solidFill>
                  <a:srgbClr val="666666"/>
                </a:solidFill>
                <a:latin typeface="SimSun-ExtB"/>
                <a:cs typeface="SimSun-ExtB"/>
              </a:rPr>
              <a:t>I⭲ve⭲Loĩv</a:t>
            </a:r>
            <a:r>
              <a:rPr dirty="0" sz="2200" spc="-61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2200" spc="-10">
                <a:solidFill>
                  <a:srgbClr val="666666"/>
                </a:solidFill>
                <a:latin typeface="SimSun-ExtB"/>
                <a:cs typeface="SimSun-ExtB"/>
              </a:rPr>
              <a:t>Ma⭲ageme⭲L</a:t>
            </a:r>
            <a:endParaRPr sz="2200">
              <a:latin typeface="SimSun-ExtB"/>
              <a:cs typeface="SimSun-ExtB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dirty="0" sz="1750" spc="-105">
                <a:solidFill>
                  <a:srgbClr val="666666"/>
                </a:solidFill>
                <a:latin typeface="Verdana"/>
                <a:cs typeface="Verdana"/>
              </a:rPr>
              <a:t>Track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stock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666666"/>
                </a:solidFill>
                <a:latin typeface="Verdana"/>
                <a:cs typeface="Verdana"/>
              </a:rPr>
              <a:t>levels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666666"/>
                </a:solidFill>
                <a:latin typeface="Verdana"/>
                <a:cs typeface="Verdana"/>
              </a:rPr>
              <a:t>of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seeds,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fertilizers,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harvested </a:t>
            </a:r>
            <a:r>
              <a:rPr dirty="0" sz="1750" spc="-105">
                <a:solidFill>
                  <a:srgbClr val="666666"/>
                </a:solidFill>
                <a:latin typeface="Verdana"/>
                <a:cs typeface="Verdana"/>
              </a:rPr>
              <a:t>produce.</a:t>
            </a:r>
            <a:r>
              <a:rPr dirty="0" sz="1750" spc="-1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Get</a:t>
            </a:r>
            <a:r>
              <a:rPr dirty="0" sz="1750" spc="-1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0">
                <a:solidFill>
                  <a:srgbClr val="666666"/>
                </a:solidFill>
                <a:latin typeface="Verdana"/>
                <a:cs typeface="Verdana"/>
              </a:rPr>
              <a:t>low-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stock</a:t>
            </a:r>
            <a:r>
              <a:rPr dirty="0" sz="1750" spc="-1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0">
                <a:solidFill>
                  <a:srgbClr val="666666"/>
                </a:solidFill>
                <a:latin typeface="Verdana"/>
                <a:cs typeface="Verdana"/>
              </a:rPr>
              <a:t>alerts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reorder </a:t>
            </a:r>
            <a:r>
              <a:rPr dirty="0" sz="1750" spc="-45">
                <a:solidFill>
                  <a:srgbClr val="666666"/>
                </a:solidFill>
                <a:latin typeface="Verdana"/>
                <a:cs typeface="Verdana"/>
              </a:rPr>
              <a:t>recommendations.</a:t>
            </a:r>
            <a:endParaRPr sz="17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94004" y="4991100"/>
            <a:ext cx="6408420" cy="680085"/>
            <a:chOff x="794004" y="4991100"/>
            <a:chExt cx="6408420" cy="680085"/>
          </a:xfrm>
        </p:grpSpPr>
        <p:sp>
          <p:nvSpPr>
            <p:cNvPr id="12" name="object 12" descr=""/>
            <p:cNvSpPr/>
            <p:nvPr/>
          </p:nvSpPr>
          <p:spPr>
            <a:xfrm>
              <a:off x="794004" y="4991099"/>
              <a:ext cx="6408420" cy="680085"/>
            </a:xfrm>
            <a:custGeom>
              <a:avLst/>
              <a:gdLst/>
              <a:ahLst/>
              <a:cxnLst/>
              <a:rect l="l" t="t" r="r" b="b"/>
              <a:pathLst>
                <a:path w="6408420" h="680085">
                  <a:moveTo>
                    <a:pt x="6408420" y="370332"/>
                  </a:moveTo>
                  <a:lnTo>
                    <a:pt x="6403619" y="346621"/>
                  </a:lnTo>
                  <a:lnTo>
                    <a:pt x="6390551" y="327240"/>
                  </a:lnTo>
                  <a:lnTo>
                    <a:pt x="6371171" y="314172"/>
                  </a:lnTo>
                  <a:lnTo>
                    <a:pt x="6347460" y="309372"/>
                  </a:lnTo>
                  <a:lnTo>
                    <a:pt x="3541242" y="309372"/>
                  </a:lnTo>
                  <a:lnTo>
                    <a:pt x="3540188" y="293738"/>
                  </a:lnTo>
                  <a:lnTo>
                    <a:pt x="3531158" y="249504"/>
                  </a:lnTo>
                  <a:lnTo>
                    <a:pt x="3516592" y="207568"/>
                  </a:lnTo>
                  <a:lnTo>
                    <a:pt x="3496894" y="168325"/>
                  </a:lnTo>
                  <a:lnTo>
                    <a:pt x="3472484" y="132181"/>
                  </a:lnTo>
                  <a:lnTo>
                    <a:pt x="3443757" y="99542"/>
                  </a:lnTo>
                  <a:lnTo>
                    <a:pt x="3411118" y="70815"/>
                  </a:lnTo>
                  <a:lnTo>
                    <a:pt x="3374974" y="46405"/>
                  </a:lnTo>
                  <a:lnTo>
                    <a:pt x="3335731" y="26708"/>
                  </a:lnTo>
                  <a:lnTo>
                    <a:pt x="3293795" y="12141"/>
                  </a:lnTo>
                  <a:lnTo>
                    <a:pt x="3249561" y="3111"/>
                  </a:lnTo>
                  <a:lnTo>
                    <a:pt x="3203448" y="0"/>
                  </a:lnTo>
                  <a:lnTo>
                    <a:pt x="3157321" y="3111"/>
                  </a:lnTo>
                  <a:lnTo>
                    <a:pt x="3113087" y="12141"/>
                  </a:lnTo>
                  <a:lnTo>
                    <a:pt x="3071152" y="26708"/>
                  </a:lnTo>
                  <a:lnTo>
                    <a:pt x="3031909" y="46405"/>
                  </a:lnTo>
                  <a:lnTo>
                    <a:pt x="2995765" y="70815"/>
                  </a:lnTo>
                  <a:lnTo>
                    <a:pt x="2963126" y="99542"/>
                  </a:lnTo>
                  <a:lnTo>
                    <a:pt x="2934398" y="132181"/>
                  </a:lnTo>
                  <a:lnTo>
                    <a:pt x="2909989" y="168325"/>
                  </a:lnTo>
                  <a:lnTo>
                    <a:pt x="2890291" y="207568"/>
                  </a:lnTo>
                  <a:lnTo>
                    <a:pt x="2875724" y="249504"/>
                  </a:lnTo>
                  <a:lnTo>
                    <a:pt x="2866694" y="293738"/>
                  </a:lnTo>
                  <a:lnTo>
                    <a:pt x="2865640" y="309372"/>
                  </a:lnTo>
                  <a:lnTo>
                    <a:pt x="60960" y="309372"/>
                  </a:lnTo>
                  <a:lnTo>
                    <a:pt x="37223" y="314172"/>
                  </a:lnTo>
                  <a:lnTo>
                    <a:pt x="17843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43" y="413435"/>
                  </a:lnTo>
                  <a:lnTo>
                    <a:pt x="37223" y="426504"/>
                  </a:lnTo>
                  <a:lnTo>
                    <a:pt x="60960" y="431292"/>
                  </a:lnTo>
                  <a:lnTo>
                    <a:pt x="2876092" y="431292"/>
                  </a:lnTo>
                  <a:lnTo>
                    <a:pt x="2890291" y="472147"/>
                  </a:lnTo>
                  <a:lnTo>
                    <a:pt x="2909989" y="511390"/>
                  </a:lnTo>
                  <a:lnTo>
                    <a:pt x="2934398" y="547535"/>
                  </a:lnTo>
                  <a:lnTo>
                    <a:pt x="2963126" y="580174"/>
                  </a:lnTo>
                  <a:lnTo>
                    <a:pt x="2995765" y="608901"/>
                  </a:lnTo>
                  <a:lnTo>
                    <a:pt x="3031909" y="633310"/>
                  </a:lnTo>
                  <a:lnTo>
                    <a:pt x="3071152" y="653008"/>
                  </a:lnTo>
                  <a:lnTo>
                    <a:pt x="3113087" y="667575"/>
                  </a:lnTo>
                  <a:lnTo>
                    <a:pt x="3157321" y="676605"/>
                  </a:lnTo>
                  <a:lnTo>
                    <a:pt x="3203448" y="679704"/>
                  </a:lnTo>
                  <a:lnTo>
                    <a:pt x="3249561" y="676605"/>
                  </a:lnTo>
                  <a:lnTo>
                    <a:pt x="3293795" y="667575"/>
                  </a:lnTo>
                  <a:lnTo>
                    <a:pt x="3335731" y="653008"/>
                  </a:lnTo>
                  <a:lnTo>
                    <a:pt x="3374974" y="633310"/>
                  </a:lnTo>
                  <a:lnTo>
                    <a:pt x="3411118" y="608901"/>
                  </a:lnTo>
                  <a:lnTo>
                    <a:pt x="3443757" y="580174"/>
                  </a:lnTo>
                  <a:lnTo>
                    <a:pt x="3472484" y="547535"/>
                  </a:lnTo>
                  <a:lnTo>
                    <a:pt x="3496894" y="511390"/>
                  </a:lnTo>
                  <a:lnTo>
                    <a:pt x="3516592" y="472147"/>
                  </a:lnTo>
                  <a:lnTo>
                    <a:pt x="3530777" y="431292"/>
                  </a:lnTo>
                  <a:lnTo>
                    <a:pt x="6347460" y="431292"/>
                  </a:lnTo>
                  <a:lnTo>
                    <a:pt x="6371171" y="426504"/>
                  </a:lnTo>
                  <a:lnTo>
                    <a:pt x="6390551" y="413435"/>
                  </a:lnTo>
                  <a:lnTo>
                    <a:pt x="6403619" y="394055"/>
                  </a:lnTo>
                  <a:lnTo>
                    <a:pt x="6408420" y="370332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4672" y="5201019"/>
              <a:ext cx="185673" cy="259961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038555" y="5874258"/>
            <a:ext cx="5507990" cy="1217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5">
                <a:solidFill>
                  <a:srgbClr val="666666"/>
                </a:solidFill>
                <a:latin typeface="SimSun-ExtB"/>
                <a:cs typeface="SimSun-ExtB"/>
              </a:rPr>
              <a:t>Faĩm</a:t>
            </a:r>
            <a:r>
              <a:rPr dirty="0" sz="2200" spc="-59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2200" spc="-204">
                <a:solidFill>
                  <a:srgbClr val="666666"/>
                </a:solidFill>
                <a:latin typeface="SimSun-ExtB"/>
                <a:cs typeface="SimSun-ExtB"/>
              </a:rPr>
              <a:t>6cLiviLv</a:t>
            </a:r>
            <a:r>
              <a:rPr dirty="0" sz="2200" spc="-57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2200" spc="-25">
                <a:solidFill>
                  <a:srgbClr val="666666"/>
                </a:solidFill>
                <a:latin typeface="SimSun-ExtB"/>
                <a:cs typeface="SimSun-ExtB"/>
              </a:rPr>
              <a:t>Ḻog</a:t>
            </a:r>
            <a:endParaRPr sz="2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Record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daily</a:t>
            </a:r>
            <a:r>
              <a:rPr dirty="0" sz="175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activities</a:t>
            </a:r>
            <a:r>
              <a:rPr dirty="0" sz="17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666666"/>
                </a:solidFill>
                <a:latin typeface="Verdana"/>
                <a:cs typeface="Verdana"/>
              </a:rPr>
              <a:t>like</a:t>
            </a:r>
            <a:r>
              <a:rPr dirty="0" sz="175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0">
                <a:solidFill>
                  <a:srgbClr val="666666"/>
                </a:solidFill>
                <a:latin typeface="Verdana"/>
                <a:cs typeface="Verdana"/>
              </a:rPr>
              <a:t>planting,</a:t>
            </a:r>
            <a:r>
              <a:rPr dirty="0" sz="17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0">
                <a:solidFill>
                  <a:srgbClr val="666666"/>
                </a:solidFill>
                <a:latin typeface="Verdana"/>
                <a:cs typeface="Verdana"/>
              </a:rPr>
              <a:t>irrigation,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0">
                <a:solidFill>
                  <a:srgbClr val="666666"/>
                </a:solidFill>
                <a:latin typeface="Verdana"/>
                <a:cs typeface="Verdana"/>
              </a:rPr>
              <a:t>spraying,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7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25">
                <a:solidFill>
                  <a:srgbClr val="666666"/>
                </a:solidFill>
                <a:latin typeface="Verdana"/>
                <a:cs typeface="Verdana"/>
              </a:rPr>
              <a:t>harvesting.</a:t>
            </a:r>
            <a:r>
              <a:rPr dirty="0" sz="17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666666"/>
                </a:solidFill>
                <a:latin typeface="Verdana"/>
                <a:cs typeface="Verdana"/>
              </a:rPr>
              <a:t>Build</a:t>
            </a:r>
            <a:r>
              <a:rPr dirty="0" sz="17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0">
                <a:solidFill>
                  <a:srgbClr val="666666"/>
                </a:solidFill>
                <a:latin typeface="Verdana"/>
                <a:cs typeface="Verdana"/>
              </a:rPr>
              <a:t>historical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5">
                <a:solidFill>
                  <a:srgbClr val="666666"/>
                </a:solidFill>
                <a:latin typeface="Verdana"/>
                <a:cs typeface="Verdana"/>
              </a:rPr>
              <a:t>performance</a:t>
            </a:r>
            <a:r>
              <a:rPr dirty="0" sz="1750" spc="-1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data.</a:t>
            </a:r>
            <a:endParaRPr sz="17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427976" y="4991100"/>
            <a:ext cx="6408420" cy="680085"/>
            <a:chOff x="7427976" y="4991100"/>
            <a:chExt cx="6408420" cy="680085"/>
          </a:xfrm>
        </p:grpSpPr>
        <p:sp>
          <p:nvSpPr>
            <p:cNvPr id="16" name="object 16" descr=""/>
            <p:cNvSpPr/>
            <p:nvPr/>
          </p:nvSpPr>
          <p:spPr>
            <a:xfrm>
              <a:off x="7427976" y="4991099"/>
              <a:ext cx="6408420" cy="680085"/>
            </a:xfrm>
            <a:custGeom>
              <a:avLst/>
              <a:gdLst/>
              <a:ahLst/>
              <a:cxnLst/>
              <a:rect l="l" t="t" r="r" b="b"/>
              <a:pathLst>
                <a:path w="6408419" h="680085">
                  <a:moveTo>
                    <a:pt x="6408420" y="370332"/>
                  </a:moveTo>
                  <a:lnTo>
                    <a:pt x="6403619" y="346621"/>
                  </a:lnTo>
                  <a:lnTo>
                    <a:pt x="6390551" y="327240"/>
                  </a:lnTo>
                  <a:lnTo>
                    <a:pt x="6371171" y="314172"/>
                  </a:lnTo>
                  <a:lnTo>
                    <a:pt x="6347460" y="309372"/>
                  </a:lnTo>
                  <a:lnTo>
                    <a:pt x="3542766" y="309372"/>
                  </a:lnTo>
                  <a:lnTo>
                    <a:pt x="3541712" y="293738"/>
                  </a:lnTo>
                  <a:lnTo>
                    <a:pt x="3532682" y="249504"/>
                  </a:lnTo>
                  <a:lnTo>
                    <a:pt x="3518116" y="207568"/>
                  </a:lnTo>
                  <a:lnTo>
                    <a:pt x="3498418" y="168325"/>
                  </a:lnTo>
                  <a:lnTo>
                    <a:pt x="3474008" y="132181"/>
                  </a:lnTo>
                  <a:lnTo>
                    <a:pt x="3445281" y="99542"/>
                  </a:lnTo>
                  <a:lnTo>
                    <a:pt x="3412642" y="70815"/>
                  </a:lnTo>
                  <a:lnTo>
                    <a:pt x="3376498" y="46405"/>
                  </a:lnTo>
                  <a:lnTo>
                    <a:pt x="3337255" y="26708"/>
                  </a:lnTo>
                  <a:lnTo>
                    <a:pt x="3295319" y="12141"/>
                  </a:lnTo>
                  <a:lnTo>
                    <a:pt x="3251085" y="3111"/>
                  </a:lnTo>
                  <a:lnTo>
                    <a:pt x="3204972" y="0"/>
                  </a:lnTo>
                  <a:lnTo>
                    <a:pt x="3203448" y="0"/>
                  </a:lnTo>
                  <a:lnTo>
                    <a:pt x="3157321" y="3111"/>
                  </a:lnTo>
                  <a:lnTo>
                    <a:pt x="3113087" y="12141"/>
                  </a:lnTo>
                  <a:lnTo>
                    <a:pt x="3071152" y="26708"/>
                  </a:lnTo>
                  <a:lnTo>
                    <a:pt x="3031909" y="46405"/>
                  </a:lnTo>
                  <a:lnTo>
                    <a:pt x="2995765" y="70815"/>
                  </a:lnTo>
                  <a:lnTo>
                    <a:pt x="2963126" y="99542"/>
                  </a:lnTo>
                  <a:lnTo>
                    <a:pt x="2934398" y="132181"/>
                  </a:lnTo>
                  <a:lnTo>
                    <a:pt x="2909989" y="168325"/>
                  </a:lnTo>
                  <a:lnTo>
                    <a:pt x="2890291" y="207568"/>
                  </a:lnTo>
                  <a:lnTo>
                    <a:pt x="2875724" y="249504"/>
                  </a:lnTo>
                  <a:lnTo>
                    <a:pt x="2866694" y="293738"/>
                  </a:lnTo>
                  <a:lnTo>
                    <a:pt x="2865640" y="309372"/>
                  </a:lnTo>
                  <a:lnTo>
                    <a:pt x="60960" y="309372"/>
                  </a:lnTo>
                  <a:lnTo>
                    <a:pt x="37236" y="314172"/>
                  </a:lnTo>
                  <a:lnTo>
                    <a:pt x="17856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56" y="413435"/>
                  </a:lnTo>
                  <a:lnTo>
                    <a:pt x="37236" y="426504"/>
                  </a:lnTo>
                  <a:lnTo>
                    <a:pt x="60960" y="431292"/>
                  </a:lnTo>
                  <a:lnTo>
                    <a:pt x="2876092" y="431292"/>
                  </a:lnTo>
                  <a:lnTo>
                    <a:pt x="2890291" y="472147"/>
                  </a:lnTo>
                  <a:lnTo>
                    <a:pt x="2909989" y="511390"/>
                  </a:lnTo>
                  <a:lnTo>
                    <a:pt x="2934398" y="547535"/>
                  </a:lnTo>
                  <a:lnTo>
                    <a:pt x="2963126" y="580174"/>
                  </a:lnTo>
                  <a:lnTo>
                    <a:pt x="2995765" y="608901"/>
                  </a:lnTo>
                  <a:lnTo>
                    <a:pt x="3031909" y="633310"/>
                  </a:lnTo>
                  <a:lnTo>
                    <a:pt x="3071152" y="653008"/>
                  </a:lnTo>
                  <a:lnTo>
                    <a:pt x="3113087" y="667575"/>
                  </a:lnTo>
                  <a:lnTo>
                    <a:pt x="3157321" y="676605"/>
                  </a:lnTo>
                  <a:lnTo>
                    <a:pt x="3203448" y="679704"/>
                  </a:lnTo>
                  <a:lnTo>
                    <a:pt x="3204972" y="679704"/>
                  </a:lnTo>
                  <a:lnTo>
                    <a:pt x="3251085" y="676605"/>
                  </a:lnTo>
                  <a:lnTo>
                    <a:pt x="3295319" y="667575"/>
                  </a:lnTo>
                  <a:lnTo>
                    <a:pt x="3337255" y="653008"/>
                  </a:lnTo>
                  <a:lnTo>
                    <a:pt x="3376498" y="633310"/>
                  </a:lnTo>
                  <a:lnTo>
                    <a:pt x="3412642" y="608901"/>
                  </a:lnTo>
                  <a:lnTo>
                    <a:pt x="3445281" y="580174"/>
                  </a:lnTo>
                  <a:lnTo>
                    <a:pt x="3474008" y="547535"/>
                  </a:lnTo>
                  <a:lnTo>
                    <a:pt x="3498418" y="511390"/>
                  </a:lnTo>
                  <a:lnTo>
                    <a:pt x="3518116" y="472147"/>
                  </a:lnTo>
                  <a:lnTo>
                    <a:pt x="3532301" y="431292"/>
                  </a:lnTo>
                  <a:lnTo>
                    <a:pt x="6347460" y="431292"/>
                  </a:lnTo>
                  <a:lnTo>
                    <a:pt x="6371171" y="426504"/>
                  </a:lnTo>
                  <a:lnTo>
                    <a:pt x="6390551" y="413435"/>
                  </a:lnTo>
                  <a:lnTo>
                    <a:pt x="6403619" y="394055"/>
                  </a:lnTo>
                  <a:lnTo>
                    <a:pt x="6408420" y="370332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1556" y="5219478"/>
              <a:ext cx="261452" cy="228578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673720" y="5874258"/>
            <a:ext cx="5718810" cy="1217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60">
                <a:solidFill>
                  <a:srgbClr val="666666"/>
                </a:solidFill>
                <a:latin typeface="SimSun-ExtB"/>
                <a:cs typeface="SimSun-ExtB"/>
              </a:rPr>
              <a:t>6⭲alvLics</a:t>
            </a:r>
            <a:r>
              <a:rPr dirty="0" sz="2200" spc="-57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2200" spc="-10">
                <a:solidFill>
                  <a:srgbClr val="666666"/>
                </a:solidFill>
                <a:latin typeface="SimSun-ExtB"/>
                <a:cs typeface="SimSun-ExtB"/>
              </a:rPr>
              <a:t>Dashboaĩd</a:t>
            </a:r>
            <a:endParaRPr sz="2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Visualize</a:t>
            </a:r>
            <a:r>
              <a:rPr dirty="0" sz="17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5">
                <a:solidFill>
                  <a:srgbClr val="666666"/>
                </a:solidFill>
                <a:latin typeface="Verdana"/>
                <a:cs typeface="Verdana"/>
              </a:rPr>
              <a:t>trends,</a:t>
            </a:r>
            <a:r>
              <a:rPr dirty="0" sz="175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666666"/>
                </a:solidFill>
                <a:latin typeface="Verdana"/>
                <a:cs typeface="Verdana"/>
              </a:rPr>
              <a:t>profitability,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666666"/>
                </a:solidFill>
                <a:latin typeface="Verdana"/>
                <a:cs typeface="Verdana"/>
              </a:rPr>
              <a:t>yield</a:t>
            </a:r>
            <a:r>
              <a:rPr dirty="0" sz="175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performance,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7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666666"/>
                </a:solidFill>
                <a:latin typeface="Verdana"/>
                <a:cs typeface="Verdana"/>
              </a:rPr>
              <a:t>ROI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750" spc="-120">
                <a:solidFill>
                  <a:srgbClr val="666666"/>
                </a:solidFill>
                <a:latin typeface="Verdana"/>
                <a:cs typeface="Verdana"/>
              </a:rPr>
              <a:t>through</a:t>
            </a:r>
            <a:r>
              <a:rPr dirty="0" sz="17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0">
                <a:solidFill>
                  <a:srgbClr val="666666"/>
                </a:solidFill>
                <a:latin typeface="Verdana"/>
                <a:cs typeface="Verdana"/>
              </a:rPr>
              <a:t>interactive</a:t>
            </a:r>
            <a:r>
              <a:rPr dirty="0" sz="175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95">
                <a:solidFill>
                  <a:srgbClr val="666666"/>
                </a:solidFill>
                <a:latin typeface="Verdana"/>
                <a:cs typeface="Verdana"/>
              </a:rPr>
              <a:t>charts</a:t>
            </a:r>
            <a:r>
              <a:rPr dirty="0" sz="1750" spc="-1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14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75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Verdana"/>
                <a:cs typeface="Verdana"/>
              </a:rPr>
              <a:t>graphs.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95250" y="7721852"/>
            <a:ext cx="1741170" cy="400050"/>
            <a:chOff x="12795250" y="7721852"/>
            <a:chExt cx="1741170" cy="4000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1728215" y="0"/>
                  </a:moveTo>
                  <a:lnTo>
                    <a:pt x="0" y="0"/>
                  </a:lnTo>
                  <a:lnTo>
                    <a:pt x="0" y="387095"/>
                  </a:lnTo>
                  <a:lnTo>
                    <a:pt x="1728215" y="387095"/>
                  </a:lnTo>
                  <a:lnTo>
                    <a:pt x="1728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0" y="387095"/>
                  </a:moveTo>
                  <a:lnTo>
                    <a:pt x="1728215" y="387095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3870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7275" rIns="0" bIns="0" rtlCol="0" vert="horz">
            <a:spAutoFit/>
          </a:bodyPr>
          <a:lstStyle/>
          <a:p>
            <a:pPr marL="537845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Compĩehe⭲sive</a:t>
            </a:r>
            <a:r>
              <a:rPr dirty="0" spc="-944"/>
              <a:t> </a:t>
            </a:r>
            <a:r>
              <a:rPr dirty="0" spc="-400"/>
              <a:t>Faĩmeĩ</a:t>
            </a:r>
            <a:r>
              <a:rPr dirty="0" spc="-950"/>
              <a:t> </a:t>
            </a:r>
            <a:r>
              <a:rPr dirty="0" spc="-459"/>
              <a:t>PoĩLfolio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3480" y="2311907"/>
            <a:ext cx="7831835" cy="437083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7276" y="2321051"/>
            <a:ext cx="89916" cy="8839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664445" y="2202306"/>
            <a:ext cx="3732529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00">
                <a:solidFill>
                  <a:srgbClr val="666666"/>
                </a:solidFill>
                <a:latin typeface="SimSun-ExtB"/>
                <a:cs typeface="SimSun-ExtB"/>
              </a:rPr>
              <a:t>Faĩmeĩ</a:t>
            </a:r>
            <a:r>
              <a:rPr dirty="0" sz="1750" spc="-48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285">
                <a:solidFill>
                  <a:srgbClr val="666666"/>
                </a:solidFill>
                <a:latin typeface="SimSun-ExtB"/>
                <a:cs typeface="SimSun-ExtB"/>
              </a:rPr>
              <a:t>Pĩofile</a:t>
            </a:r>
            <a:endParaRPr sz="1750">
              <a:latin typeface="SimSun-ExtB"/>
              <a:cs typeface="SimSun-ExtB"/>
            </a:endParaRPr>
          </a:p>
          <a:p>
            <a:pPr marL="12700" marR="118745">
              <a:lnSpc>
                <a:spcPct val="119300"/>
              </a:lnSpc>
              <a:spcBef>
                <a:spcPts val="1060"/>
              </a:spcBef>
            </a:pP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Personal</a:t>
            </a:r>
            <a:r>
              <a:rPr dirty="0" sz="140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details,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farming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experience,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666666"/>
                </a:solidFill>
                <a:latin typeface="Verdana"/>
                <a:cs typeface="Verdana"/>
              </a:rPr>
              <a:t>contact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information,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certifications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 spc="-330">
                <a:solidFill>
                  <a:srgbClr val="666666"/>
                </a:solidFill>
                <a:latin typeface="SimSun-ExtB"/>
                <a:cs typeface="SimSun-ExtB"/>
              </a:rPr>
              <a:t>Ḻa⭲d</a:t>
            </a:r>
            <a:r>
              <a:rPr dirty="0" sz="1750" spc="-48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SimSun-ExtB"/>
                <a:cs typeface="SimSun-ExtB"/>
              </a:rPr>
              <a:t>DeLails</a:t>
            </a:r>
            <a:endParaRPr sz="1750">
              <a:latin typeface="SimSun-ExtB"/>
              <a:cs typeface="SimSun-ExtB"/>
            </a:endParaRPr>
          </a:p>
          <a:p>
            <a:pPr marL="12700" marR="120650">
              <a:lnSpc>
                <a:spcPct val="119300"/>
              </a:lnSpc>
              <a:spcBef>
                <a:spcPts val="1060"/>
              </a:spcBef>
            </a:pPr>
            <a:r>
              <a:rPr dirty="0" sz="1400" spc="-50">
                <a:solidFill>
                  <a:srgbClr val="666666"/>
                </a:solidFill>
                <a:latin typeface="Verdana"/>
                <a:cs typeface="Verdana"/>
              </a:rPr>
              <a:t>Field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locations,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666666"/>
                </a:solidFill>
                <a:latin typeface="Verdana"/>
                <a:cs typeface="Verdana"/>
              </a:rPr>
              <a:t>soil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type,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water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sources,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666666"/>
                </a:solidFill>
                <a:latin typeface="Verdana"/>
                <a:cs typeface="Verdana"/>
              </a:rPr>
              <a:t>total 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area,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0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land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ownership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documents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750" spc="-114">
                <a:solidFill>
                  <a:srgbClr val="666666"/>
                </a:solidFill>
                <a:latin typeface="SimSun-ExtB"/>
                <a:cs typeface="SimSun-ExtB"/>
              </a:rPr>
              <a:t>Cĩop</a:t>
            </a:r>
            <a:r>
              <a:rPr dirty="0" sz="1750" spc="-484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80">
                <a:solidFill>
                  <a:srgbClr val="666666"/>
                </a:solidFill>
                <a:latin typeface="SimSun-ExtB"/>
                <a:cs typeface="SimSun-ExtB"/>
              </a:rPr>
              <a:t>HisLoĩv</a:t>
            </a:r>
            <a:endParaRPr sz="17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Previous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66666"/>
                </a:solidFill>
                <a:latin typeface="Verdana"/>
                <a:cs typeface="Verdana"/>
              </a:rPr>
              <a:t>seasons'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crops,</a:t>
            </a:r>
            <a:r>
              <a:rPr dirty="0" sz="140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yields,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market</a:t>
            </a:r>
            <a:r>
              <a:rPr dirty="0" sz="140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666666"/>
                </a:solidFill>
                <a:latin typeface="Verdana"/>
                <a:cs typeface="Verdana"/>
              </a:rPr>
              <a:t>prices,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0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buyer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transactions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 spc="-215">
                <a:solidFill>
                  <a:srgbClr val="666666"/>
                </a:solidFill>
                <a:latin typeface="SimSun-ExtB"/>
                <a:cs typeface="SimSun-ExtB"/>
              </a:rPr>
              <a:t>PĩoducLio⭲</a:t>
            </a:r>
            <a:r>
              <a:rPr dirty="0" sz="1750" spc="-42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SimSun-ExtB"/>
                <a:cs typeface="SimSun-ExtB"/>
              </a:rPr>
              <a:t>Recoĩds</a:t>
            </a:r>
            <a:endParaRPr sz="1750">
              <a:latin typeface="SimSun-ExtB"/>
              <a:cs typeface="SimSun-ExtB"/>
            </a:endParaRPr>
          </a:p>
          <a:p>
            <a:pPr marL="12700" marR="295910">
              <a:lnSpc>
                <a:spcPct val="119300"/>
              </a:lnSpc>
              <a:spcBef>
                <a:spcPts val="1060"/>
              </a:spcBef>
            </a:pPr>
            <a:r>
              <a:rPr dirty="0" sz="1400" spc="-95">
                <a:solidFill>
                  <a:srgbClr val="666666"/>
                </a:solidFill>
                <a:latin typeface="Verdana"/>
                <a:cs typeface="Verdana"/>
              </a:rPr>
              <a:t>Current</a:t>
            </a:r>
            <a:r>
              <a:rPr dirty="0" sz="1400" spc="-1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season</a:t>
            </a:r>
            <a:r>
              <a:rPr dirty="0" sz="140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666666"/>
                </a:solidFill>
                <a:latin typeface="Verdana"/>
                <a:cs typeface="Verdana"/>
              </a:rPr>
              <a:t>progress,</a:t>
            </a:r>
            <a:r>
              <a:rPr dirty="0" sz="140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expected</a:t>
            </a:r>
            <a:r>
              <a:rPr dirty="0" sz="1400" spc="-1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666666"/>
                </a:solidFill>
                <a:latin typeface="Verdana"/>
                <a:cs typeface="Verdana"/>
              </a:rPr>
              <a:t>harvest </a:t>
            </a:r>
            <a:r>
              <a:rPr dirty="0" sz="1400" spc="-90">
                <a:solidFill>
                  <a:srgbClr val="666666"/>
                </a:solidFill>
                <a:latin typeface="Verdana"/>
                <a:cs typeface="Verdana"/>
              </a:rPr>
              <a:t>dates,</a:t>
            </a:r>
            <a:r>
              <a:rPr dirty="0" sz="140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00" spc="-1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666666"/>
                </a:solidFill>
                <a:latin typeface="Verdana"/>
                <a:cs typeface="Verdana"/>
              </a:rPr>
              <a:t>quality</a:t>
            </a:r>
            <a:r>
              <a:rPr dirty="0" sz="140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Verdana"/>
                <a:cs typeface="Verdana"/>
              </a:rPr>
              <a:t>assessments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7276" y="3526535"/>
            <a:ext cx="89916" cy="8839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47276" y="4732020"/>
            <a:ext cx="89916" cy="8839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47276" y="5937503"/>
            <a:ext cx="89916" cy="883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95250" y="7721852"/>
            <a:ext cx="1741170" cy="400050"/>
            <a:chOff x="12795250" y="7721852"/>
            <a:chExt cx="1741170" cy="4000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1728215" y="0"/>
                  </a:moveTo>
                  <a:lnTo>
                    <a:pt x="0" y="0"/>
                  </a:lnTo>
                  <a:lnTo>
                    <a:pt x="0" y="387095"/>
                  </a:lnTo>
                  <a:lnTo>
                    <a:pt x="1728215" y="387095"/>
                  </a:lnTo>
                  <a:lnTo>
                    <a:pt x="1728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801600" y="7728202"/>
              <a:ext cx="1728470" cy="387350"/>
            </a:xfrm>
            <a:custGeom>
              <a:avLst/>
              <a:gdLst/>
              <a:ahLst/>
              <a:cxnLst/>
              <a:rect l="l" t="t" r="r" b="b"/>
              <a:pathLst>
                <a:path w="1728469" h="387350">
                  <a:moveTo>
                    <a:pt x="0" y="387095"/>
                  </a:moveTo>
                  <a:lnTo>
                    <a:pt x="1728215" y="387095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3870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66110" y="464057"/>
            <a:ext cx="4345940" cy="3841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85"/>
              <a:t>Hech⭲ologv</a:t>
            </a:r>
            <a:r>
              <a:rPr dirty="0" sz="2350" spc="-615"/>
              <a:t> </a:t>
            </a:r>
            <a:r>
              <a:rPr dirty="0" sz="2350" spc="-45"/>
              <a:t>SLack</a:t>
            </a:r>
            <a:r>
              <a:rPr dirty="0" sz="2350" spc="-615"/>
              <a:t> </a:t>
            </a:r>
            <a:r>
              <a:rPr dirty="0" sz="2350" spc="-869"/>
              <a:t>”</a:t>
            </a:r>
            <a:r>
              <a:rPr dirty="0" sz="2350" spc="-615"/>
              <a:t> </a:t>
            </a:r>
            <a:r>
              <a:rPr dirty="0" sz="2350" spc="-305"/>
              <a:t>6ĩchiLecLuĩe</a:t>
            </a:r>
            <a:endParaRPr sz="2350"/>
          </a:p>
        </p:txBody>
      </p:sp>
      <p:sp>
        <p:nvSpPr>
          <p:cNvPr id="6" name="object 6" descr=""/>
          <p:cNvSpPr txBox="1"/>
          <p:nvPr/>
        </p:nvSpPr>
        <p:spPr>
          <a:xfrm>
            <a:off x="3166110" y="1003173"/>
            <a:ext cx="55860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03395" algn="l"/>
              </a:tabLst>
            </a:pPr>
            <a:r>
              <a:rPr dirty="0" sz="1400" spc="-55">
                <a:solidFill>
                  <a:srgbClr val="3E6EF3"/>
                </a:solidFill>
                <a:latin typeface="SimSun-ExtB"/>
                <a:cs typeface="SimSun-ExtB"/>
              </a:rPr>
              <a:t>Hech⭲ologv</a:t>
            </a:r>
            <a:r>
              <a:rPr dirty="0" sz="1400" spc="-330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1400" spc="-20">
                <a:solidFill>
                  <a:srgbClr val="3E6EF3"/>
                </a:solidFill>
                <a:latin typeface="SimSun-ExtB"/>
                <a:cs typeface="SimSun-ExtB"/>
              </a:rPr>
              <a:t>SLack</a:t>
            </a:r>
            <a:r>
              <a:rPr dirty="0" sz="1400">
                <a:solidFill>
                  <a:srgbClr val="3E6EF3"/>
                </a:solidFill>
                <a:latin typeface="SimSun-ExtB"/>
                <a:cs typeface="SimSun-ExtB"/>
              </a:rPr>
              <a:t>	</a:t>
            </a:r>
            <a:r>
              <a:rPr dirty="0" sz="1400" spc="-65">
                <a:solidFill>
                  <a:srgbClr val="3E6EF3"/>
                </a:solidFill>
                <a:latin typeface="SimSun-ExtB"/>
                <a:cs typeface="SimSun-ExtB"/>
              </a:rPr>
              <a:t>6I</a:t>
            </a:r>
            <a:r>
              <a:rPr dirty="0" sz="1400" spc="-380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1400" spc="55">
                <a:solidFill>
                  <a:srgbClr val="3E6EF3"/>
                </a:solidFill>
                <a:latin typeface="SimSun-ExtB"/>
                <a:cs typeface="SimSun-ExtB"/>
              </a:rPr>
              <a:t>ChaL</a:t>
            </a:r>
            <a:r>
              <a:rPr dirty="0" sz="1400" spc="-370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1400" spc="-80">
                <a:solidFill>
                  <a:srgbClr val="3E6EF3"/>
                </a:solidFill>
                <a:latin typeface="SimSun-ExtB"/>
                <a:cs typeface="SimSun-ExtB"/>
              </a:rPr>
              <a:t>SuppoĩL</a:t>
            </a:r>
            <a:endParaRPr sz="1400">
              <a:latin typeface="SimSun-ExtB"/>
              <a:cs typeface="SimSun-ExtB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179826" y="1319022"/>
            <a:ext cx="3990340" cy="1442085"/>
          </a:xfrm>
          <a:custGeom>
            <a:avLst/>
            <a:gdLst/>
            <a:ahLst/>
            <a:cxnLst/>
            <a:rect l="l" t="t" r="r" b="b"/>
            <a:pathLst>
              <a:path w="3990340" h="1442085">
                <a:moveTo>
                  <a:pt x="0" y="107950"/>
                </a:moveTo>
                <a:lnTo>
                  <a:pt x="8473" y="65901"/>
                </a:lnTo>
                <a:lnTo>
                  <a:pt x="31591" y="31591"/>
                </a:lnTo>
                <a:lnTo>
                  <a:pt x="65901" y="8473"/>
                </a:lnTo>
                <a:lnTo>
                  <a:pt x="107950" y="0"/>
                </a:lnTo>
                <a:lnTo>
                  <a:pt x="3881881" y="0"/>
                </a:lnTo>
                <a:lnTo>
                  <a:pt x="3923930" y="8473"/>
                </a:lnTo>
                <a:lnTo>
                  <a:pt x="3958240" y="31591"/>
                </a:lnTo>
                <a:lnTo>
                  <a:pt x="3981358" y="65901"/>
                </a:lnTo>
                <a:lnTo>
                  <a:pt x="3989831" y="107950"/>
                </a:lnTo>
                <a:lnTo>
                  <a:pt x="3989831" y="1333753"/>
                </a:lnTo>
                <a:lnTo>
                  <a:pt x="3981358" y="1375802"/>
                </a:lnTo>
                <a:lnTo>
                  <a:pt x="3958240" y="1410112"/>
                </a:lnTo>
                <a:lnTo>
                  <a:pt x="3923930" y="1433230"/>
                </a:lnTo>
                <a:lnTo>
                  <a:pt x="3881881" y="1441703"/>
                </a:lnTo>
                <a:lnTo>
                  <a:pt x="107950" y="1441703"/>
                </a:lnTo>
                <a:lnTo>
                  <a:pt x="65901" y="1433230"/>
                </a:lnTo>
                <a:lnTo>
                  <a:pt x="31591" y="1410112"/>
                </a:lnTo>
                <a:lnTo>
                  <a:pt x="8473" y="1375802"/>
                </a:lnTo>
                <a:lnTo>
                  <a:pt x="0" y="1333753"/>
                </a:lnTo>
                <a:lnTo>
                  <a:pt x="0" y="107950"/>
                </a:lnTo>
                <a:close/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3176016" y="1378781"/>
          <a:ext cx="4074160" cy="1374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3160"/>
                <a:gridCol w="2836544"/>
              </a:tblGrid>
              <a:tr h="178435">
                <a:tc>
                  <a:txBody>
                    <a:bodyPr/>
                    <a:lstStyle/>
                    <a:p>
                      <a:pPr marL="126364">
                        <a:lnSpc>
                          <a:spcPts val="975"/>
                        </a:lnSpc>
                      </a:pPr>
                      <a:r>
                        <a:rPr dirty="0" sz="900" spc="-10" b="1">
                          <a:solidFill>
                            <a:srgbClr val="666666"/>
                          </a:solidFill>
                          <a:latin typeface="Tahoma"/>
                          <a:cs typeface="Tahoma"/>
                        </a:rPr>
                        <a:t>Frontend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975"/>
                        </a:lnSpc>
                      </a:pPr>
                      <a:r>
                        <a:rPr dirty="0" sz="900" spc="-5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React</a:t>
                      </a:r>
                      <a:r>
                        <a:rPr dirty="0" sz="900" spc="-7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00" spc="-6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Native,</a:t>
                      </a:r>
                      <a:r>
                        <a:rPr dirty="0" sz="900" spc="-3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00" spc="-5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Tailwind</a:t>
                      </a:r>
                      <a:r>
                        <a:rPr dirty="0" sz="900" spc="-6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00" spc="-2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CSS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900" spc="-10" b="1">
                          <a:solidFill>
                            <a:srgbClr val="666666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900" spc="-7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Node.js,</a:t>
                      </a:r>
                      <a:r>
                        <a:rPr dirty="0" sz="900" spc="-2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00" spc="-1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Express.js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B="0" marT="45085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900" spc="-10" b="1">
                          <a:solidFill>
                            <a:srgbClr val="666666"/>
                          </a:solidFill>
                          <a:latin typeface="Tahoma"/>
                          <a:cs typeface="Tahoma"/>
                        </a:rPr>
                        <a:t>Database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900" spc="-6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PostgreSQL,</a:t>
                      </a:r>
                      <a:r>
                        <a:rPr dirty="0" sz="900" spc="-3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00" spc="-1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MongoDB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B="0" marT="4508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00" spc="-10" b="1">
                          <a:solidFill>
                            <a:srgbClr val="666666"/>
                          </a:solidFill>
                          <a:latin typeface="Tahoma"/>
                          <a:cs typeface="Tahoma"/>
                        </a:rPr>
                        <a:t>AI/ML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00" spc="-5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TensorFlow,</a:t>
                      </a:r>
                      <a:r>
                        <a:rPr dirty="0" sz="900" spc="-3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00" spc="-1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B="0" marT="4572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00" spc="-20" b="1">
                          <a:solidFill>
                            <a:srgbClr val="666666"/>
                          </a:solidFill>
                          <a:latin typeface="Tahoma"/>
                          <a:cs typeface="Tahoma"/>
                        </a:rPr>
                        <a:t>APIs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00" spc="-6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RESTful,</a:t>
                      </a:r>
                      <a:r>
                        <a:rPr dirty="0" sz="900" spc="-55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00" spc="-1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GraphQL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B="0" marT="4572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00" spc="-10" b="1">
                          <a:solidFill>
                            <a:srgbClr val="666666"/>
                          </a:solidFill>
                          <a:latin typeface="Tahoma"/>
                          <a:cs typeface="Tahoma"/>
                        </a:rPr>
                        <a:t>Cloud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00" spc="-8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AWS, </a:t>
                      </a:r>
                      <a:r>
                        <a:rPr dirty="0" sz="900" spc="-10">
                          <a:solidFill>
                            <a:srgbClr val="666666"/>
                          </a:solidFill>
                          <a:latin typeface="Verdana"/>
                          <a:cs typeface="Verdana"/>
                        </a:rPr>
                        <a:t>Firebase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B="0" marT="45720"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7457058" y="1282445"/>
            <a:ext cx="2114550" cy="78740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0"/>
              </a:spcBef>
              <a:buChar char="•"/>
              <a:tabLst>
                <a:tab pos="354965" algn="l"/>
              </a:tabLst>
            </a:pPr>
            <a:r>
              <a:rPr dirty="0" sz="900" spc="-55">
                <a:solidFill>
                  <a:srgbClr val="666666"/>
                </a:solidFill>
                <a:latin typeface="Verdana"/>
                <a:cs typeface="Verdana"/>
              </a:rPr>
              <a:t>24/7</a:t>
            </a:r>
            <a:r>
              <a:rPr dirty="0" sz="900" spc="-7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55">
                <a:solidFill>
                  <a:srgbClr val="666666"/>
                </a:solidFill>
                <a:latin typeface="Verdana"/>
                <a:cs typeface="Verdana"/>
              </a:rPr>
              <a:t>multilingual</a:t>
            </a:r>
            <a:r>
              <a:rPr dirty="0" sz="900" spc="-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666666"/>
                </a:solidFill>
                <a:latin typeface="Verdana"/>
                <a:cs typeface="Verdana"/>
              </a:rPr>
              <a:t>AI</a:t>
            </a: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666666"/>
                </a:solidFill>
                <a:latin typeface="Verdana"/>
                <a:cs typeface="Verdana"/>
              </a:rPr>
              <a:t>assistant</a:t>
            </a:r>
            <a:endParaRPr sz="9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Farming</a:t>
            </a:r>
            <a:r>
              <a:rPr dirty="0" sz="90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666666"/>
                </a:solidFill>
                <a:latin typeface="Verdana"/>
                <a:cs typeface="Verdana"/>
              </a:rPr>
              <a:t>advice</a:t>
            </a:r>
            <a:r>
              <a:rPr dirty="0" sz="9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900" spc="-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50">
                <a:solidFill>
                  <a:srgbClr val="666666"/>
                </a:solidFill>
                <a:latin typeface="Verdana"/>
                <a:cs typeface="Verdana"/>
              </a:rPr>
              <a:t>best</a:t>
            </a:r>
            <a:r>
              <a:rPr dirty="0" sz="900" spc="-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666666"/>
                </a:solidFill>
                <a:latin typeface="Verdana"/>
                <a:cs typeface="Verdana"/>
              </a:rPr>
              <a:t>practices</a:t>
            </a:r>
            <a:endParaRPr sz="9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dirty="0" sz="900" spc="-55">
                <a:solidFill>
                  <a:srgbClr val="666666"/>
                </a:solidFill>
                <a:latin typeface="Verdana"/>
                <a:cs typeface="Verdana"/>
              </a:rPr>
              <a:t>Disease</a:t>
            </a: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666666"/>
                </a:solidFill>
                <a:latin typeface="Verdana"/>
                <a:cs typeface="Verdana"/>
              </a:rPr>
              <a:t>diagnosis</a:t>
            </a:r>
            <a:r>
              <a:rPr dirty="0" sz="9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900" spc="-7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666666"/>
                </a:solidFill>
                <a:latin typeface="Verdana"/>
                <a:cs typeface="Verdana"/>
              </a:rPr>
              <a:t>solutions</a:t>
            </a:r>
            <a:endParaRPr sz="9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Weather</a:t>
            </a:r>
            <a:r>
              <a:rPr dirty="0" sz="900" spc="-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50">
                <a:solidFill>
                  <a:srgbClr val="666666"/>
                </a:solidFill>
                <a:latin typeface="Verdana"/>
                <a:cs typeface="Verdana"/>
              </a:rPr>
              <a:t>forecasts</a:t>
            </a:r>
            <a:r>
              <a:rPr dirty="0" sz="90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900" spc="-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666666"/>
                </a:solidFill>
                <a:latin typeface="Verdana"/>
                <a:cs typeface="Verdana"/>
              </a:rPr>
              <a:t>guidance</a:t>
            </a:r>
            <a:endParaRPr sz="9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dirty="0" sz="900" spc="-55">
                <a:solidFill>
                  <a:srgbClr val="666666"/>
                </a:solidFill>
                <a:latin typeface="Verdana"/>
                <a:cs typeface="Verdana"/>
              </a:rPr>
              <a:t>Market</a:t>
            </a:r>
            <a:r>
              <a:rPr dirty="0" sz="900" spc="-1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666666"/>
                </a:solidFill>
                <a:latin typeface="Verdana"/>
                <a:cs typeface="Verdana"/>
              </a:rPr>
              <a:t>updates</a:t>
            </a:r>
            <a:r>
              <a:rPr dirty="0" sz="900" spc="-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6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900" spc="-8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666666"/>
                </a:solidFill>
                <a:latin typeface="Verdana"/>
                <a:cs typeface="Verdana"/>
              </a:rPr>
              <a:t>trends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166110" y="2907538"/>
            <a:ext cx="16205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3E6EF3"/>
                </a:solidFill>
                <a:latin typeface="SimSun-ExtB"/>
                <a:cs typeface="SimSun-ExtB"/>
              </a:rPr>
              <a:t>SvsLem</a:t>
            </a:r>
            <a:r>
              <a:rPr dirty="0" sz="1400" spc="-140">
                <a:solidFill>
                  <a:srgbClr val="3E6EF3"/>
                </a:solidFill>
                <a:latin typeface="SimSun-ExtB"/>
                <a:cs typeface="SimSun-ExtB"/>
              </a:rPr>
              <a:t> </a:t>
            </a:r>
            <a:r>
              <a:rPr dirty="0" sz="1400" spc="-170">
                <a:solidFill>
                  <a:srgbClr val="3E6EF3"/>
                </a:solidFill>
                <a:latin typeface="SimSun-ExtB"/>
                <a:cs typeface="SimSun-ExtB"/>
              </a:rPr>
              <a:t>6ĩchiLecLuĩe</a:t>
            </a:r>
            <a:endParaRPr sz="1400">
              <a:latin typeface="SimSun-ExtB"/>
              <a:cs typeface="SimSun-ExtB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6505" y="3348955"/>
            <a:ext cx="5480254" cy="430764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875144" y="5216397"/>
            <a:ext cx="866775" cy="4756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17475" marR="5080" indent="-105410">
              <a:lnSpc>
                <a:spcPct val="103400"/>
              </a:lnSpc>
              <a:spcBef>
                <a:spcPts val="40"/>
              </a:spcBef>
            </a:pPr>
            <a:r>
              <a:rPr dirty="0" sz="1450" spc="90">
                <a:latin typeface="SimSun-ExtB"/>
                <a:cs typeface="SimSun-ExtB"/>
              </a:rPr>
              <a:t>DaLa</a:t>
            </a:r>
            <a:r>
              <a:rPr dirty="0" sz="1450" spc="-405">
                <a:latin typeface="SimSun-ExtB"/>
                <a:cs typeface="SimSun-ExtB"/>
              </a:rPr>
              <a:t> </a:t>
            </a:r>
            <a:r>
              <a:rPr dirty="0" sz="1450" spc="-20">
                <a:latin typeface="SimSun-ExtB"/>
                <a:cs typeface="SimSun-ExtB"/>
              </a:rPr>
              <a:t>Flow </a:t>
            </a:r>
            <a:r>
              <a:rPr dirty="0" sz="1450" spc="-105">
                <a:latin typeface="SimSun-ExtB"/>
                <a:cs typeface="SimSun-ExtB"/>
              </a:rPr>
              <a:t>Pipeli⭲e</a:t>
            </a:r>
            <a:endParaRPr sz="1450">
              <a:latin typeface="SimSun-ExtB"/>
              <a:cs typeface="SimSun-ExtB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942580" y="3580638"/>
            <a:ext cx="1229360" cy="842644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88900" marR="78740">
              <a:lnSpc>
                <a:spcPct val="103400"/>
              </a:lnSpc>
              <a:spcBef>
                <a:spcPts val="40"/>
              </a:spcBef>
            </a:pPr>
            <a:r>
              <a:rPr dirty="0" sz="1450">
                <a:latin typeface="SimSun-ExtB"/>
                <a:cs typeface="SimSun-ExtB"/>
              </a:rPr>
              <a:t>ReacL</a:t>
            </a:r>
            <a:r>
              <a:rPr dirty="0" sz="1450" spc="-260">
                <a:latin typeface="SimSun-ExtB"/>
                <a:cs typeface="SimSun-ExtB"/>
              </a:rPr>
              <a:t> </a:t>
            </a:r>
            <a:r>
              <a:rPr dirty="0" sz="1450" spc="-40">
                <a:latin typeface="SimSun-ExtB"/>
                <a:cs typeface="SimSun-ExtB"/>
              </a:rPr>
              <a:t>NaLive </a:t>
            </a:r>
            <a:r>
              <a:rPr dirty="0" sz="1450" spc="-275">
                <a:latin typeface="SimSun-ExtB"/>
                <a:cs typeface="SimSun-ExtB"/>
              </a:rPr>
              <a:t>Fĩo⭲Le⭲d</a:t>
            </a:r>
            <a:endParaRPr sz="1450">
              <a:latin typeface="SimSun-ExtB"/>
              <a:cs typeface="SimSun-ExtB"/>
            </a:endParaRPr>
          </a:p>
          <a:p>
            <a:pPr algn="ctr" marL="12700" marR="5080">
              <a:lnSpc>
                <a:spcPct val="79100"/>
              </a:lnSpc>
              <a:spcBef>
                <a:spcPts val="705"/>
              </a:spcBef>
            </a:pPr>
            <a:r>
              <a:rPr dirty="0" sz="1150" spc="-65">
                <a:latin typeface="Verdana"/>
                <a:cs typeface="Verdana"/>
              </a:rPr>
              <a:t>User</a:t>
            </a:r>
            <a:r>
              <a:rPr dirty="0" sz="1150" spc="-100">
                <a:latin typeface="Verdana"/>
                <a:cs typeface="Verdana"/>
              </a:rPr>
              <a:t> </a:t>
            </a:r>
            <a:r>
              <a:rPr dirty="0" sz="1150" spc="-60">
                <a:latin typeface="Verdana"/>
                <a:cs typeface="Verdana"/>
              </a:rPr>
              <a:t>interface</a:t>
            </a:r>
            <a:r>
              <a:rPr dirty="0" sz="1150" spc="-105">
                <a:latin typeface="Verdana"/>
                <a:cs typeface="Verdana"/>
              </a:rPr>
              <a:t> </a:t>
            </a:r>
            <a:r>
              <a:rPr dirty="0" sz="1150" spc="-50">
                <a:latin typeface="Verdana"/>
                <a:cs typeface="Verdana"/>
              </a:rPr>
              <a:t>and </a:t>
            </a:r>
            <a:r>
              <a:rPr dirty="0" sz="1150" spc="-10">
                <a:latin typeface="Verdana"/>
                <a:cs typeface="Verdana"/>
              </a:rPr>
              <a:t>input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63971" y="3635886"/>
            <a:ext cx="1338580" cy="6705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580"/>
              </a:spcBef>
            </a:pPr>
            <a:r>
              <a:rPr dirty="0" sz="1450" spc="-330">
                <a:latin typeface="SimSun-ExtB"/>
                <a:cs typeface="SimSun-ExtB"/>
              </a:rPr>
              <a:t>E…Leĩ⭲al</a:t>
            </a:r>
            <a:r>
              <a:rPr dirty="0" sz="1450" spc="-395">
                <a:latin typeface="SimSun-ExtB"/>
                <a:cs typeface="SimSun-ExtB"/>
              </a:rPr>
              <a:t> </a:t>
            </a:r>
            <a:r>
              <a:rPr dirty="0" sz="1450" spc="-20">
                <a:latin typeface="SimSun-ExtB"/>
                <a:cs typeface="SimSun-ExtB"/>
              </a:rPr>
              <a:t>6PIs</a:t>
            </a:r>
            <a:endParaRPr sz="1450">
              <a:latin typeface="SimSun-ExtB"/>
              <a:cs typeface="SimSun-ExtB"/>
            </a:endParaRPr>
          </a:p>
          <a:p>
            <a:pPr algn="ctr" marL="12700" marR="5080">
              <a:lnSpc>
                <a:spcPct val="79100"/>
              </a:lnSpc>
              <a:spcBef>
                <a:spcPts val="675"/>
              </a:spcBef>
            </a:pPr>
            <a:r>
              <a:rPr dirty="0" sz="1150" spc="-70">
                <a:latin typeface="Verdana"/>
                <a:cs typeface="Verdana"/>
              </a:rPr>
              <a:t>Market</a:t>
            </a:r>
            <a:r>
              <a:rPr dirty="0" sz="1150" spc="-114">
                <a:latin typeface="Verdana"/>
                <a:cs typeface="Verdana"/>
              </a:rPr>
              <a:t> </a:t>
            </a:r>
            <a:r>
              <a:rPr dirty="0" sz="1150" spc="-70">
                <a:latin typeface="Verdana"/>
                <a:cs typeface="Verdana"/>
              </a:rPr>
              <a:t>and</a:t>
            </a:r>
            <a:r>
              <a:rPr dirty="0" sz="1150" spc="-130">
                <a:latin typeface="Verdana"/>
                <a:cs typeface="Verdana"/>
              </a:rPr>
              <a:t> </a:t>
            </a:r>
            <a:r>
              <a:rPr dirty="0" sz="1150" spc="-60">
                <a:latin typeface="Verdana"/>
                <a:cs typeface="Verdana"/>
              </a:rPr>
              <a:t>weather </a:t>
            </a:r>
            <a:r>
              <a:rPr dirty="0" sz="1150" spc="-20">
                <a:latin typeface="Verdana"/>
                <a:cs typeface="Verdana"/>
              </a:rPr>
              <a:t>data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450840" y="6534657"/>
            <a:ext cx="1164590" cy="842644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170815" marR="162560">
              <a:lnSpc>
                <a:spcPct val="103499"/>
              </a:lnSpc>
              <a:spcBef>
                <a:spcPts val="40"/>
              </a:spcBef>
            </a:pPr>
            <a:r>
              <a:rPr dirty="0" sz="1450" spc="75">
                <a:latin typeface="SimSun-ExtB"/>
                <a:cs typeface="SimSun-ExtB"/>
              </a:rPr>
              <a:t>Mo⭲goDB </a:t>
            </a:r>
            <a:r>
              <a:rPr dirty="0" sz="1450" spc="55">
                <a:latin typeface="SimSun-ExtB"/>
                <a:cs typeface="SimSun-ExtB"/>
              </a:rPr>
              <a:t>DaLabase</a:t>
            </a:r>
            <a:endParaRPr sz="1450">
              <a:latin typeface="SimSun-ExtB"/>
              <a:cs typeface="SimSun-ExtB"/>
            </a:endParaRPr>
          </a:p>
          <a:p>
            <a:pPr algn="ctr" marL="12065" marR="5080">
              <a:lnSpc>
                <a:spcPct val="79100"/>
              </a:lnSpc>
              <a:spcBef>
                <a:spcPts val="705"/>
              </a:spcBef>
            </a:pPr>
            <a:r>
              <a:rPr dirty="0" sz="1150" spc="-80">
                <a:latin typeface="Verdana"/>
                <a:cs typeface="Verdana"/>
              </a:rPr>
              <a:t>Document-</a:t>
            </a:r>
            <a:r>
              <a:rPr dirty="0" sz="1150" spc="-55">
                <a:latin typeface="Verdana"/>
                <a:cs typeface="Verdana"/>
              </a:rPr>
              <a:t>based </a:t>
            </a:r>
            <a:r>
              <a:rPr dirty="0" sz="1150" spc="-10">
                <a:latin typeface="Verdana"/>
                <a:cs typeface="Verdana"/>
              </a:rPr>
              <a:t>storage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047735" y="6534657"/>
            <a:ext cx="1021080" cy="842644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12700" marR="5080">
              <a:lnSpc>
                <a:spcPct val="103499"/>
              </a:lnSpc>
              <a:spcBef>
                <a:spcPts val="40"/>
              </a:spcBef>
            </a:pPr>
            <a:r>
              <a:rPr dirty="0" sz="1450" spc="-90">
                <a:latin typeface="SimSun-ExtB"/>
                <a:cs typeface="SimSun-ExtB"/>
              </a:rPr>
              <a:t>PosLgĩeSQḺ </a:t>
            </a:r>
            <a:r>
              <a:rPr dirty="0" sz="1450" spc="55">
                <a:latin typeface="SimSun-ExtB"/>
                <a:cs typeface="SimSun-ExtB"/>
              </a:rPr>
              <a:t>DaLabase</a:t>
            </a:r>
            <a:endParaRPr sz="1450">
              <a:latin typeface="SimSun-ExtB"/>
              <a:cs typeface="SimSun-ExtB"/>
            </a:endParaRPr>
          </a:p>
          <a:p>
            <a:pPr algn="ctr" marL="15240" marR="8255">
              <a:lnSpc>
                <a:spcPct val="79100"/>
              </a:lnSpc>
              <a:spcBef>
                <a:spcPts val="705"/>
              </a:spcBef>
            </a:pPr>
            <a:r>
              <a:rPr dirty="0" sz="1150" spc="-60">
                <a:latin typeface="Verdana"/>
                <a:cs typeface="Verdana"/>
              </a:rPr>
              <a:t>Relational</a:t>
            </a:r>
            <a:r>
              <a:rPr dirty="0" sz="1150" spc="-55">
                <a:latin typeface="Verdana"/>
                <a:cs typeface="Verdana"/>
              </a:rPr>
              <a:t> </a:t>
            </a:r>
            <a:r>
              <a:rPr dirty="0" sz="1150" spc="-60">
                <a:latin typeface="Verdana"/>
                <a:cs typeface="Verdana"/>
              </a:rPr>
              <a:t>data </a:t>
            </a:r>
            <a:r>
              <a:rPr dirty="0" sz="1150" spc="-10">
                <a:latin typeface="Verdana"/>
                <a:cs typeface="Verdana"/>
              </a:rPr>
              <a:t>storage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427466" y="5092001"/>
            <a:ext cx="1385570" cy="67119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1450" spc="-50">
                <a:latin typeface="SimSun-ExtB"/>
                <a:cs typeface="SimSun-ExtB"/>
              </a:rPr>
              <a:t>Node.js</a:t>
            </a:r>
            <a:r>
              <a:rPr dirty="0" sz="1450" spc="-350">
                <a:latin typeface="SimSun-ExtB"/>
                <a:cs typeface="SimSun-ExtB"/>
              </a:rPr>
              <a:t> </a:t>
            </a:r>
            <a:r>
              <a:rPr dirty="0" sz="1450" spc="-10">
                <a:latin typeface="SimSun-ExtB"/>
                <a:cs typeface="SimSun-ExtB"/>
              </a:rPr>
              <a:t>Backe⭲d</a:t>
            </a:r>
            <a:endParaRPr sz="1450">
              <a:latin typeface="SimSun-ExtB"/>
              <a:cs typeface="SimSun-ExtB"/>
            </a:endParaRPr>
          </a:p>
          <a:p>
            <a:pPr algn="ctr" marL="180340" marR="174625">
              <a:lnSpc>
                <a:spcPct val="79100"/>
              </a:lnSpc>
              <a:spcBef>
                <a:spcPts val="675"/>
              </a:spcBef>
            </a:pPr>
            <a:r>
              <a:rPr dirty="0" sz="1150" spc="-35">
                <a:latin typeface="Verdana"/>
                <a:cs typeface="Verdana"/>
              </a:rPr>
              <a:t>API</a:t>
            </a:r>
            <a:r>
              <a:rPr dirty="0" sz="1150" spc="-110">
                <a:latin typeface="Verdana"/>
                <a:cs typeface="Verdana"/>
              </a:rPr>
              <a:t> </a:t>
            </a:r>
            <a:r>
              <a:rPr dirty="0" sz="1150" spc="-70">
                <a:latin typeface="Verdana"/>
                <a:cs typeface="Verdana"/>
              </a:rPr>
              <a:t>routing</a:t>
            </a:r>
            <a:r>
              <a:rPr dirty="0" sz="1150" spc="-114">
                <a:latin typeface="Verdana"/>
                <a:cs typeface="Verdana"/>
              </a:rPr>
              <a:t> </a:t>
            </a:r>
            <a:r>
              <a:rPr dirty="0" sz="1150" spc="-65">
                <a:latin typeface="Verdana"/>
                <a:cs typeface="Verdana"/>
              </a:rPr>
              <a:t>and </a:t>
            </a:r>
            <a:r>
              <a:rPr dirty="0" sz="1150" spc="-60">
                <a:latin typeface="Verdana"/>
                <a:cs typeface="Verdana"/>
              </a:rPr>
              <a:t>business</a:t>
            </a:r>
            <a:r>
              <a:rPr dirty="0" sz="1150" spc="-100">
                <a:latin typeface="Verdana"/>
                <a:cs typeface="Verdana"/>
              </a:rPr>
              <a:t> </a:t>
            </a:r>
            <a:r>
              <a:rPr dirty="0" sz="1150" spc="-10">
                <a:latin typeface="Verdana"/>
                <a:cs typeface="Verdana"/>
              </a:rPr>
              <a:t>logic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71973" y="5045202"/>
            <a:ext cx="1248410" cy="842644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40005" marR="31750">
              <a:lnSpc>
                <a:spcPct val="103400"/>
              </a:lnSpc>
              <a:spcBef>
                <a:spcPts val="40"/>
              </a:spcBef>
            </a:pPr>
            <a:r>
              <a:rPr dirty="0" sz="1450" spc="-125">
                <a:latin typeface="SimSun-ExtB"/>
                <a:cs typeface="SimSun-ExtB"/>
              </a:rPr>
              <a:t>He⭲soĩFlow</a:t>
            </a:r>
            <a:r>
              <a:rPr dirty="0" sz="1450" spc="-350">
                <a:latin typeface="SimSun-ExtB"/>
                <a:cs typeface="SimSun-ExtB"/>
              </a:rPr>
              <a:t> </a:t>
            </a:r>
            <a:r>
              <a:rPr dirty="0" sz="1450" spc="-65">
                <a:latin typeface="SimSun-ExtB"/>
                <a:cs typeface="SimSun-ExtB"/>
              </a:rPr>
              <a:t>6I </a:t>
            </a:r>
            <a:r>
              <a:rPr dirty="0" sz="1450" spc="55">
                <a:latin typeface="SimSun-ExtB"/>
                <a:cs typeface="SimSun-ExtB"/>
              </a:rPr>
              <a:t>Model</a:t>
            </a:r>
            <a:endParaRPr sz="1450">
              <a:latin typeface="SimSun-ExtB"/>
              <a:cs typeface="SimSun-ExtB"/>
            </a:endParaRPr>
          </a:p>
          <a:p>
            <a:pPr algn="ctr">
              <a:lnSpc>
                <a:spcPts val="1235"/>
              </a:lnSpc>
              <a:spcBef>
                <a:spcPts val="420"/>
              </a:spcBef>
            </a:pPr>
            <a:r>
              <a:rPr dirty="0" sz="1150" spc="-65">
                <a:latin typeface="Verdana"/>
                <a:cs typeface="Verdana"/>
              </a:rPr>
              <a:t>ML</a:t>
            </a:r>
            <a:r>
              <a:rPr dirty="0" sz="1150" spc="-100">
                <a:latin typeface="Verdana"/>
                <a:cs typeface="Verdana"/>
              </a:rPr>
              <a:t> </a:t>
            </a:r>
            <a:r>
              <a:rPr dirty="0" sz="1150" spc="-60">
                <a:latin typeface="Verdana"/>
                <a:cs typeface="Verdana"/>
              </a:rPr>
              <a:t>processing</a:t>
            </a:r>
            <a:r>
              <a:rPr dirty="0" sz="1150" spc="-105">
                <a:latin typeface="Verdana"/>
                <a:cs typeface="Verdana"/>
              </a:rPr>
              <a:t> </a:t>
            </a:r>
            <a:r>
              <a:rPr dirty="0" sz="1150" spc="-25">
                <a:latin typeface="Verdana"/>
                <a:cs typeface="Verdana"/>
              </a:rPr>
              <a:t>and</a:t>
            </a:r>
            <a:endParaRPr sz="1150">
              <a:latin typeface="Verdana"/>
              <a:cs typeface="Verdana"/>
            </a:endParaRPr>
          </a:p>
          <a:p>
            <a:pPr algn="ctr">
              <a:lnSpc>
                <a:spcPts val="1235"/>
              </a:lnSpc>
            </a:pPr>
            <a:r>
              <a:rPr dirty="0" sz="1150" spc="-10">
                <a:latin typeface="Verdana"/>
                <a:cs typeface="Verdana"/>
              </a:rPr>
              <a:t>inference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000" y="832866"/>
            <a:ext cx="45516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80"/>
              <a:t>FuLuĩe</a:t>
            </a:r>
            <a:r>
              <a:rPr dirty="0" sz="3600" spc="-990"/>
              <a:t> </a:t>
            </a:r>
            <a:r>
              <a:rPr dirty="0" sz="3600" spc="-550"/>
              <a:t>Visio⭲</a:t>
            </a:r>
            <a:r>
              <a:rPr dirty="0" sz="3600" spc="-994"/>
              <a:t> </a:t>
            </a:r>
            <a:r>
              <a:rPr dirty="0" sz="3600" spc="-1335"/>
              <a:t>”</a:t>
            </a:r>
            <a:r>
              <a:rPr dirty="0" sz="3600" spc="-990"/>
              <a:t> </a:t>
            </a:r>
            <a:r>
              <a:rPr dirty="0" sz="3600" spc="40"/>
              <a:t>ImpacL</a:t>
            </a:r>
            <a:endParaRPr sz="3600"/>
          </a:p>
        </p:txBody>
      </p:sp>
      <p:grpSp>
        <p:nvGrpSpPr>
          <p:cNvPr id="4" name="object 4" descr=""/>
          <p:cNvGrpSpPr/>
          <p:nvPr/>
        </p:nvGrpSpPr>
        <p:grpSpPr>
          <a:xfrm>
            <a:off x="644651" y="1664207"/>
            <a:ext cx="951230" cy="3756660"/>
            <a:chOff x="644651" y="1664207"/>
            <a:chExt cx="951230" cy="3756660"/>
          </a:xfrm>
        </p:grpSpPr>
        <p:sp>
          <p:nvSpPr>
            <p:cNvPr id="5" name="object 5" descr=""/>
            <p:cNvSpPr/>
            <p:nvPr/>
          </p:nvSpPr>
          <p:spPr>
            <a:xfrm>
              <a:off x="854964" y="1667255"/>
              <a:ext cx="741045" cy="3754120"/>
            </a:xfrm>
            <a:custGeom>
              <a:avLst/>
              <a:gdLst/>
              <a:ahLst/>
              <a:cxnLst/>
              <a:rect l="l" t="t" r="r" b="b"/>
              <a:pathLst>
                <a:path w="741044" h="3754120">
                  <a:moveTo>
                    <a:pt x="22860" y="5080"/>
                  </a:moveTo>
                  <a:lnTo>
                    <a:pt x="17741" y="0"/>
                  </a:lnTo>
                  <a:lnTo>
                    <a:pt x="5118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3748532"/>
                  </a:lnTo>
                  <a:lnTo>
                    <a:pt x="5118" y="3753612"/>
                  </a:lnTo>
                  <a:lnTo>
                    <a:pt x="17741" y="3753612"/>
                  </a:lnTo>
                  <a:lnTo>
                    <a:pt x="22860" y="3748532"/>
                  </a:lnTo>
                  <a:lnTo>
                    <a:pt x="22860" y="5080"/>
                  </a:lnTo>
                  <a:close/>
                </a:path>
                <a:path w="741044" h="3754120">
                  <a:moveTo>
                    <a:pt x="740664" y="203200"/>
                  </a:moveTo>
                  <a:lnTo>
                    <a:pt x="735584" y="198120"/>
                  </a:lnTo>
                  <a:lnTo>
                    <a:pt x="191046" y="198120"/>
                  </a:lnTo>
                  <a:lnTo>
                    <a:pt x="185928" y="203200"/>
                  </a:lnTo>
                  <a:lnTo>
                    <a:pt x="185928" y="209550"/>
                  </a:lnTo>
                  <a:lnTo>
                    <a:pt x="185928" y="215900"/>
                  </a:lnTo>
                  <a:lnTo>
                    <a:pt x="191046" y="220980"/>
                  </a:lnTo>
                  <a:lnTo>
                    <a:pt x="735584" y="220980"/>
                  </a:lnTo>
                  <a:lnTo>
                    <a:pt x="740664" y="215900"/>
                  </a:lnTo>
                  <a:lnTo>
                    <a:pt x="740664" y="20320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8461" y="1668017"/>
              <a:ext cx="416559" cy="417830"/>
            </a:xfrm>
            <a:custGeom>
              <a:avLst/>
              <a:gdLst/>
              <a:ahLst/>
              <a:cxnLst/>
              <a:rect l="l" t="t" r="r" b="b"/>
              <a:pathLst>
                <a:path w="416559" h="417830">
                  <a:moveTo>
                    <a:pt x="249605" y="417575"/>
                  </a:moveTo>
                  <a:lnTo>
                    <a:pt x="166446" y="417575"/>
                  </a:lnTo>
                  <a:lnTo>
                    <a:pt x="122199" y="411628"/>
                  </a:lnTo>
                  <a:lnTo>
                    <a:pt x="82438" y="394842"/>
                  </a:lnTo>
                  <a:lnTo>
                    <a:pt x="48752" y="368807"/>
                  </a:lnTo>
                  <a:lnTo>
                    <a:pt x="22725" y="335110"/>
                  </a:lnTo>
                  <a:lnTo>
                    <a:pt x="5945" y="295338"/>
                  </a:lnTo>
                  <a:lnTo>
                    <a:pt x="0" y="251079"/>
                  </a:lnTo>
                  <a:lnTo>
                    <a:pt x="0" y="166496"/>
                  </a:ln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7"/>
                  </a:lnTo>
                  <a:lnTo>
                    <a:pt x="82438" y="22732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</a:path>
                <a:path w="416559" h="417830">
                  <a:moveTo>
                    <a:pt x="249605" y="0"/>
                  </a:moveTo>
                  <a:lnTo>
                    <a:pt x="293852" y="5947"/>
                  </a:lnTo>
                  <a:lnTo>
                    <a:pt x="333613" y="22732"/>
                  </a:lnTo>
                  <a:lnTo>
                    <a:pt x="367299" y="48767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7"/>
                  </a:lnTo>
                  <a:lnTo>
                    <a:pt x="416051" y="251078"/>
                  </a:lnTo>
                  <a:lnTo>
                    <a:pt x="410106" y="295338"/>
                  </a:lnTo>
                  <a:lnTo>
                    <a:pt x="393326" y="335110"/>
                  </a:lnTo>
                  <a:lnTo>
                    <a:pt x="367299" y="368807"/>
                  </a:lnTo>
                  <a:lnTo>
                    <a:pt x="333613" y="394842"/>
                  </a:lnTo>
                  <a:lnTo>
                    <a:pt x="293852" y="411628"/>
                  </a:lnTo>
                  <a:lnTo>
                    <a:pt x="249605" y="417575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8461" y="1668017"/>
              <a:ext cx="416559" cy="417830"/>
            </a:xfrm>
            <a:custGeom>
              <a:avLst/>
              <a:gdLst/>
              <a:ahLst/>
              <a:cxnLst/>
              <a:rect l="l" t="t" r="r" b="b"/>
              <a:pathLst>
                <a:path w="416559" h="417830">
                  <a:moveTo>
                    <a:pt x="249605" y="0"/>
                  </a:moveTo>
                  <a:lnTo>
                    <a:pt x="166446" y="0"/>
                  </a:lnTo>
                  <a:lnTo>
                    <a:pt x="122199" y="5947"/>
                  </a:lnTo>
                  <a:lnTo>
                    <a:pt x="82438" y="22732"/>
                  </a:lnTo>
                  <a:lnTo>
                    <a:pt x="48752" y="48767"/>
                  </a:lnTo>
                  <a:lnTo>
                    <a:pt x="22725" y="82465"/>
                  </a:lnTo>
                  <a:lnTo>
                    <a:pt x="5945" y="122237"/>
                  </a:lnTo>
                  <a:lnTo>
                    <a:pt x="0" y="166496"/>
                  </a:lnTo>
                  <a:lnTo>
                    <a:pt x="0" y="251078"/>
                  </a:lnTo>
                  <a:lnTo>
                    <a:pt x="5945" y="295338"/>
                  </a:lnTo>
                  <a:lnTo>
                    <a:pt x="22725" y="335110"/>
                  </a:lnTo>
                  <a:lnTo>
                    <a:pt x="48752" y="368807"/>
                  </a:lnTo>
                  <a:lnTo>
                    <a:pt x="82438" y="394842"/>
                  </a:lnTo>
                  <a:lnTo>
                    <a:pt x="122199" y="411628"/>
                  </a:lnTo>
                  <a:lnTo>
                    <a:pt x="166446" y="417575"/>
                  </a:lnTo>
                  <a:lnTo>
                    <a:pt x="249605" y="417575"/>
                  </a:lnTo>
                  <a:lnTo>
                    <a:pt x="293852" y="411628"/>
                  </a:lnTo>
                  <a:lnTo>
                    <a:pt x="333613" y="394842"/>
                  </a:lnTo>
                  <a:lnTo>
                    <a:pt x="367299" y="368807"/>
                  </a:lnTo>
                  <a:lnTo>
                    <a:pt x="393326" y="335110"/>
                  </a:lnTo>
                  <a:lnTo>
                    <a:pt x="410106" y="295338"/>
                  </a:lnTo>
                  <a:lnTo>
                    <a:pt x="416051" y="251078"/>
                  </a:lnTo>
                  <a:lnTo>
                    <a:pt x="416051" y="166496"/>
                  </a:lnTo>
                  <a:lnTo>
                    <a:pt x="410106" y="122237"/>
                  </a:lnTo>
                  <a:lnTo>
                    <a:pt x="393326" y="82465"/>
                  </a:lnTo>
                  <a:lnTo>
                    <a:pt x="367299" y="48767"/>
                  </a:lnTo>
                  <a:lnTo>
                    <a:pt x="333613" y="22732"/>
                  </a:lnTo>
                  <a:lnTo>
                    <a:pt x="293852" y="5947"/>
                  </a:lnTo>
                  <a:lnTo>
                    <a:pt x="249605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8461" y="1668017"/>
              <a:ext cx="416559" cy="417830"/>
            </a:xfrm>
            <a:custGeom>
              <a:avLst/>
              <a:gdLst/>
              <a:ahLst/>
              <a:cxnLst/>
              <a:rect l="l" t="t" r="r" b="b"/>
              <a:pathLst>
                <a:path w="416559" h="417830">
                  <a:moveTo>
                    <a:pt x="0" y="166496"/>
                  </a:move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7"/>
                  </a:lnTo>
                  <a:lnTo>
                    <a:pt x="82438" y="22732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  <a:lnTo>
                    <a:pt x="293852" y="5947"/>
                  </a:lnTo>
                  <a:lnTo>
                    <a:pt x="333613" y="22732"/>
                  </a:lnTo>
                  <a:lnTo>
                    <a:pt x="367299" y="48767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6"/>
                  </a:lnTo>
                  <a:lnTo>
                    <a:pt x="416051" y="251078"/>
                  </a:lnTo>
                  <a:lnTo>
                    <a:pt x="410106" y="295338"/>
                  </a:lnTo>
                  <a:lnTo>
                    <a:pt x="393326" y="335110"/>
                  </a:lnTo>
                  <a:lnTo>
                    <a:pt x="367299" y="368807"/>
                  </a:lnTo>
                  <a:lnTo>
                    <a:pt x="333613" y="394842"/>
                  </a:lnTo>
                  <a:lnTo>
                    <a:pt x="293852" y="411628"/>
                  </a:lnTo>
                  <a:lnTo>
                    <a:pt x="249605" y="417575"/>
                  </a:lnTo>
                  <a:lnTo>
                    <a:pt x="166446" y="417575"/>
                  </a:lnTo>
                  <a:lnTo>
                    <a:pt x="122199" y="411628"/>
                  </a:lnTo>
                  <a:lnTo>
                    <a:pt x="82438" y="394842"/>
                  </a:lnTo>
                  <a:lnTo>
                    <a:pt x="48752" y="368807"/>
                  </a:lnTo>
                  <a:lnTo>
                    <a:pt x="22725" y="335110"/>
                  </a:lnTo>
                  <a:lnTo>
                    <a:pt x="5945" y="295338"/>
                  </a:lnTo>
                  <a:lnTo>
                    <a:pt x="0" y="251078"/>
                  </a:lnTo>
                  <a:lnTo>
                    <a:pt x="0" y="166496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98068" y="1627454"/>
            <a:ext cx="11557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420">
                <a:latin typeface="SimSun-ExtB"/>
                <a:cs typeface="SimSun-ExtB"/>
              </a:rPr>
              <a:t>L</a:t>
            </a:r>
            <a:endParaRPr sz="2150">
              <a:latin typeface="SimSun-ExtB"/>
              <a:cs typeface="SimSun-ExtB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68220" y="1549153"/>
            <a:ext cx="4975225" cy="812165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spc="65">
                <a:solidFill>
                  <a:srgbClr val="666666"/>
                </a:solidFill>
                <a:latin typeface="SimSun-ExtB"/>
                <a:cs typeface="SimSun-ExtB"/>
              </a:rPr>
              <a:t>Phase</a:t>
            </a:r>
            <a:r>
              <a:rPr dirty="0" sz="1800" spc="-48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365">
                <a:solidFill>
                  <a:srgbClr val="666666"/>
                </a:solidFill>
                <a:latin typeface="SimSun-ExtB"/>
                <a:cs typeface="SimSun-ExtB"/>
              </a:rPr>
              <a:t>L:</a:t>
            </a:r>
            <a:r>
              <a:rPr dirty="0" sz="1800" spc="-49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80">
                <a:solidFill>
                  <a:srgbClr val="666666"/>
                </a:solidFill>
                <a:latin typeface="SimSun-ExtB"/>
                <a:cs typeface="SimSun-ExtB"/>
              </a:rPr>
              <a:t>Ḻau⭲ch</a:t>
            </a:r>
            <a:endParaRPr sz="18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Core</a:t>
            </a:r>
            <a:r>
              <a:rPr dirty="0" sz="14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platform</a:t>
            </a:r>
            <a:r>
              <a:rPr dirty="0" sz="145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0">
                <a:solidFill>
                  <a:srgbClr val="666666"/>
                </a:solidFill>
                <a:latin typeface="Verdana"/>
                <a:cs typeface="Verdana"/>
              </a:rPr>
              <a:t>with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Verdana"/>
                <a:cs typeface="Verdana"/>
              </a:rPr>
              <a:t>AI</a:t>
            </a:r>
            <a:r>
              <a:rPr dirty="0" sz="14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5">
                <a:solidFill>
                  <a:srgbClr val="666666"/>
                </a:solidFill>
                <a:latin typeface="Verdana"/>
                <a:cs typeface="Verdana"/>
              </a:rPr>
              <a:t>yield</a:t>
            </a:r>
            <a:r>
              <a:rPr dirty="0" sz="14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5">
                <a:solidFill>
                  <a:srgbClr val="666666"/>
                </a:solidFill>
                <a:latin typeface="Verdana"/>
                <a:cs typeface="Verdana"/>
              </a:rPr>
              <a:t>prediction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0">
                <a:solidFill>
                  <a:srgbClr val="666666"/>
                </a:solidFill>
                <a:latin typeface="Verdana"/>
                <a:cs typeface="Verdana"/>
              </a:rPr>
              <a:t>disease</a:t>
            </a:r>
            <a:r>
              <a:rPr dirty="0" sz="1450" spc="-16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35">
                <a:solidFill>
                  <a:srgbClr val="666666"/>
                </a:solidFill>
                <a:latin typeface="Verdana"/>
                <a:cs typeface="Verdana"/>
              </a:rPr>
              <a:t>detection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44651" y="2679192"/>
            <a:ext cx="951230" cy="424180"/>
            <a:chOff x="644651" y="2679192"/>
            <a:chExt cx="951230" cy="424180"/>
          </a:xfrm>
        </p:grpSpPr>
        <p:sp>
          <p:nvSpPr>
            <p:cNvPr id="12" name="object 12" descr=""/>
            <p:cNvSpPr/>
            <p:nvPr/>
          </p:nvSpPr>
          <p:spPr>
            <a:xfrm>
              <a:off x="1040891" y="2878836"/>
              <a:ext cx="554990" cy="22860"/>
            </a:xfrm>
            <a:custGeom>
              <a:avLst/>
              <a:gdLst/>
              <a:ahLst/>
              <a:cxnLst/>
              <a:rect l="l" t="t" r="r" b="b"/>
              <a:pathLst>
                <a:path w="554990" h="22860">
                  <a:moveTo>
                    <a:pt x="549656" y="0"/>
                  </a:moveTo>
                  <a:lnTo>
                    <a:pt x="5118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118" y="22860"/>
                  </a:lnTo>
                  <a:lnTo>
                    <a:pt x="549656" y="22860"/>
                  </a:lnTo>
                  <a:lnTo>
                    <a:pt x="554736" y="17779"/>
                  </a:lnTo>
                  <a:lnTo>
                    <a:pt x="554736" y="5079"/>
                  </a:lnTo>
                  <a:lnTo>
                    <a:pt x="549656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8461" y="2683002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249605" y="416051"/>
                  </a:moveTo>
                  <a:lnTo>
                    <a:pt x="166446" y="416051"/>
                  </a:lnTo>
                  <a:lnTo>
                    <a:pt x="122199" y="410104"/>
                  </a:lnTo>
                  <a:lnTo>
                    <a:pt x="82438" y="393318"/>
                  </a:lnTo>
                  <a:lnTo>
                    <a:pt x="48752" y="367284"/>
                  </a:lnTo>
                  <a:lnTo>
                    <a:pt x="22725" y="333586"/>
                  </a:lnTo>
                  <a:lnTo>
                    <a:pt x="5945" y="293814"/>
                  </a:lnTo>
                  <a:lnTo>
                    <a:pt x="0" y="249555"/>
                  </a:lnTo>
                  <a:lnTo>
                    <a:pt x="0" y="166497"/>
                  </a:ln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7"/>
                  </a:lnTo>
                  <a:lnTo>
                    <a:pt x="82438" y="22733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</a:path>
                <a:path w="416559" h="416560">
                  <a:moveTo>
                    <a:pt x="249605" y="0"/>
                  </a:moveTo>
                  <a:lnTo>
                    <a:pt x="293852" y="5947"/>
                  </a:lnTo>
                  <a:lnTo>
                    <a:pt x="333613" y="22733"/>
                  </a:lnTo>
                  <a:lnTo>
                    <a:pt x="367299" y="48768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7"/>
                  </a:lnTo>
                  <a:lnTo>
                    <a:pt x="416051" y="249554"/>
                  </a:lnTo>
                  <a:lnTo>
                    <a:pt x="410106" y="293814"/>
                  </a:lnTo>
                  <a:lnTo>
                    <a:pt x="393326" y="333586"/>
                  </a:lnTo>
                  <a:lnTo>
                    <a:pt x="367299" y="367284"/>
                  </a:lnTo>
                  <a:lnTo>
                    <a:pt x="333613" y="393318"/>
                  </a:lnTo>
                  <a:lnTo>
                    <a:pt x="293852" y="410104"/>
                  </a:lnTo>
                  <a:lnTo>
                    <a:pt x="249605" y="416051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8461" y="2683002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249605" y="0"/>
                  </a:moveTo>
                  <a:lnTo>
                    <a:pt x="166446" y="0"/>
                  </a:lnTo>
                  <a:lnTo>
                    <a:pt x="122199" y="5947"/>
                  </a:lnTo>
                  <a:lnTo>
                    <a:pt x="82438" y="22733"/>
                  </a:lnTo>
                  <a:lnTo>
                    <a:pt x="48752" y="48768"/>
                  </a:lnTo>
                  <a:lnTo>
                    <a:pt x="22725" y="82465"/>
                  </a:lnTo>
                  <a:lnTo>
                    <a:pt x="5945" y="122237"/>
                  </a:lnTo>
                  <a:lnTo>
                    <a:pt x="0" y="166497"/>
                  </a:lnTo>
                  <a:lnTo>
                    <a:pt x="0" y="249555"/>
                  </a:lnTo>
                  <a:lnTo>
                    <a:pt x="5945" y="293814"/>
                  </a:lnTo>
                  <a:lnTo>
                    <a:pt x="22725" y="333586"/>
                  </a:lnTo>
                  <a:lnTo>
                    <a:pt x="48752" y="367284"/>
                  </a:lnTo>
                  <a:lnTo>
                    <a:pt x="82438" y="393319"/>
                  </a:lnTo>
                  <a:lnTo>
                    <a:pt x="122199" y="410104"/>
                  </a:lnTo>
                  <a:lnTo>
                    <a:pt x="166446" y="416051"/>
                  </a:lnTo>
                  <a:lnTo>
                    <a:pt x="249605" y="416051"/>
                  </a:lnTo>
                  <a:lnTo>
                    <a:pt x="293852" y="410104"/>
                  </a:lnTo>
                  <a:lnTo>
                    <a:pt x="333613" y="393318"/>
                  </a:lnTo>
                  <a:lnTo>
                    <a:pt x="367299" y="367283"/>
                  </a:lnTo>
                  <a:lnTo>
                    <a:pt x="393326" y="333586"/>
                  </a:lnTo>
                  <a:lnTo>
                    <a:pt x="410106" y="293814"/>
                  </a:lnTo>
                  <a:lnTo>
                    <a:pt x="416051" y="249555"/>
                  </a:lnTo>
                  <a:lnTo>
                    <a:pt x="416051" y="166497"/>
                  </a:lnTo>
                  <a:lnTo>
                    <a:pt x="410106" y="122237"/>
                  </a:lnTo>
                  <a:lnTo>
                    <a:pt x="393326" y="82465"/>
                  </a:lnTo>
                  <a:lnTo>
                    <a:pt x="367299" y="48768"/>
                  </a:lnTo>
                  <a:lnTo>
                    <a:pt x="333613" y="22733"/>
                  </a:lnTo>
                  <a:lnTo>
                    <a:pt x="293852" y="5947"/>
                  </a:lnTo>
                  <a:lnTo>
                    <a:pt x="249605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8461" y="2683002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0" y="166497"/>
                  </a:move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8"/>
                  </a:lnTo>
                  <a:lnTo>
                    <a:pt x="82438" y="22733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  <a:lnTo>
                    <a:pt x="293852" y="5947"/>
                  </a:lnTo>
                  <a:lnTo>
                    <a:pt x="333613" y="22733"/>
                  </a:lnTo>
                  <a:lnTo>
                    <a:pt x="367299" y="48768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7"/>
                  </a:lnTo>
                  <a:lnTo>
                    <a:pt x="416051" y="249555"/>
                  </a:lnTo>
                  <a:lnTo>
                    <a:pt x="410106" y="293814"/>
                  </a:lnTo>
                  <a:lnTo>
                    <a:pt x="393326" y="333586"/>
                  </a:lnTo>
                  <a:lnTo>
                    <a:pt x="367299" y="367283"/>
                  </a:lnTo>
                  <a:lnTo>
                    <a:pt x="333613" y="393318"/>
                  </a:lnTo>
                  <a:lnTo>
                    <a:pt x="293852" y="410104"/>
                  </a:lnTo>
                  <a:lnTo>
                    <a:pt x="249605" y="416051"/>
                  </a:lnTo>
                  <a:lnTo>
                    <a:pt x="166446" y="416051"/>
                  </a:lnTo>
                  <a:lnTo>
                    <a:pt x="122199" y="410104"/>
                  </a:lnTo>
                  <a:lnTo>
                    <a:pt x="82438" y="393319"/>
                  </a:lnTo>
                  <a:lnTo>
                    <a:pt x="48752" y="367284"/>
                  </a:lnTo>
                  <a:lnTo>
                    <a:pt x="22725" y="333586"/>
                  </a:lnTo>
                  <a:lnTo>
                    <a:pt x="5945" y="293814"/>
                  </a:lnTo>
                  <a:lnTo>
                    <a:pt x="0" y="249555"/>
                  </a:lnTo>
                  <a:lnTo>
                    <a:pt x="0" y="166497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69112" y="2641854"/>
            <a:ext cx="17272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25">
                <a:latin typeface="SimSun-ExtB"/>
                <a:cs typeface="SimSun-ExtB"/>
              </a:rPr>
              <a:t>?</a:t>
            </a:r>
            <a:endParaRPr sz="2150">
              <a:latin typeface="SimSun-ExtB"/>
              <a:cs typeface="SimSun-ExtB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768220" y="2562265"/>
            <a:ext cx="4907915" cy="81280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800" spc="60">
                <a:solidFill>
                  <a:srgbClr val="666666"/>
                </a:solidFill>
                <a:latin typeface="SimSun-ExtB"/>
                <a:cs typeface="SimSun-ExtB"/>
              </a:rPr>
              <a:t>Phase</a:t>
            </a:r>
            <a:r>
              <a:rPr dirty="0" sz="1800" spc="-46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180">
                <a:solidFill>
                  <a:srgbClr val="666666"/>
                </a:solidFill>
                <a:latin typeface="SimSun-ExtB"/>
                <a:cs typeface="SimSun-ExtB"/>
              </a:rPr>
              <a:t>?:</a:t>
            </a:r>
            <a:r>
              <a:rPr dirty="0" sz="1800" spc="-48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45">
                <a:solidFill>
                  <a:srgbClr val="666666"/>
                </a:solidFill>
                <a:latin typeface="SimSun-ExtB"/>
                <a:cs typeface="SimSun-ExtB"/>
              </a:rPr>
              <a:t>IoH</a:t>
            </a:r>
            <a:r>
              <a:rPr dirty="0" sz="1800" spc="-49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360">
                <a:solidFill>
                  <a:srgbClr val="666666"/>
                </a:solidFill>
                <a:latin typeface="SimSun-ExtB"/>
                <a:cs typeface="SimSun-ExtB"/>
              </a:rPr>
              <a:t>I⭲LegĩaLio⭲</a:t>
            </a:r>
            <a:endParaRPr sz="18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50" spc="-75">
                <a:solidFill>
                  <a:srgbClr val="666666"/>
                </a:solidFill>
                <a:latin typeface="Verdana"/>
                <a:cs typeface="Verdana"/>
              </a:rPr>
              <a:t>Soil</a:t>
            </a:r>
            <a:r>
              <a:rPr dirty="0" sz="14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sensors,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weather</a:t>
            </a:r>
            <a:r>
              <a:rPr dirty="0" sz="1450" spc="-1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stations,</a:t>
            </a:r>
            <a:r>
              <a:rPr dirty="0" sz="14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Verdana"/>
                <a:cs typeface="Verdana"/>
              </a:rPr>
              <a:t>automated</a:t>
            </a:r>
            <a:r>
              <a:rPr dirty="0" sz="145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irrigation</a:t>
            </a: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25">
                <a:solidFill>
                  <a:srgbClr val="666666"/>
                </a:solidFill>
                <a:latin typeface="Verdana"/>
                <a:cs typeface="Verdana"/>
              </a:rPr>
              <a:t>control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44651" y="3692652"/>
            <a:ext cx="951230" cy="424180"/>
            <a:chOff x="644651" y="3692652"/>
            <a:chExt cx="951230" cy="424180"/>
          </a:xfrm>
        </p:grpSpPr>
        <p:sp>
          <p:nvSpPr>
            <p:cNvPr id="19" name="object 19" descr=""/>
            <p:cNvSpPr/>
            <p:nvPr/>
          </p:nvSpPr>
          <p:spPr>
            <a:xfrm>
              <a:off x="1040891" y="3892296"/>
              <a:ext cx="554990" cy="22860"/>
            </a:xfrm>
            <a:custGeom>
              <a:avLst/>
              <a:gdLst/>
              <a:ahLst/>
              <a:cxnLst/>
              <a:rect l="l" t="t" r="r" b="b"/>
              <a:pathLst>
                <a:path w="554990" h="22860">
                  <a:moveTo>
                    <a:pt x="549656" y="0"/>
                  </a:moveTo>
                  <a:lnTo>
                    <a:pt x="5118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118" y="22859"/>
                  </a:lnTo>
                  <a:lnTo>
                    <a:pt x="549656" y="22859"/>
                  </a:lnTo>
                  <a:lnTo>
                    <a:pt x="554736" y="17779"/>
                  </a:lnTo>
                  <a:lnTo>
                    <a:pt x="554736" y="5079"/>
                  </a:lnTo>
                  <a:lnTo>
                    <a:pt x="549656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8461" y="3696462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249605" y="416051"/>
                  </a:moveTo>
                  <a:lnTo>
                    <a:pt x="166446" y="416051"/>
                  </a:lnTo>
                  <a:lnTo>
                    <a:pt x="122199" y="410104"/>
                  </a:lnTo>
                  <a:lnTo>
                    <a:pt x="82438" y="393319"/>
                  </a:lnTo>
                  <a:lnTo>
                    <a:pt x="48752" y="367284"/>
                  </a:lnTo>
                  <a:lnTo>
                    <a:pt x="22725" y="333586"/>
                  </a:lnTo>
                  <a:lnTo>
                    <a:pt x="5945" y="293814"/>
                  </a:lnTo>
                  <a:lnTo>
                    <a:pt x="0" y="249554"/>
                  </a:lnTo>
                  <a:lnTo>
                    <a:pt x="0" y="166497"/>
                  </a:ln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7"/>
                  </a:lnTo>
                  <a:lnTo>
                    <a:pt x="82438" y="22732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</a:path>
                <a:path w="416559" h="416560">
                  <a:moveTo>
                    <a:pt x="249605" y="0"/>
                  </a:moveTo>
                  <a:lnTo>
                    <a:pt x="293852" y="5947"/>
                  </a:lnTo>
                  <a:lnTo>
                    <a:pt x="333613" y="22732"/>
                  </a:lnTo>
                  <a:lnTo>
                    <a:pt x="367299" y="48767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7"/>
                  </a:lnTo>
                  <a:lnTo>
                    <a:pt x="416051" y="249554"/>
                  </a:lnTo>
                  <a:lnTo>
                    <a:pt x="410106" y="293814"/>
                  </a:lnTo>
                  <a:lnTo>
                    <a:pt x="393326" y="333586"/>
                  </a:lnTo>
                  <a:lnTo>
                    <a:pt x="367299" y="367284"/>
                  </a:lnTo>
                  <a:lnTo>
                    <a:pt x="333613" y="393319"/>
                  </a:lnTo>
                  <a:lnTo>
                    <a:pt x="293852" y="410104"/>
                  </a:lnTo>
                  <a:lnTo>
                    <a:pt x="249605" y="416051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8461" y="3696462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249605" y="0"/>
                  </a:moveTo>
                  <a:lnTo>
                    <a:pt x="166446" y="0"/>
                  </a:lnTo>
                  <a:lnTo>
                    <a:pt x="122199" y="5947"/>
                  </a:lnTo>
                  <a:lnTo>
                    <a:pt x="82438" y="22732"/>
                  </a:lnTo>
                  <a:lnTo>
                    <a:pt x="48752" y="48767"/>
                  </a:lnTo>
                  <a:lnTo>
                    <a:pt x="22725" y="82465"/>
                  </a:lnTo>
                  <a:lnTo>
                    <a:pt x="5945" y="122237"/>
                  </a:lnTo>
                  <a:lnTo>
                    <a:pt x="0" y="166497"/>
                  </a:lnTo>
                  <a:lnTo>
                    <a:pt x="0" y="249554"/>
                  </a:lnTo>
                  <a:lnTo>
                    <a:pt x="5945" y="293814"/>
                  </a:lnTo>
                  <a:lnTo>
                    <a:pt x="22725" y="333586"/>
                  </a:lnTo>
                  <a:lnTo>
                    <a:pt x="48752" y="367284"/>
                  </a:lnTo>
                  <a:lnTo>
                    <a:pt x="82438" y="393319"/>
                  </a:lnTo>
                  <a:lnTo>
                    <a:pt x="122199" y="410104"/>
                  </a:lnTo>
                  <a:lnTo>
                    <a:pt x="166446" y="416051"/>
                  </a:lnTo>
                  <a:lnTo>
                    <a:pt x="249605" y="416051"/>
                  </a:lnTo>
                  <a:lnTo>
                    <a:pt x="293852" y="410104"/>
                  </a:lnTo>
                  <a:lnTo>
                    <a:pt x="333613" y="393319"/>
                  </a:lnTo>
                  <a:lnTo>
                    <a:pt x="367299" y="367284"/>
                  </a:lnTo>
                  <a:lnTo>
                    <a:pt x="393326" y="333586"/>
                  </a:lnTo>
                  <a:lnTo>
                    <a:pt x="410106" y="293814"/>
                  </a:lnTo>
                  <a:lnTo>
                    <a:pt x="416051" y="249554"/>
                  </a:lnTo>
                  <a:lnTo>
                    <a:pt x="416051" y="166497"/>
                  </a:lnTo>
                  <a:lnTo>
                    <a:pt x="410106" y="122237"/>
                  </a:lnTo>
                  <a:lnTo>
                    <a:pt x="393326" y="82465"/>
                  </a:lnTo>
                  <a:lnTo>
                    <a:pt x="367299" y="48767"/>
                  </a:lnTo>
                  <a:lnTo>
                    <a:pt x="333613" y="22732"/>
                  </a:lnTo>
                  <a:lnTo>
                    <a:pt x="293852" y="5947"/>
                  </a:lnTo>
                  <a:lnTo>
                    <a:pt x="249605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48461" y="3696462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0" y="166497"/>
                  </a:move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7"/>
                  </a:lnTo>
                  <a:lnTo>
                    <a:pt x="82438" y="22732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  <a:lnTo>
                    <a:pt x="293852" y="5947"/>
                  </a:lnTo>
                  <a:lnTo>
                    <a:pt x="333613" y="22732"/>
                  </a:lnTo>
                  <a:lnTo>
                    <a:pt x="367299" y="48767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7"/>
                  </a:lnTo>
                  <a:lnTo>
                    <a:pt x="416051" y="249554"/>
                  </a:lnTo>
                  <a:lnTo>
                    <a:pt x="410106" y="293814"/>
                  </a:lnTo>
                  <a:lnTo>
                    <a:pt x="393326" y="333586"/>
                  </a:lnTo>
                  <a:lnTo>
                    <a:pt x="367299" y="367284"/>
                  </a:lnTo>
                  <a:lnTo>
                    <a:pt x="333613" y="393319"/>
                  </a:lnTo>
                  <a:lnTo>
                    <a:pt x="293852" y="410104"/>
                  </a:lnTo>
                  <a:lnTo>
                    <a:pt x="249605" y="416051"/>
                  </a:lnTo>
                  <a:lnTo>
                    <a:pt x="166446" y="416051"/>
                  </a:lnTo>
                  <a:lnTo>
                    <a:pt x="122199" y="410104"/>
                  </a:lnTo>
                  <a:lnTo>
                    <a:pt x="82438" y="393319"/>
                  </a:lnTo>
                  <a:lnTo>
                    <a:pt x="48752" y="367284"/>
                  </a:lnTo>
                  <a:lnTo>
                    <a:pt x="22725" y="333586"/>
                  </a:lnTo>
                  <a:lnTo>
                    <a:pt x="5945" y="293814"/>
                  </a:lnTo>
                  <a:lnTo>
                    <a:pt x="0" y="249554"/>
                  </a:lnTo>
                  <a:lnTo>
                    <a:pt x="0" y="166497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70636" y="3655567"/>
            <a:ext cx="17081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10">
                <a:latin typeface="SimSun-ExtB"/>
                <a:cs typeface="SimSun-ExtB"/>
              </a:rPr>
              <a:t>3</a:t>
            </a:r>
            <a:endParaRPr sz="2150">
              <a:latin typeface="SimSun-ExtB"/>
              <a:cs typeface="SimSun-ExtB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68220" y="3577919"/>
            <a:ext cx="4717415" cy="81089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1800" spc="65">
                <a:solidFill>
                  <a:srgbClr val="666666"/>
                </a:solidFill>
                <a:latin typeface="SimSun-ExtB"/>
                <a:cs typeface="SimSun-ExtB"/>
              </a:rPr>
              <a:t>Phase</a:t>
            </a:r>
            <a:r>
              <a:rPr dirty="0" sz="1800" spc="-48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180">
                <a:solidFill>
                  <a:srgbClr val="666666"/>
                </a:solidFill>
                <a:latin typeface="SimSun-ExtB"/>
                <a:cs typeface="SimSun-ExtB"/>
              </a:rPr>
              <a:t>3:</a:t>
            </a:r>
            <a:r>
              <a:rPr dirty="0" sz="1800" spc="-49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265">
                <a:solidFill>
                  <a:srgbClr val="666666"/>
                </a:solidFill>
                <a:latin typeface="SimSun-ExtB"/>
                <a:cs typeface="SimSun-ExtB"/>
              </a:rPr>
              <a:t>Dĩo⭲e</a:t>
            </a:r>
            <a:r>
              <a:rPr dirty="0" sz="1800" spc="-495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325">
                <a:solidFill>
                  <a:srgbClr val="666666"/>
                </a:solidFill>
                <a:latin typeface="SimSun-ExtB"/>
                <a:cs typeface="SimSun-ExtB"/>
              </a:rPr>
              <a:t>Mo⭲iLoĩi⭲g</a:t>
            </a:r>
            <a:endParaRPr sz="18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450" spc="-70">
                <a:solidFill>
                  <a:srgbClr val="666666"/>
                </a:solidFill>
                <a:latin typeface="Verdana"/>
                <a:cs typeface="Verdana"/>
              </a:rPr>
              <a:t>Aerial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0">
                <a:solidFill>
                  <a:srgbClr val="666666"/>
                </a:solidFill>
                <a:latin typeface="Verdana"/>
                <a:cs typeface="Verdana"/>
              </a:rPr>
              <a:t>crop</a:t>
            </a:r>
            <a:r>
              <a:rPr dirty="0" sz="14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analysis,</a:t>
            </a:r>
            <a:r>
              <a:rPr dirty="0" sz="145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Verdana"/>
                <a:cs typeface="Verdana"/>
              </a:rPr>
              <a:t>NDVI</a:t>
            </a:r>
            <a:r>
              <a:rPr dirty="0" sz="145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105">
                <a:solidFill>
                  <a:srgbClr val="666666"/>
                </a:solidFill>
                <a:latin typeface="Verdana"/>
                <a:cs typeface="Verdana"/>
              </a:rPr>
              <a:t>mapping,</a:t>
            </a:r>
            <a:r>
              <a:rPr dirty="0" sz="145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0">
                <a:solidFill>
                  <a:srgbClr val="666666"/>
                </a:solidFill>
                <a:latin typeface="Verdana"/>
                <a:cs typeface="Verdana"/>
              </a:rPr>
              <a:t>precision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60">
                <a:solidFill>
                  <a:srgbClr val="666666"/>
                </a:solidFill>
                <a:latin typeface="Verdana"/>
                <a:cs typeface="Verdana"/>
              </a:rPr>
              <a:t>agriculture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44651" y="4706111"/>
            <a:ext cx="951230" cy="424180"/>
            <a:chOff x="644651" y="4706111"/>
            <a:chExt cx="951230" cy="424180"/>
          </a:xfrm>
        </p:grpSpPr>
        <p:sp>
          <p:nvSpPr>
            <p:cNvPr id="26" name="object 26" descr=""/>
            <p:cNvSpPr/>
            <p:nvPr/>
          </p:nvSpPr>
          <p:spPr>
            <a:xfrm>
              <a:off x="1040891" y="4905755"/>
              <a:ext cx="554990" cy="22860"/>
            </a:xfrm>
            <a:custGeom>
              <a:avLst/>
              <a:gdLst/>
              <a:ahLst/>
              <a:cxnLst/>
              <a:rect l="l" t="t" r="r" b="b"/>
              <a:pathLst>
                <a:path w="554990" h="22860">
                  <a:moveTo>
                    <a:pt x="549656" y="0"/>
                  </a:moveTo>
                  <a:lnTo>
                    <a:pt x="5118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118" y="22860"/>
                  </a:lnTo>
                  <a:lnTo>
                    <a:pt x="549656" y="22860"/>
                  </a:lnTo>
                  <a:lnTo>
                    <a:pt x="554736" y="17780"/>
                  </a:lnTo>
                  <a:lnTo>
                    <a:pt x="554736" y="5080"/>
                  </a:lnTo>
                  <a:lnTo>
                    <a:pt x="549656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8461" y="4709921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249605" y="416051"/>
                  </a:moveTo>
                  <a:lnTo>
                    <a:pt x="166446" y="416051"/>
                  </a:lnTo>
                  <a:lnTo>
                    <a:pt x="122199" y="410104"/>
                  </a:lnTo>
                  <a:lnTo>
                    <a:pt x="82438" y="393319"/>
                  </a:lnTo>
                  <a:lnTo>
                    <a:pt x="48752" y="367283"/>
                  </a:lnTo>
                  <a:lnTo>
                    <a:pt x="22725" y="333586"/>
                  </a:lnTo>
                  <a:lnTo>
                    <a:pt x="5945" y="293814"/>
                  </a:lnTo>
                  <a:lnTo>
                    <a:pt x="0" y="249554"/>
                  </a:lnTo>
                  <a:lnTo>
                    <a:pt x="0" y="166497"/>
                  </a:ln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8"/>
                  </a:lnTo>
                  <a:lnTo>
                    <a:pt x="82438" y="22733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</a:path>
                <a:path w="416559" h="416560">
                  <a:moveTo>
                    <a:pt x="249605" y="0"/>
                  </a:moveTo>
                  <a:lnTo>
                    <a:pt x="293852" y="5947"/>
                  </a:lnTo>
                  <a:lnTo>
                    <a:pt x="333613" y="22733"/>
                  </a:lnTo>
                  <a:lnTo>
                    <a:pt x="367299" y="48768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7"/>
                  </a:lnTo>
                  <a:lnTo>
                    <a:pt x="416051" y="249554"/>
                  </a:lnTo>
                  <a:lnTo>
                    <a:pt x="410106" y="293814"/>
                  </a:lnTo>
                  <a:lnTo>
                    <a:pt x="393326" y="333586"/>
                  </a:lnTo>
                  <a:lnTo>
                    <a:pt x="367299" y="367283"/>
                  </a:lnTo>
                  <a:lnTo>
                    <a:pt x="333613" y="393319"/>
                  </a:lnTo>
                  <a:lnTo>
                    <a:pt x="293852" y="410104"/>
                  </a:lnTo>
                  <a:lnTo>
                    <a:pt x="249605" y="416051"/>
                  </a:lnTo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48461" y="4709921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249605" y="0"/>
                  </a:moveTo>
                  <a:lnTo>
                    <a:pt x="166446" y="0"/>
                  </a:lnTo>
                  <a:lnTo>
                    <a:pt x="122199" y="5947"/>
                  </a:lnTo>
                  <a:lnTo>
                    <a:pt x="82438" y="22733"/>
                  </a:lnTo>
                  <a:lnTo>
                    <a:pt x="48752" y="48768"/>
                  </a:lnTo>
                  <a:lnTo>
                    <a:pt x="22725" y="82465"/>
                  </a:lnTo>
                  <a:lnTo>
                    <a:pt x="5945" y="122237"/>
                  </a:lnTo>
                  <a:lnTo>
                    <a:pt x="0" y="166497"/>
                  </a:lnTo>
                  <a:lnTo>
                    <a:pt x="0" y="249554"/>
                  </a:lnTo>
                  <a:lnTo>
                    <a:pt x="5945" y="293814"/>
                  </a:lnTo>
                  <a:lnTo>
                    <a:pt x="22725" y="333586"/>
                  </a:lnTo>
                  <a:lnTo>
                    <a:pt x="48752" y="367283"/>
                  </a:lnTo>
                  <a:lnTo>
                    <a:pt x="82438" y="393319"/>
                  </a:lnTo>
                  <a:lnTo>
                    <a:pt x="122199" y="410104"/>
                  </a:lnTo>
                  <a:lnTo>
                    <a:pt x="166446" y="416051"/>
                  </a:lnTo>
                  <a:lnTo>
                    <a:pt x="249605" y="416051"/>
                  </a:lnTo>
                  <a:lnTo>
                    <a:pt x="293852" y="410104"/>
                  </a:lnTo>
                  <a:lnTo>
                    <a:pt x="333613" y="393319"/>
                  </a:lnTo>
                  <a:lnTo>
                    <a:pt x="367299" y="367283"/>
                  </a:lnTo>
                  <a:lnTo>
                    <a:pt x="393326" y="333586"/>
                  </a:lnTo>
                  <a:lnTo>
                    <a:pt x="410106" y="293814"/>
                  </a:lnTo>
                  <a:lnTo>
                    <a:pt x="416051" y="249554"/>
                  </a:lnTo>
                  <a:lnTo>
                    <a:pt x="416051" y="166497"/>
                  </a:lnTo>
                  <a:lnTo>
                    <a:pt x="410106" y="122237"/>
                  </a:lnTo>
                  <a:lnTo>
                    <a:pt x="393326" y="82465"/>
                  </a:lnTo>
                  <a:lnTo>
                    <a:pt x="367299" y="48768"/>
                  </a:lnTo>
                  <a:lnTo>
                    <a:pt x="333613" y="22733"/>
                  </a:lnTo>
                  <a:lnTo>
                    <a:pt x="293852" y="5947"/>
                  </a:lnTo>
                  <a:lnTo>
                    <a:pt x="249605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48461" y="4709921"/>
              <a:ext cx="416559" cy="416559"/>
            </a:xfrm>
            <a:custGeom>
              <a:avLst/>
              <a:gdLst/>
              <a:ahLst/>
              <a:cxnLst/>
              <a:rect l="l" t="t" r="r" b="b"/>
              <a:pathLst>
                <a:path w="416559" h="416560">
                  <a:moveTo>
                    <a:pt x="0" y="166497"/>
                  </a:moveTo>
                  <a:lnTo>
                    <a:pt x="5945" y="122237"/>
                  </a:lnTo>
                  <a:lnTo>
                    <a:pt x="22725" y="82465"/>
                  </a:lnTo>
                  <a:lnTo>
                    <a:pt x="48752" y="48768"/>
                  </a:lnTo>
                  <a:lnTo>
                    <a:pt x="82438" y="22733"/>
                  </a:lnTo>
                  <a:lnTo>
                    <a:pt x="122199" y="5947"/>
                  </a:lnTo>
                  <a:lnTo>
                    <a:pt x="166446" y="0"/>
                  </a:lnTo>
                  <a:lnTo>
                    <a:pt x="249605" y="0"/>
                  </a:lnTo>
                  <a:lnTo>
                    <a:pt x="293852" y="5947"/>
                  </a:lnTo>
                  <a:lnTo>
                    <a:pt x="333613" y="22733"/>
                  </a:lnTo>
                  <a:lnTo>
                    <a:pt x="367299" y="48768"/>
                  </a:lnTo>
                  <a:lnTo>
                    <a:pt x="393326" y="82465"/>
                  </a:lnTo>
                  <a:lnTo>
                    <a:pt x="410106" y="122237"/>
                  </a:lnTo>
                  <a:lnTo>
                    <a:pt x="416051" y="166497"/>
                  </a:lnTo>
                  <a:lnTo>
                    <a:pt x="416051" y="249554"/>
                  </a:lnTo>
                  <a:lnTo>
                    <a:pt x="410106" y="293814"/>
                  </a:lnTo>
                  <a:lnTo>
                    <a:pt x="393326" y="333586"/>
                  </a:lnTo>
                  <a:lnTo>
                    <a:pt x="367299" y="367283"/>
                  </a:lnTo>
                  <a:lnTo>
                    <a:pt x="333613" y="393319"/>
                  </a:lnTo>
                  <a:lnTo>
                    <a:pt x="293852" y="410104"/>
                  </a:lnTo>
                  <a:lnTo>
                    <a:pt x="249605" y="416051"/>
                  </a:lnTo>
                  <a:lnTo>
                    <a:pt x="166446" y="416051"/>
                  </a:lnTo>
                  <a:lnTo>
                    <a:pt x="122199" y="410104"/>
                  </a:lnTo>
                  <a:lnTo>
                    <a:pt x="82438" y="393319"/>
                  </a:lnTo>
                  <a:lnTo>
                    <a:pt x="48752" y="367283"/>
                  </a:lnTo>
                  <a:lnTo>
                    <a:pt x="22725" y="333586"/>
                  </a:lnTo>
                  <a:lnTo>
                    <a:pt x="5945" y="293814"/>
                  </a:lnTo>
                  <a:lnTo>
                    <a:pt x="0" y="249554"/>
                  </a:lnTo>
                  <a:lnTo>
                    <a:pt x="0" y="166497"/>
                  </a:lnTo>
                  <a:close/>
                </a:path>
              </a:pathLst>
            </a:custGeom>
            <a:ln w="7620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61491" y="4669663"/>
            <a:ext cx="18796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140">
                <a:latin typeface="SimSun-ExtB"/>
                <a:cs typeface="SimSun-ExtB"/>
              </a:rPr>
              <a:t>4</a:t>
            </a:r>
            <a:endParaRPr sz="2150">
              <a:latin typeface="SimSun-ExtB"/>
              <a:cs typeface="SimSun-ExtB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768220" y="4590518"/>
            <a:ext cx="4509770" cy="812165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spc="65">
                <a:solidFill>
                  <a:srgbClr val="666666"/>
                </a:solidFill>
                <a:latin typeface="SimSun-ExtB"/>
                <a:cs typeface="SimSun-ExtB"/>
              </a:rPr>
              <a:t>Phase</a:t>
            </a:r>
            <a:r>
              <a:rPr dirty="0" sz="1800" spc="-47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135">
                <a:solidFill>
                  <a:srgbClr val="666666"/>
                </a:solidFill>
                <a:latin typeface="SimSun-ExtB"/>
                <a:cs typeface="SimSun-ExtB"/>
              </a:rPr>
              <a:t>4:</a:t>
            </a:r>
            <a:r>
              <a:rPr dirty="0" sz="1800" spc="-490">
                <a:solidFill>
                  <a:srgbClr val="666666"/>
                </a:solidFill>
                <a:latin typeface="SimSun-ExtB"/>
                <a:cs typeface="SimSun-ExtB"/>
              </a:rPr>
              <a:t> </a:t>
            </a:r>
            <a:r>
              <a:rPr dirty="0" sz="1800" spc="-50">
                <a:solidFill>
                  <a:srgbClr val="666666"/>
                </a:solidFill>
                <a:latin typeface="SimSun-ExtB"/>
                <a:cs typeface="SimSun-ExtB"/>
              </a:rPr>
              <a:t>Blockchai⭲</a:t>
            </a:r>
            <a:endParaRPr sz="18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Transparent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5">
                <a:solidFill>
                  <a:srgbClr val="666666"/>
                </a:solidFill>
                <a:latin typeface="Verdana"/>
                <a:cs typeface="Verdana"/>
              </a:rPr>
              <a:t>supply</a:t>
            </a:r>
            <a:r>
              <a:rPr dirty="0" sz="1450" spc="-14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chain,</a:t>
            </a:r>
            <a:r>
              <a:rPr dirty="0" sz="14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verified</a:t>
            </a: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organic</a:t>
            </a:r>
            <a:r>
              <a:rPr dirty="0" sz="14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Verdana"/>
                <a:cs typeface="Verdana"/>
              </a:rPr>
              <a:t>certification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12367" y="5790438"/>
            <a:ext cx="7465695" cy="1384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25">
                <a:solidFill>
                  <a:srgbClr val="124DEF"/>
                </a:solidFill>
                <a:latin typeface="SimSun-ExtB"/>
                <a:cs typeface="SimSun-ExtB"/>
              </a:rPr>
              <a:t>SmaĩL</a:t>
            </a:r>
            <a:r>
              <a:rPr dirty="0" sz="2150" spc="-565">
                <a:solidFill>
                  <a:srgbClr val="124DEF"/>
                </a:solidFill>
                <a:latin typeface="SimSun-ExtB"/>
                <a:cs typeface="SimSun-ExtB"/>
              </a:rPr>
              <a:t> </a:t>
            </a:r>
            <a:r>
              <a:rPr dirty="0" sz="2150" spc="-254">
                <a:solidFill>
                  <a:srgbClr val="124DEF"/>
                </a:solidFill>
                <a:latin typeface="SimSun-ExtB"/>
                <a:cs typeface="SimSun-ExtB"/>
              </a:rPr>
              <a:t>Faĩmi⭲g</a:t>
            </a:r>
            <a:r>
              <a:rPr dirty="0" sz="2150" spc="-535">
                <a:solidFill>
                  <a:srgbClr val="124DEF"/>
                </a:solidFill>
                <a:latin typeface="SimSun-ExtB"/>
                <a:cs typeface="SimSun-ExtB"/>
              </a:rPr>
              <a:t> </a:t>
            </a:r>
            <a:r>
              <a:rPr dirty="0" sz="2150" spc="60">
                <a:solidFill>
                  <a:srgbClr val="124DEF"/>
                </a:solidFill>
                <a:latin typeface="SimSun-ExtB"/>
                <a:cs typeface="SimSun-ExtB"/>
              </a:rPr>
              <a:t>=</a:t>
            </a:r>
            <a:r>
              <a:rPr dirty="0" sz="2150" spc="-565">
                <a:solidFill>
                  <a:srgbClr val="124DEF"/>
                </a:solidFill>
                <a:latin typeface="SimSun-ExtB"/>
                <a:cs typeface="SimSun-ExtB"/>
              </a:rPr>
              <a:t> </a:t>
            </a:r>
            <a:r>
              <a:rPr dirty="0" sz="2150" spc="-125">
                <a:solidFill>
                  <a:srgbClr val="124DEF"/>
                </a:solidFill>
                <a:latin typeface="SimSun-ExtB"/>
                <a:cs typeface="SimSun-ExtB"/>
              </a:rPr>
              <a:t>SmaĩL</a:t>
            </a:r>
            <a:r>
              <a:rPr dirty="0" sz="2150" spc="-565">
                <a:solidFill>
                  <a:srgbClr val="124DEF"/>
                </a:solidFill>
                <a:latin typeface="SimSun-ExtB"/>
                <a:cs typeface="SimSun-ExtB"/>
              </a:rPr>
              <a:t> </a:t>
            </a:r>
            <a:r>
              <a:rPr dirty="0" sz="2150" spc="-385">
                <a:solidFill>
                  <a:srgbClr val="124DEF"/>
                </a:solidFill>
                <a:latin typeface="SimSun-ExtB"/>
                <a:cs typeface="SimSun-ExtB"/>
              </a:rPr>
              <a:t>I⭲dia</a:t>
            </a:r>
            <a:endParaRPr sz="2150">
              <a:latin typeface="SimSun-ExtB"/>
              <a:cs typeface="SimSun-ExtB"/>
            </a:endParaRPr>
          </a:p>
          <a:p>
            <a:pPr marL="12700" marR="5080">
              <a:lnSpc>
                <a:spcPct val="120700"/>
              </a:lnSpc>
              <a:spcBef>
                <a:spcPts val="1814"/>
              </a:spcBef>
            </a:pPr>
            <a:r>
              <a:rPr dirty="0" sz="1450" spc="-110">
                <a:solidFill>
                  <a:srgbClr val="666666"/>
                </a:solidFill>
                <a:latin typeface="Verdana"/>
                <a:cs typeface="Verdana"/>
              </a:rPr>
              <a:t>By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100">
                <a:solidFill>
                  <a:srgbClr val="666666"/>
                </a:solidFill>
                <a:latin typeface="Verdana"/>
                <a:cs typeface="Verdana"/>
              </a:rPr>
              <a:t>leveraging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Verdana"/>
                <a:cs typeface="Verdana"/>
              </a:rPr>
              <a:t>AI</a:t>
            </a:r>
            <a:r>
              <a:rPr dirty="0" sz="1450" spc="-15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50" spc="-1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Verdana"/>
                <a:cs typeface="Verdana"/>
              </a:rPr>
              <a:t>modern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technology,</a:t>
            </a:r>
            <a:r>
              <a:rPr dirty="0" sz="14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0">
                <a:solidFill>
                  <a:srgbClr val="666666"/>
                </a:solidFill>
                <a:latin typeface="Verdana"/>
                <a:cs typeface="Verdana"/>
              </a:rPr>
              <a:t>we're</a:t>
            </a:r>
            <a:r>
              <a:rPr dirty="0" sz="145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Verdana"/>
                <a:cs typeface="Verdana"/>
              </a:rPr>
              <a:t>transforming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5">
                <a:solidFill>
                  <a:srgbClr val="666666"/>
                </a:solidFill>
                <a:latin typeface="Verdana"/>
                <a:cs typeface="Verdana"/>
              </a:rPr>
              <a:t>traditional</a:t>
            </a:r>
            <a:r>
              <a:rPr dirty="0" sz="1450" spc="-10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agriculture</a:t>
            </a:r>
            <a:r>
              <a:rPr dirty="0" sz="145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25">
                <a:solidFill>
                  <a:srgbClr val="666666"/>
                </a:solidFill>
                <a:latin typeface="Verdana"/>
                <a:cs typeface="Verdana"/>
              </a:rPr>
              <a:t>to </a:t>
            </a:r>
            <a:r>
              <a:rPr dirty="0" sz="1450" spc="-95">
                <a:solidFill>
                  <a:srgbClr val="666666"/>
                </a:solidFill>
                <a:latin typeface="Verdana"/>
                <a:cs typeface="Verdana"/>
              </a:rPr>
              <a:t>improve</a:t>
            </a:r>
            <a:r>
              <a:rPr dirty="0" sz="14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105">
                <a:solidFill>
                  <a:srgbClr val="666666"/>
                </a:solidFill>
                <a:latin typeface="Verdana"/>
                <a:cs typeface="Verdana"/>
              </a:rPr>
              <a:t>farmer</a:t>
            </a:r>
            <a:r>
              <a:rPr dirty="0" sz="1450" spc="-1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0">
                <a:solidFill>
                  <a:srgbClr val="666666"/>
                </a:solidFill>
                <a:latin typeface="Verdana"/>
                <a:cs typeface="Verdana"/>
              </a:rPr>
              <a:t>livelihoods,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0">
                <a:solidFill>
                  <a:srgbClr val="666666"/>
                </a:solidFill>
                <a:latin typeface="Verdana"/>
                <a:cs typeface="Verdana"/>
              </a:rPr>
              <a:t>increase</a:t>
            </a:r>
            <a:r>
              <a:rPr dirty="0" sz="14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productivity,</a:t>
            </a:r>
            <a:r>
              <a:rPr dirty="0" sz="1450" spc="-114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Verdana"/>
                <a:cs typeface="Verdana"/>
              </a:rPr>
              <a:t>and</a:t>
            </a:r>
            <a:r>
              <a:rPr dirty="0" sz="1450" spc="-1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Verdana"/>
                <a:cs typeface="Verdana"/>
              </a:rPr>
              <a:t>build</a:t>
            </a:r>
            <a:r>
              <a:rPr dirty="0" sz="14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105">
                <a:solidFill>
                  <a:srgbClr val="666666"/>
                </a:solidFill>
                <a:latin typeface="Verdana"/>
                <a:cs typeface="Verdana"/>
              </a:rPr>
              <a:t>a</a:t>
            </a:r>
            <a:r>
              <a:rPr dirty="0" sz="1450" spc="-1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5">
                <a:solidFill>
                  <a:srgbClr val="666666"/>
                </a:solidFill>
                <a:latin typeface="Verdana"/>
                <a:cs typeface="Verdana"/>
              </a:rPr>
              <a:t>sustainable</a:t>
            </a:r>
            <a:r>
              <a:rPr dirty="0" sz="1450" spc="-14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85">
                <a:solidFill>
                  <a:srgbClr val="666666"/>
                </a:solidFill>
                <a:latin typeface="Verdana"/>
                <a:cs typeface="Verdana"/>
              </a:rPr>
              <a:t>future</a:t>
            </a:r>
            <a:r>
              <a:rPr dirty="0" sz="1450" spc="-10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75">
                <a:solidFill>
                  <a:srgbClr val="666666"/>
                </a:solidFill>
                <a:latin typeface="Verdana"/>
                <a:cs typeface="Verdana"/>
              </a:rPr>
              <a:t>for</a:t>
            </a:r>
            <a:r>
              <a:rPr dirty="0" sz="1450" spc="-1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450" spc="-20">
                <a:solidFill>
                  <a:srgbClr val="666666"/>
                </a:solidFill>
                <a:latin typeface="Verdana"/>
                <a:cs typeface="Verdana"/>
              </a:rPr>
              <a:t>Indian </a:t>
            </a:r>
            <a:r>
              <a:rPr dirty="0" sz="1450" spc="-10">
                <a:solidFill>
                  <a:srgbClr val="666666"/>
                </a:solidFill>
                <a:latin typeface="Verdana"/>
                <a:cs typeface="Verdana"/>
              </a:rPr>
              <a:t>agriculture.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647700" y="5590032"/>
            <a:ext cx="22860" cy="1775460"/>
          </a:xfrm>
          <a:custGeom>
            <a:avLst/>
            <a:gdLst/>
            <a:ahLst/>
            <a:cxnLst/>
            <a:rect l="l" t="t" r="r" b="b"/>
            <a:pathLst>
              <a:path w="22859" h="1775459">
                <a:moveTo>
                  <a:pt x="22859" y="0"/>
                </a:moveTo>
                <a:lnTo>
                  <a:pt x="0" y="0"/>
                </a:lnTo>
                <a:lnTo>
                  <a:pt x="0" y="1775460"/>
                </a:lnTo>
                <a:lnTo>
                  <a:pt x="22859" y="1775460"/>
                </a:lnTo>
                <a:lnTo>
                  <a:pt x="22859" y="0"/>
                </a:lnTo>
                <a:close/>
              </a:path>
            </a:pathLst>
          </a:custGeom>
          <a:solidFill>
            <a:srgbClr val="A1B8F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Nithesh</dc:creator>
  <dcterms:created xsi:type="dcterms:W3CDTF">2026-02-27T02:18:30Z</dcterms:created>
  <dcterms:modified xsi:type="dcterms:W3CDTF">2026-02-27T02:18:30Z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2026-02-27T00:00:00Z</vt:filetime>
  </property>
  <property fmtid="{D5CDD505-2E9C-101B-9397-08002B2CF9AE}" pid="5" name="Producer">
    <vt:lpwstr>Microsoft® PowerPoint® LTSC</vt:lpwstr>
  </property>
</Properties>
</file>